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قدمة" id="{30a8f561-c1fe-0111-255f-b57ee7373532}">
          <p14:sldIdLst>
            <p14:sldId id="256"/>
            <p14:sldId id="257"/>
          </p14:sldIdLst>
        </p14:section>
        <p14:section name="المشكلة" id="{2c1385f6-794a-b812-e2a2-14404dcb26ea}">
          <p14:sldIdLst>
            <p14:sldId id="258"/>
            <p14:sldId id="259"/>
          </p14:sldIdLst>
        </p14:section>
        <p14:section name="ما يقدمه فليتانا" id="{07595d46-7264-2104-8fca-20e57a149a45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العرض" id="{e54dd8ba-e4f7-2598-3127-310a62389f23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تخطيط الغلاف. السطر العلوي لنوع المستند، والعنوان في سطرين: العبارة بالأسود والخلاصة بالأزرق.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تخطيط العنوان فقط مع أربع بطاقات.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تخطيط فاصل القسم: رقم وعنوان وسطر داعم.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بطاقات بأيقونات. مشكلة واحدة لكل بطاقة، دون أرقام مختلقة.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نص يمين وشاشة المنتج يسار.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ست بطاقات للميزات. الميزات التي تعتمد على التتبع تحمل وسم «جهاز تتبع».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شاشة منتج واحدة مع ثلاث نقاط مرقمة.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أرقام بارزة: فقط قواعد المنتج أو بيانات مثبتة، مع ذكر ذلك.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عملية من ثلاث خطوات.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وسوم وقائمة الجمهور وشاشة داعمة.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جدول للعروض بنمط فليتانا.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عبارة كبيرة على بطاقة فاتحة. مرة واحدة في العرض.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خطوات مرقمة مع بطاقة تواصل.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الختام: الشعار والعبارة والرابط.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ver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divider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026" y="548640"/>
            <a:ext cx="2792029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327855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400" b="1" dirty="0">
                <a:solidFill>
                  <a:srgbClr val="0051D5"/>
                </a:solidFill>
              </a:defRPr>
            </a:lvl1pPr>
          </a:lstStyle>
          <a:p>
            <a:pPr algn="r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333695" y="2377440"/>
            <a:ext cx="63093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95000"/>
              </a:lnSpc>
              <a:buNone/>
              <a:defRPr lang="en-US" sz="4800" b="1" dirty="0">
                <a:solidFill>
                  <a:srgbClr val="000000"/>
                </a:solidFill>
              </a:defRPr>
            </a:lvl1pPr>
          </a:lstStyle>
          <a:p>
            <a:pPr algn="r" indent="0" marL="0">
              <a:lnSpc>
                <a:spcPct val="95000"/>
              </a:lnSpc>
              <a:buNone/>
            </a:pPr>
            <a:endParaRPr lang="en-US" sz="4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333695" y="4480560"/>
            <a:ext cx="6309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2000" dirty="0">
                <a:solidFill>
                  <a:srgbClr val="45464D"/>
                </a:solidFill>
              </a:defRPr>
            </a:lvl1pPr>
          </a:lstStyle>
          <a:p>
            <a:pPr algn="r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3230575" y="5989320"/>
            <a:ext cx="841248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200" dirty="0">
                <a:solidFill>
                  <a:srgbClr val="64748B"/>
                </a:solidFill>
              </a:defRPr>
            </a:lvl1pPr>
          </a:lstStyle>
          <a:p>
            <a:pPr algn="r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4656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7985455" y="1828800"/>
            <a:ext cx="3657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80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defRPr>
            </a:lvl1pPr>
          </a:lstStyle>
          <a:p>
            <a:pPr algn="r" indent="0" marL="0">
              <a:buNone/>
            </a:pPr>
            <a:endParaRPr lang="en-US" sz="8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2499055" y="3154680"/>
            <a:ext cx="9144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4400" b="1" dirty="0">
                <a:solidFill>
                  <a:srgbClr val="000000"/>
                </a:solidFill>
              </a:defRPr>
            </a:lvl1pPr>
          </a:lstStyle>
          <a:p>
            <a:pPr algn="r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3413455" y="452628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800" dirty="0">
                <a:solidFill>
                  <a:srgbClr val="1E3A8A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4656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4656" y="384048"/>
            <a:ext cx="1728399" cy="2377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3200" b="1" dirty="0">
                <a:solidFill>
                  <a:srgbClr val="000000"/>
                </a:solidFill>
              </a:defRPr>
            </a:lvl1pPr>
          </a:lstStyle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057400"/>
            <a:ext cx="11094415" cy="3931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spcAft>
                <a:spcPts val="800"/>
              </a:spcAft>
              <a:buNone/>
              <a:defRPr lang="en-US" sz="1800" dirty="0">
                <a:solidFill>
                  <a:srgbClr val="0F172A"/>
                </a:solidFill>
              </a:defRPr>
            </a:lvl1pPr>
          </a:lstStyle>
          <a:p>
            <a:pPr algn="r" indent="0" marL="0">
              <a:spcAft>
                <a:spcPts val="800"/>
              </a:spcAft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8899855" y="6400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fleetana.sa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fleetana-launch/brand/assets/logo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1691640"/>
            <a:ext cx="4206240" cy="578575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000000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1097280" y="3703320"/>
            <a:ext cx="999713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rgbClr val="0051D5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2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4327855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51D5"/>
                </a:solidFill>
              </a:rPr>
              <a:t>الملف التعريفي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333695" y="237744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00000"/>
                </a:solidFill>
              </a:rPr>
              <a:t>أخرج أسطولك</a:t>
            </a:r>
            <a:endParaRPr lang="en-US" sz="4800" dirty="0"/>
          </a:p>
          <a:p>
            <a:pPr rtl="1" algn="r"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0051D5"/>
                </a:solidFill>
              </a:rPr>
              <a:t>من جداول البيانات</a:t>
            </a:r>
            <a:endParaRPr lang="en-US" sz="4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333695" y="4480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45464D"/>
                </a:solidFill>
              </a:rPr>
              <a:t>إدارة أساطيل صُممت للأساطيل السعودية</a:t>
            </a:r>
            <a:endParaRPr lang="en-US" sz="2000" dirty="0"/>
          </a:p>
        </p:txBody>
      </p:sp>
      <p:sp>
        <p:nvSpPr>
          <p:cNvPr id="5" name="Text 0"/>
          <p:cNvSpPr/>
          <p:nvPr>
            <p:ph idx="104" type="body" hasCustomPrompt="1"/>
          </p:nvPr>
        </p:nvSpPr>
        <p:spPr>
          <a:xfrm>
            <a:off x="3230575" y="5989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اسم الجهة · DD/MM/YYYY · fleetana.sa</a:t>
            </a:r>
            <a:endParaRPr lang="en-US" sz="1200" dirty="0"/>
          </a:p>
        </p:txBody>
      </p:sp>
      <p:sp>
        <p:nvSpPr>
          <p:cNvPr id="6" name="cover-map-card"/>
          <p:cNvSpPr/>
          <p:nvPr/>
        </p:nvSpPr>
        <p:spPr>
          <a:xfrm>
            <a:off x="551383" y="1554480"/>
            <a:ext cx="437083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7" name="Fleet map" descr="Fleet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" y="1664208"/>
            <a:ext cx="4151376" cy="2428997"/>
          </a:xfrm>
          <a:prstGeom prst="rect">
            <a:avLst/>
          </a:prstGeom>
        </p:spPr>
      </p:pic>
      <p:sp>
        <p:nvSpPr>
          <p:cNvPr id="8" name="pill-الخريطة المباشرة · جهاز تتبع"/>
          <p:cNvSpPr txBox="1"/>
          <p:nvPr/>
        </p:nvSpPr>
        <p:spPr>
          <a:xfrm>
            <a:off x="2435047" y="438912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5F1F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الخريطة المباشرة · جهاز تتبع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المحتويات</a:t>
            </a:r>
            <a:endParaRPr lang="en-US" sz="3200" dirty="0"/>
          </a:p>
        </p:txBody>
      </p:sp>
      <p:sp>
        <p:nvSpPr>
          <p:cNvPr id="3" name="contents-1"/>
          <p:cNvSpPr/>
          <p:nvPr/>
        </p:nvSpPr>
        <p:spPr>
          <a:xfrm>
            <a:off x="9037015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997135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311335" y="3246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311335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أين يضيع وقت الأسطول وماله</a:t>
            </a:r>
            <a:endParaRPr lang="en-US" sz="1500" dirty="0"/>
          </a:p>
        </p:txBody>
      </p:sp>
      <p:sp>
        <p:nvSpPr>
          <p:cNvPr id="7" name="contents-2"/>
          <p:cNvSpPr/>
          <p:nvPr/>
        </p:nvSpPr>
        <p:spPr>
          <a:xfrm>
            <a:off x="6229807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89927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504127" y="3246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يقدمه فليتانا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04127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مساحة عمل واحدة لكل مركبة</a:t>
            </a:r>
            <a:endParaRPr lang="en-US" sz="1500" dirty="0"/>
          </a:p>
        </p:txBody>
      </p:sp>
      <p:sp>
        <p:nvSpPr>
          <p:cNvPr id="11" name="contents-3"/>
          <p:cNvSpPr/>
          <p:nvPr/>
        </p:nvSpPr>
        <p:spPr>
          <a:xfrm>
            <a:off x="3422599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82719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696919" y="3246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صُمّم للأساطيل السعودية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96919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الاستمارة، الفحص الدوري، الريال، العربية</a:t>
            </a:r>
            <a:endParaRPr lang="en-US" sz="1500" dirty="0"/>
          </a:p>
        </p:txBody>
      </p:sp>
      <p:sp>
        <p:nvSpPr>
          <p:cNvPr id="15" name="contents-4"/>
          <p:cNvSpPr/>
          <p:nvPr/>
        </p:nvSpPr>
        <p:spPr>
          <a:xfrm>
            <a:off x="615391" y="21488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575511" y="2423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" y="3246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العرض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خطة التطبيق والخطوات التالية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5455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499055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المشكلة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413455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أساطيل تُدار بجداول البيانات والإيصالات والذاكرة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أسطولك يُدار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بالجداول والذاكرة</a:t>
            </a:r>
            <a:endParaRPr lang="en-US" sz="3200" dirty="0"/>
          </a:p>
        </p:txBody>
      </p:sp>
      <p:sp>
        <p:nvSpPr>
          <p:cNvPr id="3" name="problem-1"/>
          <p:cNvSpPr/>
          <p:nvPr/>
        </p:nvSpPr>
        <p:spPr>
          <a:xfrm>
            <a:off x="8122615" y="2331720"/>
            <a:ext cx="35204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clipboard"/>
          <p:cNvSpPr/>
          <p:nvPr/>
        </p:nvSpPr>
        <p:spPr>
          <a:xfrm>
            <a:off x="10756087" y="265176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clipboard" descr="/home/user/Claude/fleetana-launch/brand/assets/icons/icon-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9473" y="276514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42655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جداول البيانات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442655" y="40233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5464D"/>
                </a:solidFill>
              </a:rPr>
              <a:t>مواعيد الصيانة واللوحات وتواريخ الاستمارة في ملفات لا تُحدَّث في وقتها.</a:t>
            </a:r>
            <a:endParaRPr lang="en-US" sz="1600" dirty="0"/>
          </a:p>
        </p:txBody>
      </p:sp>
      <p:sp>
        <p:nvSpPr>
          <p:cNvPr id="8" name="problem-2"/>
          <p:cNvSpPr/>
          <p:nvPr/>
        </p:nvSpPr>
        <p:spPr>
          <a:xfrm>
            <a:off x="4373575" y="2331720"/>
            <a:ext cx="35204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fuel"/>
          <p:cNvSpPr/>
          <p:nvPr/>
        </p:nvSpPr>
        <p:spPr>
          <a:xfrm>
            <a:off x="7007047" y="265176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433" y="276514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93615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الإيصالات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4693615" y="40233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5464D"/>
                </a:solidFill>
              </a:rPr>
              <a:t>مصاريف الوقود والإصلاح في الأدراج والصور، فتمر التعبئة غير المعتادة دون انتباه.</a:t>
            </a:r>
            <a:endParaRPr lang="en-US" sz="1600" dirty="0"/>
          </a:p>
        </p:txBody>
      </p:sp>
      <p:sp>
        <p:nvSpPr>
          <p:cNvPr id="13" name="problem-3"/>
          <p:cNvSpPr/>
          <p:nvPr/>
        </p:nvSpPr>
        <p:spPr>
          <a:xfrm>
            <a:off x="624535" y="2331720"/>
            <a:ext cx="352044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bell"/>
          <p:cNvSpPr/>
          <p:nvPr/>
        </p:nvSpPr>
        <p:spPr>
          <a:xfrm>
            <a:off x="3258007" y="265176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bell" descr="/home/user/Claude/fleetana-launch/brand/assets/icons/icon-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393" y="276514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44575" y="3429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محادثات الواتساب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944575" y="402336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5464D"/>
                </a:solidFill>
              </a:rPr>
              <a:t>الفحوصات والأعطال والموافقات في المحادثات، ولا شيء مرتبط بالمركبة.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5455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499055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ما يقدمه فليتانا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413455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مكان واحد لكل ما يتعلق بأسطولك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مساحة عمل واحدة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لكل مركبة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7162495" y="224028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F172A"/>
                </a:solidFill>
              </a:rPr>
              <a:t>كل سجل وقود وصيانة وبلاغ وفحص وأمر عمل مرتبط بالمركبة نفسها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F172A"/>
                </a:solidFill>
              </a:rPr>
              <a:t>مواعيد الصيانة بالكيلومترات أو ساعات التشغيل أو التاريخ، أيّها أسبق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F172A"/>
                </a:solidFill>
              </a:rPr>
              <a:t>الاستمارة والتأمين والفحص الدوري تظهر قبل انتهائها بـ30 يومًا</a:t>
            </a:r>
            <a:endParaRPr lang="en-US" sz="1700" dirty="0"/>
          </a:p>
          <a:p>
            <a:pPr algn="r" marL="342900" indent="-342900">
              <a:spcAft>
                <a:spcPts val="1000"/>
              </a:spcAft>
              <a:buSzPct val="100000"/>
              <a:buChar char="●"/>
            </a:pPr>
            <a:r>
              <a:rPr lang="en-US" sz="1700" dirty="0">
                <a:solidFill>
                  <a:srgbClr val="0F172A"/>
                </a:solidFill>
              </a:rPr>
              <a:t>العربية والإنجليزية، والريال مع ضريبة القيمة المضافة 15٪، والكيلومترات وساعات التشغيل</a:t>
            </a:r>
            <a:endParaRPr lang="en-US" sz="1700" dirty="0"/>
          </a:p>
        </p:txBody>
      </p:sp>
      <p:sp>
        <p:nvSpPr>
          <p:cNvPr id="4" name="product-vehicles"/>
          <p:cNvSpPr/>
          <p:nvPr/>
        </p:nvSpPr>
        <p:spPr>
          <a:xfrm>
            <a:off x="551383" y="2103120"/>
            <a:ext cx="6291072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5" name="Vehicle list screen" descr="Vehicle list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" y="2212848"/>
            <a:ext cx="6016752" cy="28803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كل ما يتعلق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بأسطولك</a:t>
            </a:r>
            <a:endParaRPr lang="en-US" sz="3200" dirty="0"/>
          </a:p>
        </p:txBody>
      </p:sp>
      <p:sp>
        <p:nvSpPr>
          <p:cNvPr id="3" name="feature-1"/>
          <p:cNvSpPr/>
          <p:nvPr/>
        </p:nvSpPr>
        <p:spPr>
          <a:xfrm>
            <a:off x="8122615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truck"/>
          <p:cNvSpPr/>
          <p:nvPr/>
        </p:nvSpPr>
        <p:spPr>
          <a:xfrm>
            <a:off x="10856671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9084" y="2479853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51215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المركبات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396935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اللوحات والسائقون والوثائق والحالة لكل مركبة.</a:t>
            </a:r>
            <a:endParaRPr lang="en-US" sz="1300" dirty="0"/>
          </a:p>
        </p:txBody>
      </p:sp>
      <p:sp>
        <p:nvSpPr>
          <p:cNvPr id="8" name="feature-2"/>
          <p:cNvSpPr/>
          <p:nvPr/>
        </p:nvSpPr>
        <p:spPr>
          <a:xfrm>
            <a:off x="4373575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icon-bg-wrench"/>
          <p:cNvSpPr/>
          <p:nvPr/>
        </p:nvSpPr>
        <p:spPr>
          <a:xfrm>
            <a:off x="7107631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0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044" y="247985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175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الصيانة والوقاية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47895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برامج بالكيلومترات أو الساعات أو التاريخ، مع المستحق والمتأخر بنظرة.</a:t>
            </a:r>
            <a:endParaRPr lang="en-US" sz="1300" dirty="0"/>
          </a:p>
        </p:txBody>
      </p:sp>
      <p:sp>
        <p:nvSpPr>
          <p:cNvPr id="13" name="feature-3"/>
          <p:cNvSpPr/>
          <p:nvPr/>
        </p:nvSpPr>
        <p:spPr>
          <a:xfrm>
            <a:off x="624535" y="210312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4" name="icon-bg-fuel"/>
          <p:cNvSpPr/>
          <p:nvPr/>
        </p:nvSpPr>
        <p:spPr>
          <a:xfrm>
            <a:off x="3358591" y="237744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5" name="icon-fuel" descr="/home/user/Claude/fleetana-launch/brand/assets/icons/icon-fu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004" y="247985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3135" y="240487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الوقود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98855" y="299923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كم/لتر لكل تعبئة كاملة، وتمييز ما يقل عن 70٪ من متوسط 30 يومًا.</a:t>
            </a:r>
            <a:endParaRPr lang="en-US" sz="1300" dirty="0"/>
          </a:p>
        </p:txBody>
      </p:sp>
      <p:sp>
        <p:nvSpPr>
          <p:cNvPr id="18" name="feature-4"/>
          <p:cNvSpPr/>
          <p:nvPr/>
        </p:nvSpPr>
        <p:spPr>
          <a:xfrm>
            <a:off x="8122615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9" name="icon-bg-clipboard"/>
          <p:cNvSpPr/>
          <p:nvPr/>
        </p:nvSpPr>
        <p:spPr>
          <a:xfrm>
            <a:off x="10856671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clipboard" descr="/home/user/Claude/fleetana-launch/brand/assets/icons/icon-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084" y="4491533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51215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الفحوصات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8396935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قوائم فحص مخصصة مع الصور، والبند الفاشل يفتح بلاغًا.</a:t>
            </a:r>
            <a:endParaRPr lang="en-US" sz="1300" dirty="0"/>
          </a:p>
        </p:txBody>
      </p:sp>
      <p:sp>
        <p:nvSpPr>
          <p:cNvPr id="23" name="feature-5"/>
          <p:cNvSpPr/>
          <p:nvPr/>
        </p:nvSpPr>
        <p:spPr>
          <a:xfrm>
            <a:off x="4373575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4" name="icon-bg-check"/>
          <p:cNvSpPr/>
          <p:nvPr/>
        </p:nvSpPr>
        <p:spPr>
          <a:xfrm>
            <a:off x="7107631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5" name="icon-check" descr="/home/user/Claude/fleetana-launch/brand/assets/icons/icon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0044" y="4491533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02175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أوامر العمل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647895" y="50109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القطع والعمالة والرسوم، مع ضريبة 15٪ وخطوات الاعتماد.</a:t>
            </a:r>
            <a:endParaRPr lang="en-US" sz="1300" dirty="0"/>
          </a:p>
        </p:txBody>
      </p:sp>
      <p:sp>
        <p:nvSpPr>
          <p:cNvPr id="28" name="feature-6"/>
          <p:cNvSpPr/>
          <p:nvPr/>
        </p:nvSpPr>
        <p:spPr>
          <a:xfrm>
            <a:off x="624535" y="41148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29" name="icon-bg-pin"/>
          <p:cNvSpPr/>
          <p:nvPr/>
        </p:nvSpPr>
        <p:spPr>
          <a:xfrm>
            <a:off x="3358591" y="4389120"/>
            <a:ext cx="512064" cy="512064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30" name="icon-pin" descr="/home/user/Claude/fleetana-launch/brand/assets/icons/icon-p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004" y="4491533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3135" y="4416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الخريطة المباشرة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98855" y="50109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تتحرك، خاملة، متوقفة، مع إعادة الرحلات وتقييم السائقين.</a:t>
            </a:r>
            <a:endParaRPr lang="en-US" sz="1300" dirty="0"/>
          </a:p>
        </p:txBody>
      </p:sp>
      <p:sp>
        <p:nvSpPr>
          <p:cNvPr id="33" name="pill-جهاز تتبع"/>
          <p:cNvSpPr txBox="1"/>
          <p:nvPr/>
        </p:nvSpPr>
        <p:spPr>
          <a:xfrm>
            <a:off x="853135" y="54864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5F1FE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جهاز تتبع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التعبئة غير المعتادة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تظهر بعلامة «منخفض»</a:t>
            </a:r>
            <a:endParaRPr lang="en-US" sz="3200" dirty="0"/>
          </a:p>
        </p:txBody>
      </p:sp>
      <p:sp>
        <p:nvSpPr>
          <p:cNvPr id="3" name="product-fuel"/>
          <p:cNvSpPr/>
          <p:nvPr/>
        </p:nvSpPr>
        <p:spPr>
          <a:xfrm>
            <a:off x="5150815" y="2057400"/>
            <a:ext cx="6492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4" name="Fuel economy chart" descr="Fuel economy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7975" y="2176272"/>
            <a:ext cx="6217920" cy="3836589"/>
          </a:xfrm>
          <a:prstGeom prst="rect">
            <a:avLst/>
          </a:prstGeom>
        </p:spPr>
      </p:pic>
      <p:sp>
        <p:nvSpPr>
          <p:cNvPr id="5" name="proof-num-1"/>
          <p:cNvSpPr txBox="1"/>
          <p:nvPr/>
        </p:nvSpPr>
        <p:spPr>
          <a:xfrm>
            <a:off x="4282135" y="2148840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33095" y="21305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معدل لكل تعبئة كاملة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33095" y="2560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المسافة منذ التعبئة الكاملة السابقة ÷ الوقود المضاف، مع قراءة العداد.</a:t>
            </a:r>
            <a:endParaRPr lang="en-US" sz="1300" dirty="0"/>
          </a:p>
        </p:txBody>
      </p:sp>
      <p:sp>
        <p:nvSpPr>
          <p:cNvPr id="8" name="proof-num-2"/>
          <p:cNvSpPr txBox="1"/>
          <p:nvPr/>
        </p:nvSpPr>
        <p:spPr>
          <a:xfrm>
            <a:off x="4282135" y="3447288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33095" y="3429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مقارنة بمتوسط المركبة نفسها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33095" y="385876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كل مركبة مقابل متوسطها خلال 30 يومًا، لا مقابل الأسطول.</a:t>
            </a:r>
            <a:endParaRPr lang="en-US" sz="1300" dirty="0"/>
          </a:p>
        </p:txBody>
      </p:sp>
      <p:sp>
        <p:nvSpPr>
          <p:cNvPr id="11" name="proof-num-3"/>
          <p:cNvSpPr txBox="1"/>
          <p:nvPr/>
        </p:nvSpPr>
        <p:spPr>
          <a:xfrm>
            <a:off x="4282135" y="4745736"/>
            <a:ext cx="457200" cy="457200"/>
          </a:xfrm>
          <a:prstGeom prst="ellipse">
            <a:avLst/>
          </a:prstGeom>
          <a:solidFill>
            <a:srgbClr val="E8F2FF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051D5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33095" y="4727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أقل من 70٪؟ «منخفض»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33095" y="515721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5464D"/>
                </a:solidFill>
              </a:rPr>
              <a:t>يستحق التحقق من وجود عطل في المركبة أو خطأ في التسجيل.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قواعد يمكنك التحقق منها،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لا وعود</a:t>
            </a:r>
            <a:endParaRPr lang="en-US" sz="3200" dirty="0"/>
          </a:p>
        </p:txBody>
      </p:sp>
      <p:sp>
        <p:nvSpPr>
          <p:cNvPr id="3" name="stat-1"/>
          <p:cNvSpPr/>
          <p:nvPr/>
        </p:nvSpPr>
        <p:spPr>
          <a:xfrm>
            <a:off x="9037015" y="219456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219895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70٪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9311335" y="35661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تمييز الوقود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311335" y="42519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التعبئة الكاملة الأقل من 70٪ من متوسط المركبة خلال 30 يومًا تظهر «منخفض».</a:t>
            </a:r>
            <a:endParaRPr lang="en-US" sz="1250" dirty="0"/>
          </a:p>
        </p:txBody>
      </p:sp>
      <p:sp>
        <p:nvSpPr>
          <p:cNvPr id="7" name="stat-2"/>
          <p:cNvSpPr/>
          <p:nvPr/>
        </p:nvSpPr>
        <p:spPr>
          <a:xfrm>
            <a:off x="6229807" y="219456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12687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30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504127" y="35661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يومًا مسبقًا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504127" y="42519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الاستمارة والتأمين والفحص الدوري التي تنتهي خلال 30 يومًا تظهر في الرئيسية.</a:t>
            </a:r>
            <a:endParaRPr lang="en-US" sz="1250" dirty="0"/>
          </a:p>
        </p:txBody>
      </p:sp>
      <p:sp>
        <p:nvSpPr>
          <p:cNvPr id="11" name="stat-3"/>
          <p:cNvSpPr/>
          <p:nvPr/>
        </p:nvSpPr>
        <p:spPr>
          <a:xfrm>
            <a:off x="3422599" y="219456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05479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15٪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3696919" y="35661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الضريبة مدمجة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96919" y="42519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أوامر العمل والتكاليف بالريال، مع إضافة الضريبة أو فصلها.</a:t>
            </a:r>
            <a:endParaRPr lang="en-US" sz="1250" dirty="0"/>
          </a:p>
        </p:txBody>
      </p:sp>
      <p:sp>
        <p:nvSpPr>
          <p:cNvPr id="15" name="stat-4"/>
          <p:cNvSpPr/>
          <p:nvPr/>
        </p:nvSpPr>
        <p:spPr>
          <a:xfrm>
            <a:off x="615391" y="2194560"/>
            <a:ext cx="2606040" cy="3429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98271" y="246888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" y="356616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طرق للاستحقاق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" y="425196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الكيلومترات أو ساعات التشغيل أو التاريخ، أيّها أسبق.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كل رقم هنا قاعدة في المنتج، وليس نتيجة عميل.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كيف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يعمل</a:t>
            </a:r>
            <a:endParaRPr lang="en-US" sz="3200" dirty="0"/>
          </a:p>
        </p:txBody>
      </p:sp>
      <p:sp>
        <p:nvSpPr>
          <p:cNvPr id="3" name="step-1"/>
          <p:cNvSpPr/>
          <p:nvPr/>
        </p:nvSpPr>
        <p:spPr>
          <a:xfrm>
            <a:off x="8122615" y="22860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4" name="icon-bg-camera"/>
          <p:cNvSpPr/>
          <p:nvPr/>
        </p:nvSpPr>
        <p:spPr>
          <a:xfrm>
            <a:off x="10756087" y="26060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5" name="icon-camera" descr="/home/user/Claude/fleetana-launch/brand/assets/icons/icon-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9473" y="271942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42655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01  التسجيل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442655" y="3931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يسجّل السائقون والمشغّلون الوقود ويجرون الفحوصات ويبلّغون عن المشكلات من أي جهاز.</a:t>
            </a:r>
            <a:endParaRPr lang="en-US" sz="1500" dirty="0"/>
          </a:p>
        </p:txBody>
      </p:sp>
      <p:pic>
        <p:nvPicPr>
          <p:cNvPr id="8" name="arrow-1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7903159" y="3776472"/>
            <a:ext cx="201168" cy="201168"/>
          </a:xfrm>
          <a:prstGeom prst="rect">
            <a:avLst/>
          </a:prstGeom>
        </p:spPr>
      </p:pic>
      <p:sp>
        <p:nvSpPr>
          <p:cNvPr id="9" name="step-2"/>
          <p:cNvSpPr/>
          <p:nvPr/>
        </p:nvSpPr>
        <p:spPr>
          <a:xfrm>
            <a:off x="4373575" y="22860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0" name="icon-bg-box"/>
          <p:cNvSpPr/>
          <p:nvPr/>
        </p:nvSpPr>
        <p:spPr>
          <a:xfrm>
            <a:off x="7007047" y="26060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1" name="icon-box" descr="/home/user/Claude/fleetana-launch/brand/assets/icons/icon-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433" y="2719426"/>
            <a:ext cx="340157" cy="34015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93615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  التنظيم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4693615" y="3931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كل شيء يرتبط بالمركبة الصحيحة، والتذكيرات تُحسب من برامج الصيانة لديك.</a:t>
            </a:r>
            <a:endParaRPr lang="en-US" sz="1500" dirty="0"/>
          </a:p>
        </p:txBody>
      </p:sp>
      <p:pic>
        <p:nvPicPr>
          <p:cNvPr id="14" name="arrow-2" descr="/home/user/Claude/fleetana-launch/brand/assets/icons/icon-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154119" y="3776472"/>
            <a:ext cx="201168" cy="201168"/>
          </a:xfrm>
          <a:prstGeom prst="rect">
            <a:avLst/>
          </a:prstGeom>
        </p:spPr>
      </p:pic>
      <p:sp>
        <p:nvSpPr>
          <p:cNvPr id="15" name="step-3"/>
          <p:cNvSpPr/>
          <p:nvPr/>
        </p:nvSpPr>
        <p:spPr>
          <a:xfrm>
            <a:off x="624535" y="22860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icon-bg-chart"/>
          <p:cNvSpPr/>
          <p:nvPr/>
        </p:nvSpPr>
        <p:spPr>
          <a:xfrm>
            <a:off x="3258007" y="2606040"/>
            <a:ext cx="566928" cy="566928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7" name="icon-chart" descr="/home/user/Claude/fleetana-launch/brand/assets/icons/icon-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393" y="2719426"/>
            <a:ext cx="340157" cy="34015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44575" y="3383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  القرار</a:t>
            </a:r>
            <a:endParaRPr lang="en-US" sz="2100" dirty="0"/>
          </a:p>
        </p:txBody>
      </p:sp>
      <p:sp>
        <p:nvSpPr>
          <p:cNvPr id="19" name="Text 12"/>
          <p:cNvSpPr txBox="1"/>
          <p:nvPr/>
        </p:nvSpPr>
        <p:spPr>
          <a:xfrm>
            <a:off x="944575" y="39319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45464D"/>
                </a:solidFill>
              </a:rPr>
              <a:t>افتح الرئيسية أو صفحة المركبة لترى المستحق والمتأخر وما سينتهي قريبًا.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صُمّم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للأساطيل السعودية</a:t>
            </a:r>
            <a:endParaRPr lang="en-US" sz="3200" dirty="0"/>
          </a:p>
        </p:txBody>
      </p:sp>
      <p:sp>
        <p:nvSpPr>
          <p:cNvPr id="3" name="chip-1"/>
          <p:cNvSpPr txBox="1"/>
          <p:nvPr/>
        </p:nvSpPr>
        <p:spPr>
          <a:xfrm>
            <a:off x="9128455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الاستمارة</a:t>
            </a:r>
            <a:endParaRPr lang="en-US" sz="1500" dirty="0"/>
          </a:p>
        </p:txBody>
      </p:sp>
      <p:sp>
        <p:nvSpPr>
          <p:cNvPr id="4" name="chip-2"/>
          <p:cNvSpPr txBox="1"/>
          <p:nvPr/>
        </p:nvSpPr>
        <p:spPr>
          <a:xfrm>
            <a:off x="6430975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الفحص الدوري</a:t>
            </a:r>
            <a:endParaRPr lang="en-US" sz="1500" dirty="0"/>
          </a:p>
        </p:txBody>
      </p:sp>
      <p:sp>
        <p:nvSpPr>
          <p:cNvPr id="5" name="chip-3"/>
          <p:cNvSpPr txBox="1"/>
          <p:nvPr/>
        </p:nvSpPr>
        <p:spPr>
          <a:xfrm>
            <a:off x="3733495" y="2148840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التأمين</a:t>
            </a:r>
            <a:endParaRPr lang="en-US" sz="1500" dirty="0"/>
          </a:p>
        </p:txBody>
      </p:sp>
      <p:sp>
        <p:nvSpPr>
          <p:cNvPr id="6" name="chip-4"/>
          <p:cNvSpPr txBox="1"/>
          <p:nvPr/>
        </p:nvSpPr>
        <p:spPr>
          <a:xfrm>
            <a:off x="9128455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الريال وضريبة 15٪</a:t>
            </a:r>
            <a:endParaRPr lang="en-US" sz="1500" dirty="0"/>
          </a:p>
        </p:txBody>
      </p:sp>
      <p:sp>
        <p:nvSpPr>
          <p:cNvPr id="7" name="chip-5"/>
          <p:cNvSpPr txBox="1"/>
          <p:nvPr/>
        </p:nvSpPr>
        <p:spPr>
          <a:xfrm>
            <a:off x="6430975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كم وساعات التشغيل</a:t>
            </a:r>
            <a:endParaRPr lang="en-US" sz="1500" dirty="0"/>
          </a:p>
        </p:txBody>
      </p:sp>
      <p:sp>
        <p:nvSpPr>
          <p:cNvPr id="8" name="chip-6"/>
          <p:cNvSpPr txBox="1"/>
          <p:nvPr/>
        </p:nvSpPr>
        <p:spPr>
          <a:xfrm>
            <a:off x="3733495" y="2807208"/>
            <a:ext cx="251460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العربية · English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779215" y="3657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للأساطيل من 10 إلى 50 مركبة</a:t>
            </a:r>
            <a:endParaRPr lang="en-US" sz="1800" dirty="0"/>
          </a:p>
        </p:txBody>
      </p:sp>
      <p:sp>
        <p:nvSpPr>
          <p:cNvPr id="10" name="icon-bg-truck"/>
          <p:cNvSpPr/>
          <p:nvPr/>
        </p:nvSpPr>
        <p:spPr>
          <a:xfrm>
            <a:off x="11140135" y="420624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1" name="icon-truck" descr="/home/user/Claude/fleetana-launch/brand/assets/icons/icon-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0719" y="4306824"/>
            <a:ext cx="301752" cy="30175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56855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التوصيل والشحن</a:t>
            </a:r>
            <a:endParaRPr lang="en-US" sz="1500" dirty="0"/>
          </a:p>
        </p:txBody>
      </p:sp>
      <p:sp>
        <p:nvSpPr>
          <p:cNvPr id="13" name="icon-bg-wrench"/>
          <p:cNvSpPr/>
          <p:nvPr/>
        </p:nvSpPr>
        <p:spPr>
          <a:xfrm>
            <a:off x="7162495" y="420624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4" name="icon-wrench" descr="/home/user/Claude/fleetana-launch/brand/assets/icons/icon-wren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079" y="430682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79215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البناء والمعدات الثقيلة</a:t>
            </a:r>
            <a:endParaRPr lang="en-US" sz="1500" dirty="0"/>
          </a:p>
        </p:txBody>
      </p:sp>
      <p:sp>
        <p:nvSpPr>
          <p:cNvPr id="16" name="icon-bg-box"/>
          <p:cNvSpPr/>
          <p:nvPr/>
        </p:nvSpPr>
        <p:spPr>
          <a:xfrm>
            <a:off x="11140135" y="498348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17" name="icon-box" descr="/home/user/Claude/fleetana-launch/brand/assets/icons/icon-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0719" y="508406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756855" y="5029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التوزيع والتجزئة</a:t>
            </a:r>
            <a:endParaRPr lang="en-US" sz="1500" dirty="0"/>
          </a:p>
        </p:txBody>
      </p:sp>
      <p:sp>
        <p:nvSpPr>
          <p:cNvPr id="19" name="icon-bg-users"/>
          <p:cNvSpPr/>
          <p:nvPr/>
        </p:nvSpPr>
        <p:spPr>
          <a:xfrm>
            <a:off x="7162495" y="4983480"/>
            <a:ext cx="502920" cy="502920"/>
          </a:xfrm>
          <a:prstGeom prst="ellipse">
            <a:avLst/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pic>
        <p:nvPicPr>
          <p:cNvPr id="20" name="icon-users" descr="/home/user/Claude/fleetana-launch/brand/assets/icons/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079" y="5084064"/>
            <a:ext cx="301752" cy="30175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79215" y="5029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0F172A"/>
                </a:solidFill>
              </a:rPr>
              <a:t>نقل الركاب والنقل المدرسي</a:t>
            </a:r>
            <a:endParaRPr lang="en-US" sz="1500" dirty="0"/>
          </a:p>
        </p:txBody>
      </p:sp>
      <p:sp>
        <p:nvSpPr>
          <p:cNvPr id="22" name="papers-card"/>
          <p:cNvSpPr/>
          <p:nvPr/>
        </p:nvSpPr>
        <p:spPr>
          <a:xfrm>
            <a:off x="551383" y="2148840"/>
            <a:ext cx="2724912" cy="3566160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pic>
        <p:nvPicPr>
          <p:cNvPr id="23" name="Document expiry cards" descr="Document expiry car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" y="2377440"/>
            <a:ext cx="2542032" cy="137918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5975" y="397764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5464D"/>
                </a:solidFill>
              </a:rPr>
              <a:t>تواريخ الانتهاء محفوظة في سجل كل مركبة، والرئيسية تعرض ما ينتهي خلال 30 يومًا.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7985455" y="18288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r" indent="0" marL="0">
              <a:buNone/>
            </a:pPr>
            <a:r>
              <a:rPr lang="en-US" sz="8000" b="1" dirty="0">
                <a:solidFill>
                  <a:srgbClr val="2A89F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2499055" y="31546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000000"/>
                </a:solidFill>
              </a:rPr>
              <a:t>العرض</a:t>
            </a:r>
            <a:endParaRPr lang="en-US" sz="4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3413455" y="4526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1E3A8A"/>
                </a:solidFill>
              </a:rPr>
              <a:t>كيف نطبّق فليتانا لديكم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خطة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التطبيق</a:t>
            </a:r>
            <a:endParaRPr lang="en-US" sz="3200" dirty="0"/>
          </a:p>
        </p:txBody>
      </p:sp>
      <p:graphicFrame>
        <p:nvGraphicFramePr>
          <p:cNvPr id="14" name="rollou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2011680"/>
                <a:gridCol w="1581912"/>
              </a:tblGrid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ما يحدث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الأسبوع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2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الإعداد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إضافة المركبات والسائقين والوثائق وأعضاء الفريق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فريقكم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برامج الصيانة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اختيار مهام الصيانة وفتراتها من المجموعة الافتراضية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معًا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1–2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الاستخدام اليومي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تسجيل الوقود وإجراء الفحوصات وفتح البلاغات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سائقوكم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2–4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المراجعة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المستحق والمتأخر وما سينتهي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معًا</a:t>
                      </a:r>
                      <a:endParaRPr lang="en-US" sz="13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4</a:t>
                      </a:r>
                      <a:endParaRPr lang="en-US" sz="130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خطة نموذجية. عدّل المراحل والمسؤولين والأسابيع حسب الجهة.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-card"/>
          <p:cNvSpPr/>
          <p:nvPr/>
        </p:nvSpPr>
        <p:spPr>
          <a:xfrm>
            <a:off x="548640" y="1783080"/>
            <a:ext cx="11094415" cy="3566160"/>
          </a:xfrm>
          <a:prstGeom prst="roundRect">
            <a:avLst>
              <a:gd name="adj" fmla="val 3077"/>
            </a:avLst>
          </a:prstGeom>
          <a:solidFill>
            <a:srgbClr val="E8F2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1188720" y="2240280"/>
            <a:ext cx="98142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سجّل قراءة العداد،</a:t>
            </a:r>
            <a:endParaRPr lang="en-US" sz="4800" dirty="0"/>
          </a:p>
          <a:p>
            <a:pPr rtl="1" algn="r" indent="0" marL="0">
              <a:buNone/>
            </a:pPr>
            <a:r>
              <a:rPr lang="en-US" sz="4800" b="1" dirty="0">
                <a:solidFill>
                  <a:srgbClr val="0051D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والباقي علينا.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34340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1E3A8A"/>
                </a:solidFill>
              </a:rPr>
              <a:t>فليتانا يتولى الحساب والتذكّر، وفريقك يتولى القيادة.</a:t>
            </a:r>
            <a:endParaRPr lang="en-US" sz="17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868680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الخطوات</a:t>
            </a:r>
            <a:endParaRPr lang="en-US" sz="3200" dirty="0"/>
          </a:p>
          <a:p>
            <a:pPr rtl="1" algn="r" indent="0" marL="0">
              <a:buNone/>
            </a:pPr>
            <a:r>
              <a:rPr lang="en-US" sz="3200" b="1" dirty="0">
                <a:solidFill>
                  <a:srgbClr val="0051D5"/>
                </a:solidFill>
              </a:rPr>
              <a:t>التالية</a:t>
            </a:r>
            <a:endParaRPr lang="en-US" sz="3200" dirty="0"/>
          </a:p>
        </p:txBody>
      </p:sp>
      <p:sp>
        <p:nvSpPr>
          <p:cNvPr id="3" name="next-num-1"/>
          <p:cNvSpPr txBox="1"/>
          <p:nvPr/>
        </p:nvSpPr>
        <p:spPr>
          <a:xfrm>
            <a:off x="11094415" y="2148840"/>
            <a:ext cx="548640" cy="548640"/>
          </a:xfrm>
          <a:prstGeom prst="ellipse">
            <a:avLst/>
          </a:prstGeom>
          <a:solidFill>
            <a:srgbClr val="2A89F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013655" y="21122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الاتفاق على النطاق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5013655" y="25328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المركبات والمواقع والأشخاص الذين سيستخدمون فليتانا.</a:t>
            </a:r>
            <a:endParaRPr lang="en-US" sz="1400" dirty="0"/>
          </a:p>
        </p:txBody>
      </p:sp>
      <p:sp>
        <p:nvSpPr>
          <p:cNvPr id="6" name="next-num-2"/>
          <p:cNvSpPr txBox="1"/>
          <p:nvPr/>
        </p:nvSpPr>
        <p:spPr>
          <a:xfrm>
            <a:off x="11094415" y="3291840"/>
            <a:ext cx="548640" cy="548640"/>
          </a:xfrm>
          <a:prstGeom prst="ellipse">
            <a:avLst/>
          </a:prstGeom>
          <a:solidFill>
            <a:srgbClr val="2A89F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013655" y="32552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إعداد مساحة العمل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013655" y="36758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إضافة المركبات والسائقين وتواريخ الوثائق في الأسبوع الأول.</a:t>
            </a:r>
            <a:endParaRPr lang="en-US" sz="1400" dirty="0"/>
          </a:p>
        </p:txBody>
      </p:sp>
      <p:sp>
        <p:nvSpPr>
          <p:cNvPr id="9" name="next-num-3"/>
          <p:cNvSpPr txBox="1"/>
          <p:nvPr/>
        </p:nvSpPr>
        <p:spPr>
          <a:xfrm>
            <a:off x="11094415" y="4434840"/>
            <a:ext cx="548640" cy="548640"/>
          </a:xfrm>
          <a:prstGeom prst="ellipse">
            <a:avLst/>
          </a:prstGeom>
          <a:solidFill>
            <a:srgbClr val="2A89F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013655" y="439826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المراجعة معًا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013655" y="48188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5464D"/>
                </a:solidFill>
              </a:rPr>
              <a:t>بعد أربعة أسابيع، نراجع المستحق والمتأخر وما سينتهي.</a:t>
            </a:r>
            <a:endParaRPr lang="en-US" sz="1400" dirty="0"/>
          </a:p>
        </p:txBody>
      </p:sp>
      <p:sp>
        <p:nvSpPr>
          <p:cNvPr id="12" name="contact-card"/>
          <p:cNvSpPr/>
          <p:nvPr/>
        </p:nvSpPr>
        <p:spPr>
          <a:xfrm>
            <a:off x="551383" y="2103120"/>
            <a:ext cx="3776472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1778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7415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51D5"/>
                </a:solidFill>
              </a:rPr>
              <a:t>التواصل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7415" y="2834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00000"/>
                </a:solidFill>
              </a:rPr>
              <a:t>الاسم الكامل</a:t>
            </a:r>
            <a:endParaRPr lang="en-US" sz="2000" dirty="0"/>
          </a:p>
          <a:p>
            <a:pPr algn="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5464D"/>
                </a:solidFill>
              </a:rPr>
              <a:t>المسمى الوظيفي، فليتانا</a:t>
            </a:r>
            <a:endParaRPr lang="en-US" sz="2000" dirty="0"/>
          </a:p>
          <a:p>
            <a:pPr algn="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5464D"/>
                </a:solidFill>
              </a:rPr>
              <a:t>name@fleetana.sa</a:t>
            </a:r>
            <a:endParaRPr lang="en-US" sz="2000" dirty="0"/>
          </a:p>
          <a:p>
            <a:pPr algn="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5464D"/>
                </a:solidFill>
              </a:rPr>
              <a:t>+966 5X XXX XXXX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07415" y="47548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051D5"/>
                </a:solidFill>
              </a:rPr>
              <a:t>fleetana.sa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73152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274320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أخرج أسطولك من جداول البيانات.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1097280" y="3703320"/>
            <a:ext cx="9997135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1D5"/>
                </a:solidFill>
              </a:rPr>
              <a:t>fleetana.sa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etana">
  <a:themeElements>
    <a:clrScheme name="Fleetana">
      <a:dk1>
        <a:srgbClr val="0F172A"/>
      </a:dk1>
      <a:lt1>
        <a:srgbClr val="FFFFFF"/>
      </a:lt1>
      <a:dk2>
        <a:srgbClr val="000000"/>
      </a:dk2>
      <a:lt2>
        <a:srgbClr val="F7F9FB"/>
      </a:lt2>
      <a:accent1>
        <a:srgbClr val="2A89FA"/>
      </a:accent1>
      <a:accent2>
        <a:srgbClr val="0051D5"/>
      </a:accent2>
      <a:accent3>
        <a:srgbClr val="16A34A"/>
      </a:accent3>
      <a:accent4>
        <a:srgbClr val="D97706"/>
      </a:accent4>
      <a:accent5>
        <a:srgbClr val="EF4444"/>
      </a:accent5>
      <a:accent6>
        <a:srgbClr val="1E3A8A"/>
      </a:accent6>
      <a:hlink>
        <a:srgbClr val="0051D5"/>
      </a:hlink>
      <a:folHlink>
        <a:srgbClr val="1E3A8A"/>
      </a:folHlink>
    </a:clrScheme>
    <a:fontScheme name="Fleetana">
      <a:majorFont>
        <a:latin typeface="IBM Plex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Fleetana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فليتانا — الملف التعريفي</dc:title>
  <dc:subject>PptxGenJS Presentation</dc:subject>
  <dc:creator>Fleetana</dc:creator>
  <cp:lastModifiedBy>Fleetana</cp:lastModifiedBy>
  <cp:revision>1</cp:revision>
  <dcterms:created xsi:type="dcterms:W3CDTF">2026-10-23T14:30:26Z</dcterms:created>
  <dcterms:modified xsi:type="dcterms:W3CDTF">2026-10-23T14:30:26Z</dcterms:modified>
</cp:coreProperties>
</file>