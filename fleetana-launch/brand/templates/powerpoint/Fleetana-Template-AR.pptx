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قدمة" id="{d802cbc6-aa47-538b-3cac-7d98e6e95b64}">
          <p14:sldIdLst>
            <p14:sldId id="256"/>
            <p14:sldId id="257"/>
          </p14:sldIdLst>
        </p14:section>
        <p14:section name="المشكلة" id="{b692e718-312c-2f4a-b508-cbbd4ef85780}">
          <p14:sldIdLst>
            <p14:sldId id="258"/>
            <p14:sldId id="259"/>
          </p14:sldIdLst>
        </p14:section>
        <p14:section name="ما يقدمه فليتانا" id="{aa674c6a-8446-1713-f073-c520519c5b7e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العرض" id="{9efb61f1-76a0-0b04-006c-6c01a8a7029d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تخطيط الغلاف. السطر العلوي لنوع المستند، والعنوان في سطرين: العبارة بالأسود والخلاصة بالأزرق.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تخطيط العنوان فقط مع أربع بطاقات.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تخطيط فاصل القسم: رقم وعنوان وسطر داعم.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ثلاث بطاقات بأيقونات. مشكلة واحدة لكل بطاقة، دون أرقام مختلقة.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نص يمين وشاشة المنتج يسار.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ست بطاقات للميزات. الميزات التي تعتمد على التتبع تحمل وسم «جهاز تتبع».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شاشة منتج واحدة مع ثلاث نقاط مرقمة.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أرقام بارزة: فقط قواعد المنتج أو بيانات مثبتة، مع ذكر ذلك.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عملية من ثلاث 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وسوم وقائمة الجمهور وشاشة داعمة.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جدول للعروض بنمط فليتانا.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عبارة كبيرة على بطاقة فاتحة. مرة واحدة في العرض.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خطوات مرقمة مع بطاقة تواصل.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الختام: الشعار والعبارة والرابط.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400" b="1" dirty="0">
                <a:solidFill>
                  <a:srgbClr val="0051D5"/>
                </a:solidFill>
              </a:defRPr>
            </a:lvl1pPr>
          </a:lstStyle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r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r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51D5"/>
                </a:solidFill>
              </a:rPr>
              <a:t>الملف التعريفي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أخرج أسطولك</a:t>
            </a:r>
            <a:endParaRPr lang="en-US" sz="4800" dirty="0"/>
          </a:p>
          <a:p>
            <a:pPr rtl="1"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من جداول البيانات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إدارة أساطيل صُممت للأساطيل السعودية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اسم الجهة · DD/MM/YYYY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551383" y="1554480"/>
            <a:ext cx="437083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" y="1664208"/>
            <a:ext cx="4151376" cy="2428997"/>
          </a:xfrm>
          <a:prstGeom prst="rect">
            <a:avLst/>
          </a:prstGeom>
        </p:spPr>
      </p:pic>
      <p:sp>
        <p:nvSpPr>
          <p:cNvPr id="8" name="pill-الخريطة المباشرة · جهاز تتبع"/>
          <p:cNvSpPr txBox="1"/>
          <p:nvPr/>
        </p:nvSpPr>
        <p:spPr>
          <a:xfrm>
            <a:off x="2435047" y="4389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الخريطة المباشرة · جهاز تتبع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المحتويات</a:t>
            </a:r>
            <a:endParaRPr lang="en-US" sz="3200" dirty="0"/>
          </a:p>
        </p:txBody>
      </p:sp>
      <p:sp>
        <p:nvSpPr>
          <p:cNvPr id="3" name="contents-1"/>
          <p:cNvSpPr/>
          <p:nvPr/>
        </p:nvSpPr>
        <p:spPr>
          <a:xfrm>
            <a:off x="9037015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997135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311335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311335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أين يضيع وقت الأسطول وماله</a:t>
            </a:r>
            <a:endParaRPr lang="en-US" sz="1500" dirty="0"/>
          </a:p>
        </p:txBody>
      </p:sp>
      <p:sp>
        <p:nvSpPr>
          <p:cNvPr id="7" name="contents-2"/>
          <p:cNvSpPr/>
          <p:nvPr/>
        </p:nvSpPr>
        <p:spPr>
          <a:xfrm>
            <a:off x="6229807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89927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504127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يقدمه فليتانا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4127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مساحة عمل واحدة لكل مركبة</a:t>
            </a:r>
            <a:endParaRPr lang="en-US" sz="1500" dirty="0"/>
          </a:p>
        </p:txBody>
      </p:sp>
      <p:sp>
        <p:nvSpPr>
          <p:cNvPr id="11" name="contents-3"/>
          <p:cNvSpPr/>
          <p:nvPr/>
        </p:nvSpPr>
        <p:spPr>
          <a:xfrm>
            <a:off x="3422599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82719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96919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صُمّم للأساطيل السعودية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696919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الاستمارة، الفحص الدوري، الريال، العربية</a:t>
            </a:r>
            <a:endParaRPr lang="en-US" sz="1500" dirty="0"/>
          </a:p>
        </p:txBody>
      </p:sp>
      <p:sp>
        <p:nvSpPr>
          <p:cNvPr id="15" name="contents-4"/>
          <p:cNvSpPr/>
          <p:nvPr/>
        </p:nvSpPr>
        <p:spPr>
          <a:xfrm>
            <a:off x="615391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575511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خطة التطبيق والخطوات التالية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المشكلة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أساطيل تُدار بجداول البيانات والإيصالات والذاكرة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أسطولك يُدار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بالجداول والذاكرة</a:t>
            </a:r>
            <a:endParaRPr lang="en-US" sz="3200" dirty="0"/>
          </a:p>
        </p:txBody>
      </p:sp>
      <p:sp>
        <p:nvSpPr>
          <p:cNvPr id="3" name="problem-1"/>
          <p:cNvSpPr/>
          <p:nvPr/>
        </p:nvSpPr>
        <p:spPr>
          <a:xfrm>
            <a:off x="8122615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10756087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9473" y="276514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42655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جداول البيانات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442655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مواعيد الصيانة واللوحات وتواريخ الاستمارة في ملفات لا تُحدَّث في وقتها.</a:t>
            </a:r>
            <a:endParaRPr lang="en-US" sz="1600" dirty="0"/>
          </a:p>
        </p:txBody>
      </p:sp>
      <p:sp>
        <p:nvSpPr>
          <p:cNvPr id="8" name="problem-2"/>
          <p:cNvSpPr/>
          <p:nvPr/>
        </p:nvSpPr>
        <p:spPr>
          <a:xfrm>
            <a:off x="4373575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7007047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433" y="276514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93615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الإيصالات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93615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مصاريف الوقود والإصلاح في الأدراج والصور، فتمر التعبئة غير المعتادة دون انتباه.</a:t>
            </a:r>
            <a:endParaRPr lang="en-US" sz="1600" dirty="0"/>
          </a:p>
        </p:txBody>
      </p:sp>
      <p:sp>
        <p:nvSpPr>
          <p:cNvPr id="13" name="problem-3"/>
          <p:cNvSpPr/>
          <p:nvPr/>
        </p:nvSpPr>
        <p:spPr>
          <a:xfrm>
            <a:off x="624535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bell"/>
          <p:cNvSpPr/>
          <p:nvPr/>
        </p:nvSpPr>
        <p:spPr>
          <a:xfrm>
            <a:off x="3258007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393" y="276514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44575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محادثات الواتساب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944575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الفحوصات والأعطال والموافقات في المحادثات، ولا شيء مرتبط بالمركبة.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ما يقدمه فليتانا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مكان واحد لكل ما يتعلق بأسطولك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مساحة عمل واحدة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لكل مركبة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162495" y="224028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كل سجل وقود وصيانة وبلاغ وفحص وأمر عمل مرتبط بالمركبة نفسها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مواعيد الصيانة بالكيلومترات أو ساعات التشغيل أو التاريخ، أيّها أسبق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الاستمارة والتأمين والفحص الدوري تظهر قبل انتهائها بـ30 يومًا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العربية والإنجليزية، والريال مع ضريبة القيمة المضافة 15٪، والكيلومترات وساعات التشغيل</a:t>
            </a:r>
            <a:endParaRPr lang="en-US" sz="1700" dirty="0"/>
          </a:p>
        </p:txBody>
      </p:sp>
      <p:sp>
        <p:nvSpPr>
          <p:cNvPr id="4" name="product-vehicles"/>
          <p:cNvSpPr/>
          <p:nvPr/>
        </p:nvSpPr>
        <p:spPr>
          <a:xfrm>
            <a:off x="551383" y="2103120"/>
            <a:ext cx="629107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Vehicle list screen" descr="Vehicle list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" y="2212848"/>
            <a:ext cx="6016752" cy="2880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كل ما يتعلق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بأسطولك</a:t>
            </a:r>
            <a:endParaRPr lang="en-US" sz="3200" dirty="0"/>
          </a:p>
        </p:txBody>
      </p:sp>
      <p:sp>
        <p:nvSpPr>
          <p:cNvPr id="3" name="feature-1"/>
          <p:cNvSpPr/>
          <p:nvPr/>
        </p:nvSpPr>
        <p:spPr>
          <a:xfrm>
            <a:off x="812261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1085667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9084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5121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المركبات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39693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اللوحات والسائقون والوثائق والحالة لكل مركبة.</a:t>
            </a:r>
            <a:endParaRPr lang="en-US" sz="1300" dirty="0"/>
          </a:p>
        </p:txBody>
      </p:sp>
      <p:sp>
        <p:nvSpPr>
          <p:cNvPr id="8" name="feature-2"/>
          <p:cNvSpPr/>
          <p:nvPr/>
        </p:nvSpPr>
        <p:spPr>
          <a:xfrm>
            <a:off x="437357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710763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217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الصيانة والوقاية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4789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برامج بالكيلومترات أو الساعات أو التاريخ، مع المستحق والمتأخر بنظرة.</a:t>
            </a:r>
            <a:endParaRPr lang="en-US" sz="1300" dirty="0"/>
          </a:p>
        </p:txBody>
      </p:sp>
      <p:sp>
        <p:nvSpPr>
          <p:cNvPr id="13" name="feature-3"/>
          <p:cNvSpPr/>
          <p:nvPr/>
        </p:nvSpPr>
        <p:spPr>
          <a:xfrm>
            <a:off x="62453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335859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004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313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الوقود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9885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كم/لتر لكل تعبئة كاملة، وتمييز ما يقل عن 70٪ من متوسط 30 يومًا.</a:t>
            </a:r>
            <a:endParaRPr lang="en-US" sz="1300" dirty="0"/>
          </a:p>
        </p:txBody>
      </p:sp>
      <p:sp>
        <p:nvSpPr>
          <p:cNvPr id="18" name="feature-4"/>
          <p:cNvSpPr/>
          <p:nvPr/>
        </p:nvSpPr>
        <p:spPr>
          <a:xfrm>
            <a:off x="812261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1085667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9084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5121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الفحوصات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39693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قوائم فحص مخصصة مع الصور، والبند الفاشل يفتح بلاغًا.</a:t>
            </a:r>
            <a:endParaRPr lang="en-US" sz="1300" dirty="0"/>
          </a:p>
        </p:txBody>
      </p:sp>
      <p:sp>
        <p:nvSpPr>
          <p:cNvPr id="23" name="feature-5"/>
          <p:cNvSpPr/>
          <p:nvPr/>
        </p:nvSpPr>
        <p:spPr>
          <a:xfrm>
            <a:off x="437357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710763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0044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0217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أوامر العمل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64789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القطع والعمالة والرسوم، مع ضريبة 15٪ وخطوات الاعتماد.</a:t>
            </a:r>
            <a:endParaRPr lang="en-US" sz="1300" dirty="0"/>
          </a:p>
        </p:txBody>
      </p:sp>
      <p:sp>
        <p:nvSpPr>
          <p:cNvPr id="28" name="feature-6"/>
          <p:cNvSpPr/>
          <p:nvPr/>
        </p:nvSpPr>
        <p:spPr>
          <a:xfrm>
            <a:off x="62453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335859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1004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313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الخريطة المباشرة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98855" y="50109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تتحرك، خاملة، متوقفة، مع إعادة الرحلات وتقييم السائقين.</a:t>
            </a:r>
            <a:endParaRPr lang="en-US" sz="1300" dirty="0"/>
          </a:p>
        </p:txBody>
      </p:sp>
      <p:sp>
        <p:nvSpPr>
          <p:cNvPr id="33" name="pill-جهاز تتبع"/>
          <p:cNvSpPr txBox="1"/>
          <p:nvPr/>
        </p:nvSpPr>
        <p:spPr>
          <a:xfrm>
            <a:off x="853135" y="54864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جهاز تتبع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التعبئة غير المعتادة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تظهر بعلامة «منخفض»</a:t>
            </a:r>
            <a:endParaRPr lang="en-US" sz="3200" dirty="0"/>
          </a:p>
        </p:txBody>
      </p:sp>
      <p:sp>
        <p:nvSpPr>
          <p:cNvPr id="3" name="product-fuel"/>
          <p:cNvSpPr/>
          <p:nvPr/>
        </p:nvSpPr>
        <p:spPr>
          <a:xfrm>
            <a:off x="5150815" y="2057400"/>
            <a:ext cx="6492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Fuel economy chart" descr="Fuel economy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7975" y="2176272"/>
            <a:ext cx="6217920" cy="3836589"/>
          </a:xfrm>
          <a:prstGeom prst="rect">
            <a:avLst/>
          </a:prstGeom>
        </p:spPr>
      </p:pic>
      <p:sp>
        <p:nvSpPr>
          <p:cNvPr id="5" name="proof-num-1"/>
          <p:cNvSpPr txBox="1"/>
          <p:nvPr/>
        </p:nvSpPr>
        <p:spPr>
          <a:xfrm>
            <a:off x="4282135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33095" y="2130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معدل لكل تعبئة كاملة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33095" y="2560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المسافة منذ التعبئة الكاملة السابقة ÷ الوقود المضاف، مع قراءة العداد.</a:t>
            </a:r>
            <a:endParaRPr lang="en-US" sz="1300" dirty="0"/>
          </a:p>
        </p:txBody>
      </p:sp>
      <p:sp>
        <p:nvSpPr>
          <p:cNvPr id="8" name="proof-num-2"/>
          <p:cNvSpPr txBox="1"/>
          <p:nvPr/>
        </p:nvSpPr>
        <p:spPr>
          <a:xfrm>
            <a:off x="4282135" y="3447288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33095" y="3429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بمتوسط المركبة نفسها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33095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كل مركبة مقابل متوسطها خلال 30 يومًا، لا مقابل الأسطول.</a:t>
            </a:r>
            <a:endParaRPr lang="en-US" sz="1300" dirty="0"/>
          </a:p>
        </p:txBody>
      </p:sp>
      <p:sp>
        <p:nvSpPr>
          <p:cNvPr id="11" name="proof-num-3"/>
          <p:cNvSpPr txBox="1"/>
          <p:nvPr/>
        </p:nvSpPr>
        <p:spPr>
          <a:xfrm>
            <a:off x="4282135" y="474573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33095" y="4727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أقل من 70٪؟ «منخفض»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3095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يستحق التحقق من وجود عطل في المركبة أو خطأ في التسجيل.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قواعد يمكنك التحقق منها،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لا وعود</a:t>
            </a:r>
            <a:endParaRPr lang="en-US" sz="3200" dirty="0"/>
          </a:p>
        </p:txBody>
      </p:sp>
      <p:sp>
        <p:nvSpPr>
          <p:cNvPr id="3" name="stat-1"/>
          <p:cNvSpPr/>
          <p:nvPr/>
        </p:nvSpPr>
        <p:spPr>
          <a:xfrm>
            <a:off x="9037015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219895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70٪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9311335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تمييز الوقود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311335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التعبئة الكاملة الأقل من 70٪ من متوسط المركبة خلال 30 يومًا تظهر «منخفض».</a:t>
            </a:r>
            <a:endParaRPr lang="en-US" sz="1250" dirty="0"/>
          </a:p>
        </p:txBody>
      </p:sp>
      <p:sp>
        <p:nvSpPr>
          <p:cNvPr id="7" name="stat-2"/>
          <p:cNvSpPr/>
          <p:nvPr/>
        </p:nvSpPr>
        <p:spPr>
          <a:xfrm>
            <a:off x="6229807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12687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504127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يومًا مسبقًا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04127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الاستمارة والتأمين والفحص الدوري التي تنتهي خلال 30 يومًا تظهر في الرئيسية.</a:t>
            </a:r>
            <a:endParaRPr lang="en-US" sz="1250" dirty="0"/>
          </a:p>
        </p:txBody>
      </p:sp>
      <p:sp>
        <p:nvSpPr>
          <p:cNvPr id="11" name="stat-3"/>
          <p:cNvSpPr/>
          <p:nvPr/>
        </p:nvSpPr>
        <p:spPr>
          <a:xfrm>
            <a:off x="3422599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05479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15٪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3696919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الضريبة مدمجة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96919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أوامر العمل والتكاليف بالريال، مع إضافة الضريبة أو فصلها.</a:t>
            </a:r>
            <a:endParaRPr lang="en-US" sz="1250" dirty="0"/>
          </a:p>
        </p:txBody>
      </p:sp>
      <p:sp>
        <p:nvSpPr>
          <p:cNvPr id="15" name="stat-4"/>
          <p:cNvSpPr/>
          <p:nvPr/>
        </p:nvSpPr>
        <p:spPr>
          <a:xfrm>
            <a:off x="615391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98271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طرق للاستحقاق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الكيلومترات أو ساعات التشغيل أو التاريخ، أيّها أسبق.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كل رقم هنا قاعدة في المنتج، وليس نتيجة عميل.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كيف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يعمل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8122615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amera"/>
          <p:cNvSpPr/>
          <p:nvPr/>
        </p:nvSpPr>
        <p:spPr>
          <a:xfrm>
            <a:off x="10756087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amera" descr="/home/user/Claude/fleetana-launch/brand/assets/icons/icon-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9473" y="27194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42655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  التسجيل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442655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يسجّل السائقون والمشغّلون الوقود ويجرون الفحوصات ويبلّغون عن المشكلات من أي جهاز.</a:t>
            </a:r>
            <a:endParaRPr lang="en-US" sz="1500" dirty="0"/>
          </a:p>
        </p:txBody>
      </p:sp>
      <p:pic>
        <p:nvPicPr>
          <p:cNvPr id="8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903159" y="3776472"/>
            <a:ext cx="201168" cy="201168"/>
          </a:xfrm>
          <a:prstGeom prst="rect">
            <a:avLst/>
          </a:prstGeom>
        </p:spPr>
      </p:pic>
      <p:sp>
        <p:nvSpPr>
          <p:cNvPr id="9" name="step-2"/>
          <p:cNvSpPr/>
          <p:nvPr/>
        </p:nvSpPr>
        <p:spPr>
          <a:xfrm>
            <a:off x="4373575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0" name="icon-bg-box"/>
          <p:cNvSpPr/>
          <p:nvPr/>
        </p:nvSpPr>
        <p:spPr>
          <a:xfrm>
            <a:off x="7007047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0433" y="271942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93615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  التنظيم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4693615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كل شيء يرتبط بالمركبة الصحيحة، والتذكيرات تُحسب من برامج الصيانة لديك.</a:t>
            </a:r>
            <a:endParaRPr lang="en-US" sz="1500" dirty="0"/>
          </a:p>
        </p:txBody>
      </p:sp>
      <p:pic>
        <p:nvPicPr>
          <p:cNvPr id="1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4154119" y="3776472"/>
            <a:ext cx="201168" cy="201168"/>
          </a:xfrm>
          <a:prstGeom prst="rect">
            <a:avLst/>
          </a:prstGeom>
        </p:spPr>
      </p:pic>
      <p:sp>
        <p:nvSpPr>
          <p:cNvPr id="15" name="step-3"/>
          <p:cNvSpPr/>
          <p:nvPr/>
        </p:nvSpPr>
        <p:spPr>
          <a:xfrm>
            <a:off x="624535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icon-bg-chart"/>
          <p:cNvSpPr/>
          <p:nvPr/>
        </p:nvSpPr>
        <p:spPr>
          <a:xfrm>
            <a:off x="3258007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393" y="2719426"/>
            <a:ext cx="340157" cy="340157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44575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  القرار</a:t>
            </a:r>
            <a:endParaRPr lang="en-US" sz="2100" dirty="0"/>
          </a:p>
        </p:txBody>
      </p:sp>
      <p:sp>
        <p:nvSpPr>
          <p:cNvPr id="19" name="Text 12"/>
          <p:cNvSpPr txBox="1"/>
          <p:nvPr/>
        </p:nvSpPr>
        <p:spPr>
          <a:xfrm>
            <a:off x="944575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افتح الرئيسية أو صفحة المركبة لترى المستحق والمتأخر وما سينتهي قريبًا.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صُمّم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للأساطيل السعودية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912845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الاستمارة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643097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الفحص الدوري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373349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التأمين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912845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الريال وضريبة 15٪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643097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كم وساعات التشغيل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373349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79215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للأساطيل من 10 إلى 50 مركبة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1114013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0719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5685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التوصيل والشحن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716249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079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77921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البناء والمعدات الثقيلة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1114013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0719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75685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التوزيع والتجزئة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716249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079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7921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نقل الركاب والنقل المدرسي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551383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15975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تواريخ الانتهاء محفوظة في سجل كل مركبة، والرئيسية تعرض ما ينتهي خلال 30 يومًا.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العرض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كيف نطبّق فليتانا لديكم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خطة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التطبيق</a:t>
            </a:r>
            <a:endParaRPr lang="en-US" sz="3200" dirty="0"/>
          </a:p>
        </p:txBody>
      </p:sp>
      <p:graphicFrame>
        <p:nvGraphicFramePr>
          <p:cNvPr id="14" name="rollou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2011680"/>
                <a:gridCol w="1581912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المرحلة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ما يحدث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المسؤول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الأسبوع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الإعداد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إضافة المركبات والسائقين والوثائق وأعضاء الفريق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فريقكم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برامج الصيانة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اختيار مهام الصيانة وفتراتها من المجموعة الافتراضية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معًا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1–2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الاستخدام اليومي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تسجيل الوقود وإجراء الفحوصات وفتح البلاغات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سائقوكم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2–4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المراجعة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مراجعة المستحق والمتأخر وما سينتهي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معًا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خطة نموذجية. عدّل المراحل والمسؤولين والأسابيع حسب الجهة.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tement-card"/>
          <p:cNvSpPr/>
          <p:nvPr/>
        </p:nvSpPr>
        <p:spPr>
          <a:xfrm>
            <a:off x="548640" y="1783080"/>
            <a:ext cx="11094415" cy="3566160"/>
          </a:xfrm>
          <a:prstGeom prst="roundRect">
            <a:avLst>
              <a:gd name="adj" fmla="val 3077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88720" y="2240280"/>
            <a:ext cx="981425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سجّل قراءة العداد،</a:t>
            </a:r>
            <a:endParaRPr lang="en-US" sz="4800" dirty="0"/>
          </a:p>
          <a:p>
            <a:pPr rtl="1" algn="r" indent="0" marL="0">
              <a:buNone/>
            </a:pPr>
            <a:r>
              <a:rPr lang="en-US" sz="4800" b="1" dirty="0">
                <a:solidFill>
                  <a:srgbClr val="0051D5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والباقي علينا.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434340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E3A8A"/>
                </a:solidFill>
              </a:rPr>
              <a:t>فليتانا يتولى الحساب والتذكّر، وفريقك يتولى القيادة.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الخطوات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التالية</a:t>
            </a:r>
            <a:endParaRPr lang="en-US" sz="3200" dirty="0"/>
          </a:p>
        </p:txBody>
      </p:sp>
      <p:sp>
        <p:nvSpPr>
          <p:cNvPr id="3" name="next-num-1"/>
          <p:cNvSpPr txBox="1"/>
          <p:nvPr/>
        </p:nvSpPr>
        <p:spPr>
          <a:xfrm>
            <a:off x="11094415" y="2148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13655" y="2112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الاتفاق على النطاق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013655" y="2532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المركبات والمواقع والأشخاص الذين سيستخدمون فليتانا.</a:t>
            </a:r>
            <a:endParaRPr lang="en-US" sz="1400" dirty="0"/>
          </a:p>
        </p:txBody>
      </p:sp>
      <p:sp>
        <p:nvSpPr>
          <p:cNvPr id="6" name="next-num-2"/>
          <p:cNvSpPr txBox="1"/>
          <p:nvPr/>
        </p:nvSpPr>
        <p:spPr>
          <a:xfrm>
            <a:off x="11094415" y="3291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013655" y="3255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إعداد مساحة العمل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013655" y="3675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إضافة المركبات والسائقين وتواريخ الوثائق في الأسبوع الأول.</a:t>
            </a:r>
            <a:endParaRPr lang="en-US" sz="1400" dirty="0"/>
          </a:p>
        </p:txBody>
      </p:sp>
      <p:sp>
        <p:nvSpPr>
          <p:cNvPr id="9" name="next-num-3"/>
          <p:cNvSpPr txBox="1"/>
          <p:nvPr/>
        </p:nvSpPr>
        <p:spPr>
          <a:xfrm>
            <a:off x="11094415" y="4434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013655" y="4398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المراجعة معًا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013655" y="4818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بعد أربعة أسابيع، نراجع المستحق والمتأخر وما سينتهي.</a:t>
            </a:r>
            <a:endParaRPr lang="en-US" sz="1400" dirty="0"/>
          </a:p>
        </p:txBody>
      </p:sp>
      <p:sp>
        <p:nvSpPr>
          <p:cNvPr id="12" name="contact-card"/>
          <p:cNvSpPr/>
          <p:nvPr/>
        </p:nvSpPr>
        <p:spPr>
          <a:xfrm>
            <a:off x="551383" y="2103120"/>
            <a:ext cx="37764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7415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051D5"/>
                </a:solidFill>
              </a:rPr>
              <a:t>التواصل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7415" y="2834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000000"/>
                </a:solidFill>
              </a:rPr>
              <a:t>الاسم الكامل</a:t>
            </a:r>
            <a:endParaRPr lang="en-US" sz="20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المسمى الوظيفي، فليتانا</a:t>
            </a:r>
            <a:endParaRPr lang="en-US" sz="20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name@fleetana.sa</a:t>
            </a:r>
            <a:endParaRPr lang="en-US" sz="20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+966 5X XXX XXXX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07415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51D5"/>
                </a:solidFill>
              </a:rPr>
              <a:t>fleetana.sa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أخرج أسطولك من جداول البيانات.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فليتانا — الملف التعريفي</dc:title>
  <dc:subject>PptxGenJS Presentation</dc:subject>
  <dc:creator>Fleetana</dc:creator>
  <cp:lastModifiedBy>Fleetana</cp:lastModifiedBy>
  <cp:revision>1</cp:revision>
  <dcterms:created xsi:type="dcterms:W3CDTF">2026-10-23T15:12:01Z</dcterms:created>
  <dcterms:modified xsi:type="dcterms:W3CDTF">2026-10-23T15:12:01Z</dcterms:modified>
</cp:coreProperties>
</file>