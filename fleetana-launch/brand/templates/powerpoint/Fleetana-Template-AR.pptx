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مقدمة" id="{27e63217-9edf-8a7f-f7ad-745376fe4a3e}">
          <p14:sldIdLst>
            <p14:sldId id="256"/>
            <p14:sldId id="257"/>
          </p14:sldIdLst>
        </p14:section>
        <p14:section name="المشكلة" id="{b65e6a2a-158d-881a-8584-c45b6b2eeba8}">
          <p14:sldIdLst>
            <p14:sldId id="258"/>
            <p14:sldId id="259"/>
          </p14:sldIdLst>
        </p14:section>
        <p14:section name="ما يقدمه فليتانا" id="{3e9096bc-50fb-2870-f120-f29595c9c547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العرض" id="{a9a7dd45-3d63-9d05-d4c2-d3e0a33f57f2}">
          <p14:sldIdLst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تخطيط الغلاف. السطر العلوي لنوع المستند، والعنوان في سطرين: العبارة بالأسود والخلاصة بالأزرق.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تخطيط العنوان فقط مع أربع بطاقات.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تخطيط فاصل القسم: رقم وعنوان وسطر داعم.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ثلاث بطاقات بأيقونات. مشكلة واحدة لكل بطاقة، دون أرقام مختلقة.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نص يمين وشاشة المنتج يسار.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ست بطاقات للميزات. الميزات التي تعتمد على التتبع تحمل وسم «جهاز تتبع».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شاشة منتج واحدة مع ثلاث نقاط مرقمة.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أرقام بارزة: فقط قواعد المنتج أو بيانات مثبتة، مع ذكر ذلك.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عملية من ثلاث خطوات.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وسوم وقائمة الجمهور وشاشة داعمة.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جدول للعروض بنمط فليتانا.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عبارة كبيرة على بطاقة فاتحة. مرة واحدة في العرض.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خطوات مرقمة مع بطاقة تواصل.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الختام: الشعار والعبارة والرابط.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ver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divider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1026" y="548640"/>
            <a:ext cx="2792029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4327855" y="196596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400" b="1" dirty="0">
                <a:solidFill>
                  <a:srgbClr val="0051D5"/>
                </a:solidFill>
              </a:defRPr>
            </a:lvl1pPr>
          </a:lstStyle>
          <a:p>
            <a:pPr algn="r"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333695" y="237744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lnSpc>
                <a:spcPct val="95000"/>
              </a:lnSpc>
              <a:buNone/>
              <a:defRPr lang="en-US" sz="48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lnSpc>
                <a:spcPct val="95000"/>
              </a:lnSpc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333695" y="4480560"/>
            <a:ext cx="6309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2000" dirty="0">
                <a:solidFill>
                  <a:srgbClr val="45464D"/>
                </a:solidFill>
              </a:defRPr>
            </a:lvl1pPr>
          </a:lstStyle>
          <a:p>
            <a:pPr algn="r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3230575" y="5989320"/>
            <a:ext cx="84124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64748B"/>
                </a:solidFill>
              </a:defRPr>
            </a:lvl1pPr>
          </a:lstStyle>
          <a:p>
            <a:pPr algn="r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4656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defRPr>
            </a:lvl1pPr>
          </a:lstStyle>
          <a:p>
            <a:pPr algn="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44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800" dirty="0">
                <a:solidFill>
                  <a:srgbClr val="1E3A8A"/>
                </a:solidFill>
              </a:defRPr>
            </a:lvl1pPr>
          </a:lstStyle>
          <a:p>
            <a:pPr algn="r"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8899855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4656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8899855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4656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057400"/>
            <a:ext cx="1109441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spcAft>
                <a:spcPts val="800"/>
              </a:spcAft>
              <a:buNone/>
              <a:defRPr lang="en-US" sz="1800" dirty="0">
                <a:solidFill>
                  <a:srgbClr val="0F172A"/>
                </a:solidFill>
              </a:defRPr>
            </a:lvl1pPr>
          </a:lstStyle>
          <a:p>
            <a:pPr algn="r" indent="0" marL="0">
              <a:spcAft>
                <a:spcPts val="800"/>
              </a:spcAft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8899855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92728" y="1691640"/>
            <a:ext cx="4206240" cy="57857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rgbClr val="000000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0051D5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2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4327855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51D5"/>
                </a:solidFill>
              </a:rPr>
              <a:t>الملف التعريفي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333695" y="237744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0000"/>
                </a:solidFill>
              </a:rPr>
              <a:t>أخرج أسطولك</a:t>
            </a:r>
            <a:endParaRPr lang="en-US" sz="4800" dirty="0"/>
          </a:p>
          <a:p>
            <a:pPr algn="r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51D5"/>
                </a:solidFill>
              </a:rPr>
              <a:t>من جداول البيانات</a:t>
            </a:r>
            <a:endParaRPr lang="en-US" sz="4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333695" y="44805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dirty="0">
                <a:solidFill>
                  <a:srgbClr val="45464D"/>
                </a:solidFill>
              </a:rPr>
              <a:t>إدارة أساطيل صُممت للأساطيل السعودية</a:t>
            </a:r>
            <a:endParaRPr lang="en-US" sz="20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3230575" y="59893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اسم الجهة · DD/MM/YYYY · fleetana.sa</a:t>
            </a:r>
            <a:endParaRPr lang="en-US" sz="1200" dirty="0"/>
          </a:p>
        </p:txBody>
      </p:sp>
      <p:sp>
        <p:nvSpPr>
          <p:cNvPr id="6" name="cover-map-card"/>
          <p:cNvSpPr/>
          <p:nvPr/>
        </p:nvSpPr>
        <p:spPr>
          <a:xfrm>
            <a:off x="551383" y="1554480"/>
            <a:ext cx="4370832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7" name="Fleet map" descr="Fleet 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111" y="1664208"/>
            <a:ext cx="4151376" cy="2428997"/>
          </a:xfrm>
          <a:prstGeom prst="rect">
            <a:avLst/>
          </a:prstGeom>
        </p:spPr>
      </p:pic>
      <p:sp>
        <p:nvSpPr>
          <p:cNvPr id="8" name="pill-الخريطة المباشرة · جهاز تتبع"/>
          <p:cNvSpPr txBox="1"/>
          <p:nvPr/>
        </p:nvSpPr>
        <p:spPr>
          <a:xfrm>
            <a:off x="2435047" y="43891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الخريطة المباشرة · جهاز تتبع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المحتويات</a:t>
            </a:r>
            <a:endParaRPr lang="en-US" sz="3200" dirty="0"/>
          </a:p>
        </p:txBody>
      </p:sp>
      <p:sp>
        <p:nvSpPr>
          <p:cNvPr id="3" name="contents-1"/>
          <p:cNvSpPr/>
          <p:nvPr/>
        </p:nvSpPr>
        <p:spPr>
          <a:xfrm>
            <a:off x="9037015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997135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311335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311335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أين يضيع وقت الأسطول وماله</a:t>
            </a:r>
            <a:endParaRPr lang="en-US" sz="1500" dirty="0"/>
          </a:p>
        </p:txBody>
      </p:sp>
      <p:sp>
        <p:nvSpPr>
          <p:cNvPr id="7" name="contents-2"/>
          <p:cNvSpPr/>
          <p:nvPr/>
        </p:nvSpPr>
        <p:spPr>
          <a:xfrm>
            <a:off x="6229807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89927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6504127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يقدمه فليتانا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4127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مساحة عمل واحدة لكل مركبة</a:t>
            </a:r>
            <a:endParaRPr lang="en-US" sz="1500" dirty="0"/>
          </a:p>
        </p:txBody>
      </p:sp>
      <p:sp>
        <p:nvSpPr>
          <p:cNvPr id="11" name="contents-3"/>
          <p:cNvSpPr/>
          <p:nvPr/>
        </p:nvSpPr>
        <p:spPr>
          <a:xfrm>
            <a:off x="3422599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382719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3696919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صُمّم للأساطيل السعودية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696919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الاستمارة، الفحص الدوري، الريال، العربية</a:t>
            </a:r>
            <a:endParaRPr lang="en-US" sz="1500" dirty="0"/>
          </a:p>
        </p:txBody>
      </p:sp>
      <p:sp>
        <p:nvSpPr>
          <p:cNvPr id="15" name="contents-4"/>
          <p:cNvSpPr/>
          <p:nvPr/>
        </p:nvSpPr>
        <p:spPr>
          <a:xfrm>
            <a:off x="615391" y="2148840"/>
            <a:ext cx="2606040" cy="27432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1575511" y="24231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889711" y="32461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العرض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" y="4114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خطة التطبيق والخطوات التالية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المشكلة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أساطيل تُدار بجداول البيانات والإيصالات والذاكرة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أسطولك يُدار</a:t>
            </a:r>
            <a:endParaRPr lang="en-US" sz="3200" dirty="0"/>
          </a:p>
          <a:p>
            <a:pPr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بالجداول والذاكرة</a:t>
            </a:r>
            <a:endParaRPr lang="en-US" sz="3200" dirty="0"/>
          </a:p>
        </p:txBody>
      </p:sp>
      <p:sp>
        <p:nvSpPr>
          <p:cNvPr id="3" name="problem-1"/>
          <p:cNvSpPr/>
          <p:nvPr/>
        </p:nvSpPr>
        <p:spPr>
          <a:xfrm>
            <a:off x="8122615" y="233172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lipboard"/>
          <p:cNvSpPr/>
          <p:nvPr/>
        </p:nvSpPr>
        <p:spPr>
          <a:xfrm>
            <a:off x="10756087" y="265176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9473" y="276514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42655" y="3429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جداول البيانات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442655" y="40233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45464D"/>
                </a:solidFill>
              </a:rPr>
              <a:t>مواعيد الصيانة واللوحات وتواريخ الاستمارة في ملفات لا تُحدَّث في وقتها.</a:t>
            </a:r>
            <a:endParaRPr lang="en-US" sz="1600" dirty="0"/>
          </a:p>
        </p:txBody>
      </p:sp>
      <p:sp>
        <p:nvSpPr>
          <p:cNvPr id="8" name="problem-2"/>
          <p:cNvSpPr/>
          <p:nvPr/>
        </p:nvSpPr>
        <p:spPr>
          <a:xfrm>
            <a:off x="4373575" y="233172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fuel"/>
          <p:cNvSpPr/>
          <p:nvPr/>
        </p:nvSpPr>
        <p:spPr>
          <a:xfrm>
            <a:off x="7007047" y="265176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0433" y="276514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93615" y="3429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الإيصالات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693615" y="40233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45464D"/>
                </a:solidFill>
              </a:rPr>
              <a:t>مصاريف الوقود والإصلاح في الأدراج والصور، فتمر التعبئة غير المعتادة دون انتباه.</a:t>
            </a:r>
            <a:endParaRPr lang="en-US" sz="1600" dirty="0"/>
          </a:p>
        </p:txBody>
      </p:sp>
      <p:sp>
        <p:nvSpPr>
          <p:cNvPr id="13" name="problem-3"/>
          <p:cNvSpPr/>
          <p:nvPr/>
        </p:nvSpPr>
        <p:spPr>
          <a:xfrm>
            <a:off x="624535" y="2331720"/>
            <a:ext cx="352044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bell"/>
          <p:cNvSpPr/>
          <p:nvPr/>
        </p:nvSpPr>
        <p:spPr>
          <a:xfrm>
            <a:off x="3258007" y="265176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bell" descr="/home/user/Claude/fleetana-launch/brand/assets/icons/icon-be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1393" y="276514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44575" y="34290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محادثات الواتساب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944575" y="402336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45464D"/>
                </a:solidFill>
              </a:rPr>
              <a:t>الفحوصات والأعطال والموافقات في المحادثات، ولا شيء مرتبط بالمركبة.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ما يقدمه فليتانا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مكان واحد لكل ما يتعلق بأسطولك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مساحة عمل واحدة</a:t>
            </a:r>
            <a:endParaRPr lang="en-US" sz="3200" dirty="0"/>
          </a:p>
          <a:p>
            <a:pPr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لكل مركبة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162495" y="224028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كل سجل وقود وصيانة وبلاغ وفحص وأمر عمل مرتبط بالمركبة نفسها</a:t>
            </a:r>
            <a:endParaRPr lang="en-US" sz="1700" dirty="0"/>
          </a:p>
          <a:p>
            <a:pPr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مواعيد الصيانة بالكيلومترات أو ساعات التشغيل أو التاريخ، أيّها أسبق</a:t>
            </a:r>
            <a:endParaRPr lang="en-US" sz="1700" dirty="0"/>
          </a:p>
          <a:p>
            <a:pPr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الاستمارة والتأمين والفحص الدوري تظهر قبل انتهائها بـ30 يومًا</a:t>
            </a:r>
            <a:endParaRPr lang="en-US" sz="1700" dirty="0"/>
          </a:p>
          <a:p>
            <a:pPr algn="r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العربية والإنجليزية، والريال مع ضريبة القيمة المضافة 15٪، والكيلومترات وساعات التشغيل</a:t>
            </a:r>
            <a:endParaRPr lang="en-US" sz="1700" dirty="0"/>
          </a:p>
        </p:txBody>
      </p:sp>
      <p:sp>
        <p:nvSpPr>
          <p:cNvPr id="4" name="product-vehicles"/>
          <p:cNvSpPr/>
          <p:nvPr/>
        </p:nvSpPr>
        <p:spPr>
          <a:xfrm>
            <a:off x="551383" y="2103120"/>
            <a:ext cx="6291072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5" name="Vehicle list screen" descr="Vehicle list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" y="2212848"/>
            <a:ext cx="6016752" cy="2880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كل ما يتعلق</a:t>
            </a:r>
            <a:endParaRPr lang="en-US" sz="3200" dirty="0"/>
          </a:p>
          <a:p>
            <a:pPr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بأسطولك</a:t>
            </a:r>
            <a:endParaRPr lang="en-US" sz="3200" dirty="0"/>
          </a:p>
        </p:txBody>
      </p:sp>
      <p:sp>
        <p:nvSpPr>
          <p:cNvPr id="3" name="feature-1"/>
          <p:cNvSpPr/>
          <p:nvPr/>
        </p:nvSpPr>
        <p:spPr>
          <a:xfrm>
            <a:off x="8122615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truck"/>
          <p:cNvSpPr/>
          <p:nvPr/>
        </p:nvSpPr>
        <p:spPr>
          <a:xfrm>
            <a:off x="10856671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9084" y="2479853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51215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المركبات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396935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اللوحات والسائقون والوثائق والحالة لكل مركبة.</a:t>
            </a:r>
            <a:endParaRPr lang="en-US" sz="1300" dirty="0"/>
          </a:p>
        </p:txBody>
      </p:sp>
      <p:sp>
        <p:nvSpPr>
          <p:cNvPr id="8" name="feature-2"/>
          <p:cNvSpPr/>
          <p:nvPr/>
        </p:nvSpPr>
        <p:spPr>
          <a:xfrm>
            <a:off x="4373575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wrench"/>
          <p:cNvSpPr/>
          <p:nvPr/>
        </p:nvSpPr>
        <p:spPr>
          <a:xfrm>
            <a:off x="7107631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044" y="2479853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02175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الصيانة والوقاية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647895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برامج بالكيلومترات أو الساعات أو التاريخ، مع المستحق والمتأخر بنظرة.</a:t>
            </a:r>
            <a:endParaRPr lang="en-US" sz="1300" dirty="0"/>
          </a:p>
        </p:txBody>
      </p:sp>
      <p:sp>
        <p:nvSpPr>
          <p:cNvPr id="13" name="feature-3"/>
          <p:cNvSpPr/>
          <p:nvPr/>
        </p:nvSpPr>
        <p:spPr>
          <a:xfrm>
            <a:off x="624535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fuel"/>
          <p:cNvSpPr/>
          <p:nvPr/>
        </p:nvSpPr>
        <p:spPr>
          <a:xfrm>
            <a:off x="3358591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1004" y="2479853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3135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الوقود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98855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كم/لتر لكل تعبئة كاملة، وتمييز ما يقل عن 70٪ من متوسط 30 يومًا.</a:t>
            </a:r>
            <a:endParaRPr lang="en-US" sz="1300" dirty="0"/>
          </a:p>
        </p:txBody>
      </p:sp>
      <p:sp>
        <p:nvSpPr>
          <p:cNvPr id="18" name="feature-4"/>
          <p:cNvSpPr/>
          <p:nvPr/>
        </p:nvSpPr>
        <p:spPr>
          <a:xfrm>
            <a:off x="8122615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clipboard"/>
          <p:cNvSpPr/>
          <p:nvPr/>
        </p:nvSpPr>
        <p:spPr>
          <a:xfrm>
            <a:off x="10856671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9084" y="4491533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51215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الفحوصات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396935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قوائم فحص مخصصة مع الصور، والبند الفاشل يفتح بلاغًا.</a:t>
            </a:r>
            <a:endParaRPr lang="en-US" sz="1300" dirty="0"/>
          </a:p>
        </p:txBody>
      </p:sp>
      <p:sp>
        <p:nvSpPr>
          <p:cNvPr id="23" name="feature-5"/>
          <p:cNvSpPr/>
          <p:nvPr/>
        </p:nvSpPr>
        <p:spPr>
          <a:xfrm>
            <a:off x="4373575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4" name="icon-bg-check"/>
          <p:cNvSpPr/>
          <p:nvPr/>
        </p:nvSpPr>
        <p:spPr>
          <a:xfrm>
            <a:off x="7107631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5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0044" y="4491533"/>
            <a:ext cx="307238" cy="30723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02175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أوامر العمل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647895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القطع والعمالة والرسوم، مع ضريبة 15٪ وخطوات الاعتماد.</a:t>
            </a:r>
            <a:endParaRPr lang="en-US" sz="1300" dirty="0"/>
          </a:p>
        </p:txBody>
      </p:sp>
      <p:sp>
        <p:nvSpPr>
          <p:cNvPr id="28" name="feature-6"/>
          <p:cNvSpPr/>
          <p:nvPr/>
        </p:nvSpPr>
        <p:spPr>
          <a:xfrm>
            <a:off x="624535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9" name="icon-bg-pin"/>
          <p:cNvSpPr/>
          <p:nvPr/>
        </p:nvSpPr>
        <p:spPr>
          <a:xfrm>
            <a:off x="3358591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30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1004" y="4491533"/>
            <a:ext cx="307238" cy="30723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3135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الخريطة المباشرة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98855" y="501091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تتحرك، خاملة، متوقفة، مع إعادة الرحلات وتقييم السائقين.</a:t>
            </a:r>
            <a:endParaRPr lang="en-US" sz="1300" dirty="0"/>
          </a:p>
        </p:txBody>
      </p:sp>
      <p:sp>
        <p:nvSpPr>
          <p:cNvPr id="33" name="pill-جهاز تتبع"/>
          <p:cNvSpPr txBox="1"/>
          <p:nvPr/>
        </p:nvSpPr>
        <p:spPr>
          <a:xfrm>
            <a:off x="853135" y="548640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جهاز تتبع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التعبئة غير المعتادة</a:t>
            </a:r>
            <a:endParaRPr lang="en-US" sz="3200" dirty="0"/>
          </a:p>
          <a:p>
            <a:pPr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تظهر بعلامة «منخفض»</a:t>
            </a:r>
            <a:endParaRPr lang="en-US" sz="3200" dirty="0"/>
          </a:p>
        </p:txBody>
      </p:sp>
      <p:sp>
        <p:nvSpPr>
          <p:cNvPr id="3" name="product-fuel"/>
          <p:cNvSpPr/>
          <p:nvPr/>
        </p:nvSpPr>
        <p:spPr>
          <a:xfrm>
            <a:off x="5150815" y="2057400"/>
            <a:ext cx="64922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Fuel economy chart" descr="Fuel economy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87975" y="2176272"/>
            <a:ext cx="6217920" cy="3836589"/>
          </a:xfrm>
          <a:prstGeom prst="rect">
            <a:avLst/>
          </a:prstGeom>
        </p:spPr>
      </p:pic>
      <p:sp>
        <p:nvSpPr>
          <p:cNvPr id="5" name="proof-num-1"/>
          <p:cNvSpPr txBox="1"/>
          <p:nvPr/>
        </p:nvSpPr>
        <p:spPr>
          <a:xfrm>
            <a:off x="4282135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33095" y="213055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معدل لكل تعبئة كاملة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33095" y="25603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المسافة منذ التعبئة الكاملة السابقة ÷ الوقود المضاف، مع قراءة العداد.</a:t>
            </a:r>
            <a:endParaRPr lang="en-US" sz="1300" dirty="0"/>
          </a:p>
        </p:txBody>
      </p:sp>
      <p:sp>
        <p:nvSpPr>
          <p:cNvPr id="8" name="proof-num-2"/>
          <p:cNvSpPr txBox="1"/>
          <p:nvPr/>
        </p:nvSpPr>
        <p:spPr>
          <a:xfrm>
            <a:off x="4282135" y="3447288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33095" y="34290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بمتوسط المركبة نفسها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33095" y="38587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كل مركبة مقابل متوسطها خلال 30 يومًا، لا مقابل الأسطول.</a:t>
            </a:r>
            <a:endParaRPr lang="en-US" sz="1300" dirty="0"/>
          </a:p>
        </p:txBody>
      </p:sp>
      <p:sp>
        <p:nvSpPr>
          <p:cNvPr id="11" name="proof-num-3"/>
          <p:cNvSpPr txBox="1"/>
          <p:nvPr/>
        </p:nvSpPr>
        <p:spPr>
          <a:xfrm>
            <a:off x="4282135" y="4745736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33095" y="47274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أقل من 70٪؟ «منخفض»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3095" y="5157216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يستحق التحقق من وجود عطل في المركبة أو خطأ في التسجيل.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قواعد يمكنك التحقق منها،</a:t>
            </a:r>
            <a:endParaRPr lang="en-US" sz="3200" dirty="0"/>
          </a:p>
          <a:p>
            <a:pPr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لا وعود</a:t>
            </a:r>
            <a:endParaRPr lang="en-US" sz="3200" dirty="0"/>
          </a:p>
        </p:txBody>
      </p:sp>
      <p:sp>
        <p:nvSpPr>
          <p:cNvPr id="3" name="stat-1"/>
          <p:cNvSpPr/>
          <p:nvPr/>
        </p:nvSpPr>
        <p:spPr>
          <a:xfrm>
            <a:off x="9037015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219895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70٪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9311335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تمييز الوقود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311335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التعبئة الكاملة الأقل من 70٪ من متوسط المركبة خلال 30 يومًا تظهر «منخفض».</a:t>
            </a:r>
            <a:endParaRPr lang="en-US" sz="1250" dirty="0"/>
          </a:p>
        </p:txBody>
      </p:sp>
      <p:sp>
        <p:nvSpPr>
          <p:cNvPr id="7" name="stat-2"/>
          <p:cNvSpPr/>
          <p:nvPr/>
        </p:nvSpPr>
        <p:spPr>
          <a:xfrm>
            <a:off x="6229807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12687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6504127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يومًا مسبقًا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04127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الاستمارة والتأمين والفحص الدوري التي تنتهي خلال 30 يومًا تظهر في الرئيسية.</a:t>
            </a:r>
            <a:endParaRPr lang="en-US" sz="1250" dirty="0"/>
          </a:p>
        </p:txBody>
      </p:sp>
      <p:sp>
        <p:nvSpPr>
          <p:cNvPr id="11" name="stat-3"/>
          <p:cNvSpPr/>
          <p:nvPr/>
        </p:nvSpPr>
        <p:spPr>
          <a:xfrm>
            <a:off x="3422599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05479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15٪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3696919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الضريبة مدمجة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96919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أوامر العمل والتكاليف بالريال، مع إضافة الضريبة أو فصلها.</a:t>
            </a:r>
            <a:endParaRPr lang="en-US" sz="1250" dirty="0"/>
          </a:p>
        </p:txBody>
      </p:sp>
      <p:sp>
        <p:nvSpPr>
          <p:cNvPr id="15" name="stat-4"/>
          <p:cNvSpPr/>
          <p:nvPr/>
        </p:nvSpPr>
        <p:spPr>
          <a:xfrm>
            <a:off x="615391" y="2194560"/>
            <a:ext cx="2606040" cy="34290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98271" y="24688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4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3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889711" y="356616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طرق للاستحقاق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" y="42519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الكيلومترات أو ساعات التشغيل أو التاريخ، أيّها أسبق.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064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كل رقم هنا قاعدة في المنتج، وليس نتيجة عميل.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كيف</a:t>
            </a:r>
            <a:endParaRPr lang="en-US" sz="3200" dirty="0"/>
          </a:p>
          <a:p>
            <a:pPr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يعمل</a:t>
            </a:r>
            <a:endParaRPr lang="en-US" sz="3200" dirty="0"/>
          </a:p>
        </p:txBody>
      </p:sp>
      <p:sp>
        <p:nvSpPr>
          <p:cNvPr id="3" name="step-1"/>
          <p:cNvSpPr/>
          <p:nvPr/>
        </p:nvSpPr>
        <p:spPr>
          <a:xfrm>
            <a:off x="8122615" y="22860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amera"/>
          <p:cNvSpPr/>
          <p:nvPr/>
        </p:nvSpPr>
        <p:spPr>
          <a:xfrm>
            <a:off x="10756087" y="26060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amera" descr="/home/user/Claude/fleetana-launch/brand/assets/icons/icon-came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9473" y="271942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42655" y="33832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01  التسجيل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442655" y="3931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يسجّل السائقون والمشغّلون الوقود ويجرون الفحوصات ويبلّغون عن المشكلات من أي جهاز.</a:t>
            </a:r>
            <a:endParaRPr lang="en-US" sz="1500" dirty="0"/>
          </a:p>
        </p:txBody>
      </p:sp>
      <p:pic>
        <p:nvPicPr>
          <p:cNvPr id="8" name="arrow-1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7903159" y="3776472"/>
            <a:ext cx="201168" cy="201168"/>
          </a:xfrm>
          <a:prstGeom prst="rect">
            <a:avLst/>
          </a:prstGeom>
        </p:spPr>
      </p:pic>
      <p:sp>
        <p:nvSpPr>
          <p:cNvPr id="9" name="step-2"/>
          <p:cNvSpPr/>
          <p:nvPr/>
        </p:nvSpPr>
        <p:spPr>
          <a:xfrm>
            <a:off x="4373575" y="22860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0" name="icon-bg-box"/>
          <p:cNvSpPr/>
          <p:nvPr/>
        </p:nvSpPr>
        <p:spPr>
          <a:xfrm>
            <a:off x="7007047" y="26060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1" name="icon-box" descr="/home/user/Claude/fleetana-launch/brand/assets/icons/icon-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0433" y="2719426"/>
            <a:ext cx="340157" cy="34015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93615" y="33832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  التنظيم</a:t>
            </a:r>
            <a:endParaRPr lang="en-US" sz="2100" dirty="0"/>
          </a:p>
        </p:txBody>
      </p:sp>
      <p:sp>
        <p:nvSpPr>
          <p:cNvPr id="13" name="Text 8"/>
          <p:cNvSpPr txBox="1"/>
          <p:nvPr/>
        </p:nvSpPr>
        <p:spPr>
          <a:xfrm>
            <a:off x="4693615" y="3931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كل شيء يرتبط بالمركبة الصحيحة، والتذكيرات تُحسب من برامج الصيانة لديك.</a:t>
            </a:r>
            <a:endParaRPr lang="en-US" sz="1500" dirty="0"/>
          </a:p>
        </p:txBody>
      </p:sp>
      <p:pic>
        <p:nvPicPr>
          <p:cNvPr id="14" name="arrow-2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4154119" y="3776472"/>
            <a:ext cx="201168" cy="201168"/>
          </a:xfrm>
          <a:prstGeom prst="rect">
            <a:avLst/>
          </a:prstGeom>
        </p:spPr>
      </p:pic>
      <p:sp>
        <p:nvSpPr>
          <p:cNvPr id="15" name="step-3"/>
          <p:cNvSpPr/>
          <p:nvPr/>
        </p:nvSpPr>
        <p:spPr>
          <a:xfrm>
            <a:off x="624535" y="228600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icon-bg-chart"/>
          <p:cNvSpPr/>
          <p:nvPr/>
        </p:nvSpPr>
        <p:spPr>
          <a:xfrm>
            <a:off x="3258007" y="26060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7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1393" y="2719426"/>
            <a:ext cx="340157" cy="340157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944575" y="33832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  القرار</a:t>
            </a:r>
            <a:endParaRPr lang="en-US" sz="2100" dirty="0"/>
          </a:p>
        </p:txBody>
      </p:sp>
      <p:sp>
        <p:nvSpPr>
          <p:cNvPr id="19" name="Text 12"/>
          <p:cNvSpPr txBox="1"/>
          <p:nvPr/>
        </p:nvSpPr>
        <p:spPr>
          <a:xfrm>
            <a:off x="944575" y="3931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45464D"/>
                </a:solidFill>
              </a:rPr>
              <a:t>افتح الرئيسية أو صفحة المركبة لترى المستحق والمتأخر وما سينتهي قريبًا.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صُمّم</a:t>
            </a:r>
            <a:endParaRPr lang="en-US" sz="3200" dirty="0"/>
          </a:p>
          <a:p>
            <a:pPr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للأساطيل السعودية</a:t>
            </a:r>
            <a:endParaRPr lang="en-US" sz="3200" dirty="0"/>
          </a:p>
        </p:txBody>
      </p:sp>
      <p:sp>
        <p:nvSpPr>
          <p:cNvPr id="3" name="chip-1"/>
          <p:cNvSpPr txBox="1"/>
          <p:nvPr/>
        </p:nvSpPr>
        <p:spPr>
          <a:xfrm>
            <a:off x="9128455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الاستمارة</a:t>
            </a:r>
            <a:endParaRPr lang="en-US" sz="1500" dirty="0"/>
          </a:p>
        </p:txBody>
      </p:sp>
      <p:sp>
        <p:nvSpPr>
          <p:cNvPr id="4" name="chip-2"/>
          <p:cNvSpPr txBox="1"/>
          <p:nvPr/>
        </p:nvSpPr>
        <p:spPr>
          <a:xfrm>
            <a:off x="6430975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الفحص الدوري</a:t>
            </a:r>
            <a:endParaRPr lang="en-US" sz="1500" dirty="0"/>
          </a:p>
        </p:txBody>
      </p:sp>
      <p:sp>
        <p:nvSpPr>
          <p:cNvPr id="5" name="chip-3"/>
          <p:cNvSpPr txBox="1"/>
          <p:nvPr/>
        </p:nvSpPr>
        <p:spPr>
          <a:xfrm>
            <a:off x="3733495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التأمين</a:t>
            </a:r>
            <a:endParaRPr lang="en-US" sz="1500" dirty="0"/>
          </a:p>
        </p:txBody>
      </p:sp>
      <p:sp>
        <p:nvSpPr>
          <p:cNvPr id="6" name="chip-4"/>
          <p:cNvSpPr txBox="1"/>
          <p:nvPr/>
        </p:nvSpPr>
        <p:spPr>
          <a:xfrm>
            <a:off x="9128455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الريال وضريبة 15٪</a:t>
            </a:r>
            <a:endParaRPr lang="en-US" sz="1500" dirty="0"/>
          </a:p>
        </p:txBody>
      </p:sp>
      <p:sp>
        <p:nvSpPr>
          <p:cNvPr id="7" name="chip-5"/>
          <p:cNvSpPr txBox="1"/>
          <p:nvPr/>
        </p:nvSpPr>
        <p:spPr>
          <a:xfrm>
            <a:off x="6430975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كم وساعات التشغيل</a:t>
            </a:r>
            <a:endParaRPr lang="en-US" sz="1500" dirty="0"/>
          </a:p>
        </p:txBody>
      </p:sp>
      <p:sp>
        <p:nvSpPr>
          <p:cNvPr id="8" name="chip-6"/>
          <p:cNvSpPr txBox="1"/>
          <p:nvPr/>
        </p:nvSpPr>
        <p:spPr>
          <a:xfrm>
            <a:off x="3733495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العربية · English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79215" y="36576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للأساطيل من 10 إلى 50 مركبة</a:t>
            </a:r>
            <a:endParaRPr lang="en-US" sz="1800" dirty="0"/>
          </a:p>
        </p:txBody>
      </p:sp>
      <p:sp>
        <p:nvSpPr>
          <p:cNvPr id="10" name="icon-bg-truck"/>
          <p:cNvSpPr/>
          <p:nvPr/>
        </p:nvSpPr>
        <p:spPr>
          <a:xfrm>
            <a:off x="11140135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1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0719" y="4306824"/>
            <a:ext cx="301752" cy="30175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756855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التوصيل والشحن</a:t>
            </a:r>
            <a:endParaRPr lang="en-US" sz="1500" dirty="0"/>
          </a:p>
        </p:txBody>
      </p:sp>
      <p:sp>
        <p:nvSpPr>
          <p:cNvPr id="13" name="icon-bg-wrench"/>
          <p:cNvSpPr/>
          <p:nvPr/>
        </p:nvSpPr>
        <p:spPr>
          <a:xfrm>
            <a:off x="7162495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4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3079" y="4306824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779215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البناء والمعدات الثقيلة</a:t>
            </a:r>
            <a:endParaRPr lang="en-US" sz="1500" dirty="0"/>
          </a:p>
        </p:txBody>
      </p:sp>
      <p:sp>
        <p:nvSpPr>
          <p:cNvPr id="16" name="icon-bg-box"/>
          <p:cNvSpPr/>
          <p:nvPr/>
        </p:nvSpPr>
        <p:spPr>
          <a:xfrm>
            <a:off x="11140135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7" name="icon-box" descr="/home/user/Claude/fleetana-launch/brand/assets/icons/icon-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0719" y="508406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756855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التوزيع والتجزئة</a:t>
            </a:r>
            <a:endParaRPr lang="en-US" sz="1500" dirty="0"/>
          </a:p>
        </p:txBody>
      </p:sp>
      <p:sp>
        <p:nvSpPr>
          <p:cNvPr id="19" name="icon-bg-users"/>
          <p:cNvSpPr/>
          <p:nvPr/>
        </p:nvSpPr>
        <p:spPr>
          <a:xfrm>
            <a:off x="7162495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3079" y="508406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779215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نقل الركاب والنقل المدرسي</a:t>
            </a:r>
            <a:endParaRPr lang="en-US" sz="1500" dirty="0"/>
          </a:p>
        </p:txBody>
      </p:sp>
      <p:sp>
        <p:nvSpPr>
          <p:cNvPr id="22" name="papers-card"/>
          <p:cNvSpPr/>
          <p:nvPr/>
        </p:nvSpPr>
        <p:spPr>
          <a:xfrm>
            <a:off x="551383" y="2148840"/>
            <a:ext cx="2724912" cy="3566160"/>
          </a:xfrm>
          <a:prstGeom prst="roundRect">
            <a:avLst>
              <a:gd name="adj" fmla="val 402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3" name="Document expiry cards" descr="Document expiry car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" y="2377440"/>
            <a:ext cx="2542032" cy="137918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15975" y="39776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تواريخ الانتهاء محفوظة في سجل كل مركبة، والرئيسية تعرض ما ينتهي خلال 30 يومًا.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985455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2499055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العرض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3413455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كيف نطبّق فليتانا لديكم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خطة</a:t>
            </a:r>
            <a:endParaRPr lang="en-US" sz="3200" dirty="0"/>
          </a:p>
          <a:p>
            <a:pPr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التطبيق</a:t>
            </a:r>
            <a:endParaRPr lang="en-US" sz="3200" dirty="0"/>
          </a:p>
        </p:txBody>
      </p:sp>
      <p:graphicFrame>
        <p:nvGraphicFramePr>
          <p:cNvPr id="14" name="rollou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  <a:gridCol w="2011680"/>
                <a:gridCol w="1581912"/>
              </a:tblGrid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المرحلة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ما يحدث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المسؤول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الأسبوع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الإعداد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إضافة المركبات والسائقين والوثائق وأعضاء الفريق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فريقكم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برامج الصيانة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اختيار مهام الصيانة وفتراتها من المجموعة الافتراضية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معًا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1–2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الاستخدام اليومي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تسجيل الوقود وإجراء الفحوصات وفتح البلاغات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سائقوكم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2–4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المراجعة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مراجعة المستحق والمتأخر وما سينتهي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معًا</a:t>
                      </a:r>
                      <a:endParaRPr lang="en-US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</a:t>
                      </a:r>
                      <a:endParaRPr lang="en-US" sz="13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خطة نموذجية. عدّل المراحل والمسؤولين والأسابيع حسب الجهة.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atement-card"/>
          <p:cNvSpPr/>
          <p:nvPr/>
        </p:nvSpPr>
        <p:spPr>
          <a:xfrm>
            <a:off x="548640" y="1783080"/>
            <a:ext cx="11094415" cy="3566160"/>
          </a:xfrm>
          <a:prstGeom prst="roundRect">
            <a:avLst>
              <a:gd name="adj" fmla="val 3077"/>
            </a:avLst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88720" y="2240280"/>
            <a:ext cx="981425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سجّل قراءة العداد،</a:t>
            </a:r>
            <a:endParaRPr lang="en-US" sz="4800" dirty="0"/>
          </a:p>
          <a:p>
            <a:pPr algn="r" indent="0" marL="0">
              <a:buNone/>
            </a:pPr>
            <a:r>
              <a:rPr lang="en-US" sz="4800" b="1" dirty="0">
                <a:solidFill>
                  <a:srgbClr val="0051D5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والباقي علينا.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4343400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1E3A8A"/>
                </a:solidFill>
              </a:rPr>
              <a:t>فليتانا يتولى الحساب والتذكّر، وفريقك يتولى القيادة.</a:t>
            </a:r>
            <a:endParaRPr lang="en-US" sz="17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الخطوات</a:t>
            </a:r>
            <a:endParaRPr lang="en-US" sz="3200" dirty="0"/>
          </a:p>
          <a:p>
            <a:pPr algn="r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التالية</a:t>
            </a:r>
            <a:endParaRPr lang="en-US" sz="3200" dirty="0"/>
          </a:p>
        </p:txBody>
      </p:sp>
      <p:sp>
        <p:nvSpPr>
          <p:cNvPr id="3" name="next-num-1"/>
          <p:cNvSpPr txBox="1"/>
          <p:nvPr/>
        </p:nvSpPr>
        <p:spPr>
          <a:xfrm>
            <a:off x="11094415" y="2148840"/>
            <a:ext cx="548640" cy="548640"/>
          </a:xfrm>
          <a:prstGeom prst="ellipse">
            <a:avLst/>
          </a:prstGeom>
          <a:solidFill>
            <a:srgbClr val="2A89FA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013655" y="21122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الاتفاق على النطاق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013655" y="253288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المركبات والمواقع والأشخاص الذين سيستخدمون فليتانا.</a:t>
            </a:r>
            <a:endParaRPr lang="en-US" sz="1400" dirty="0"/>
          </a:p>
        </p:txBody>
      </p:sp>
      <p:sp>
        <p:nvSpPr>
          <p:cNvPr id="6" name="next-num-2"/>
          <p:cNvSpPr txBox="1"/>
          <p:nvPr/>
        </p:nvSpPr>
        <p:spPr>
          <a:xfrm>
            <a:off x="11094415" y="3291840"/>
            <a:ext cx="548640" cy="548640"/>
          </a:xfrm>
          <a:prstGeom prst="ellipse">
            <a:avLst/>
          </a:prstGeom>
          <a:solidFill>
            <a:srgbClr val="2A89FA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013655" y="32552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إعداد مساحة العمل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013655" y="367588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إضافة المركبات والسائقين وتواريخ الوثائق في الأسبوع الأول.</a:t>
            </a:r>
            <a:endParaRPr lang="en-US" sz="1400" dirty="0"/>
          </a:p>
        </p:txBody>
      </p:sp>
      <p:sp>
        <p:nvSpPr>
          <p:cNvPr id="9" name="next-num-3"/>
          <p:cNvSpPr txBox="1"/>
          <p:nvPr/>
        </p:nvSpPr>
        <p:spPr>
          <a:xfrm>
            <a:off x="11094415" y="4434840"/>
            <a:ext cx="548640" cy="548640"/>
          </a:xfrm>
          <a:prstGeom prst="ellipse">
            <a:avLst/>
          </a:prstGeom>
          <a:solidFill>
            <a:srgbClr val="2A89FA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013655" y="43982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المراجعة معًا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013655" y="481888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بعد أربعة أسابيع، نراجع المستحق والمتأخر وما سينتهي.</a:t>
            </a:r>
            <a:endParaRPr lang="en-US" sz="1400" dirty="0"/>
          </a:p>
        </p:txBody>
      </p:sp>
      <p:sp>
        <p:nvSpPr>
          <p:cNvPr id="12" name="contact-card"/>
          <p:cNvSpPr/>
          <p:nvPr/>
        </p:nvSpPr>
        <p:spPr>
          <a:xfrm>
            <a:off x="551383" y="2103120"/>
            <a:ext cx="377647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07415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051D5"/>
                </a:solidFill>
              </a:rPr>
              <a:t>التواصل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07415" y="28346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000000"/>
                </a:solidFill>
              </a:rPr>
              <a:t>الاسم الكامل</a:t>
            </a:r>
            <a:endParaRPr lang="en-US" sz="20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5464D"/>
                </a:solidFill>
              </a:rPr>
              <a:t>المسمى الوظيفي، فليتانا</a:t>
            </a:r>
            <a:endParaRPr lang="en-US" sz="20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5464D"/>
                </a:solidFill>
              </a:rPr>
              <a:t>name@fleetana.sa</a:t>
            </a:r>
            <a:endParaRPr lang="en-US" sz="20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5464D"/>
                </a:solidFill>
              </a:rPr>
              <a:t>+966 5X XXX XXXX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07415" y="47548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51D5"/>
                </a:solidFill>
              </a:rPr>
              <a:t>fleetana.sa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أخرج أسطولك من جداول البيانات.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1D5"/>
                </a:solidFill>
              </a:rPr>
              <a:t>fleetana.sa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eetana">
  <a:themeElements>
    <a:clrScheme name="Fleetana">
      <a:dk1>
        <a:srgbClr val="0F172A"/>
      </a:dk1>
      <a:lt1>
        <a:srgbClr val="FFFFFF"/>
      </a:lt1>
      <a:dk2>
        <a:srgbClr val="000000"/>
      </a:dk2>
      <a:lt2>
        <a:srgbClr val="F7F9FB"/>
      </a:lt2>
      <a:accent1>
        <a:srgbClr val="2A89FA"/>
      </a:accent1>
      <a:accent2>
        <a:srgbClr val="0051D5"/>
      </a:accent2>
      <a:accent3>
        <a:srgbClr val="16A34A"/>
      </a:accent3>
      <a:accent4>
        <a:srgbClr val="D97706"/>
      </a:accent4>
      <a:accent5>
        <a:srgbClr val="EF4444"/>
      </a:accent5>
      <a:accent6>
        <a:srgbClr val="1E3A8A"/>
      </a:accent6>
      <a:hlink>
        <a:srgbClr val="0051D5"/>
      </a:hlink>
      <a:folHlink>
        <a:srgbClr val="1E3A8A"/>
      </a:folHlink>
    </a:clrScheme>
    <a:fontScheme name="Fleetana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Fleetana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فليتانا — الملف التعريفي</dc:title>
  <dc:subject>PptxGenJS Presentation</dc:subject>
  <dc:creator>Fleetana</dc:creator>
  <cp:lastModifiedBy>Fleetana</cp:lastModifiedBy>
  <cp:revision>1</cp:revision>
  <dcterms:created xsi:type="dcterms:W3CDTF">2026-10-23T13:41:21Z</dcterms:created>
  <dcterms:modified xsi:type="dcterms:W3CDTF">2026-10-23T13:41:21Z</dcterms:modified>
</cp:coreProperties>
</file>