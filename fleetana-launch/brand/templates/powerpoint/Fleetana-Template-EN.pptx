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7c993b5-f2e7-a73d-c38d-ae7840cc65e0}">
          <p14:sldIdLst>
            <p14:sldId id="256"/>
            <p14:sldId id="257"/>
          </p14:sldIdLst>
        </p14:section>
        <p14:section name="The problem" id="{2f07044c-8253-9bf5-1727-51e15b03438c}">
          <p14:sldIdLst>
            <p14:sldId id="258"/>
            <p14:sldId id="259"/>
          </p14:sldIdLst>
        </p14:section>
        <p14:section name="What Fleetana does" id="{0f1889f8-d4e8-a317-ef05-be04ccda4c8c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Proposal" id="{bb85733c-825b-4472-1c7d-4e336aeeb7b8}">
          <p14:sldIdLst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layout. Eyebrow = document type (company profile, pitch, proposal). Title in two lines: statement in black, payoff in Accent Blue.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only layout with four cards. Keep each item to a short title and one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 layout. Number, title and one supporting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cards with icons. One problem per card, in the customer's words. No invented statistics.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 left, product screen right. Product screens are our illustrations; demo data must look like demo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feature cards. GPS-dependent features carry the 'GPS tracker' tag.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product screen with three numbered points that explain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 callouts. Only use numbers that are product rules or proven data, and say which.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Three-step process with icons.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Chips, audience list and a supporting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layout for proposals. Use the house table: Tint header, hairline rules, Paper banding.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statement on a Tint card. Use once per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Numbered next steps with a contact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layout. Logo, the line, the URL.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Cover-image-2.jpe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Section-divider-image-2.jpe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image" Target="../media/Closing-image-2.jpe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fleetana-launch/brand/assets/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2792029" cy="3840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200" kern="0" dirty="0">
                <a:solidFill>
                  <a:srgbClr val="0051D5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377440"/>
            <a:ext cx="63093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4800" b="1" dirty="0">
                <a:solidFill>
                  <a:srgbClr val="000000"/>
                </a:solidFill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en-US" sz="4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480560"/>
            <a:ext cx="63093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45464D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548640" y="5989320"/>
            <a:ext cx="841248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64748B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fleetana-launch/brand/assets/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728399" cy="23774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828800"/>
            <a:ext cx="3657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0" b="1" dirty="0">
                <a:solidFill>
                  <a:srgbClr val="2A89F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defRPr>
            </a:lvl1pPr>
          </a:lstStyle>
          <a:p>
            <a:pPr algn="l" indent="0" marL="0">
              <a:buNone/>
            </a:pPr>
            <a:endParaRPr lang="en-US" sz="80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3154680"/>
            <a:ext cx="91440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000000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52628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1E3A8A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6" name="Text 0"/>
          <p:cNvSpPr/>
          <p:nvPr/>
        </p:nvSpPr>
        <p:spPr>
          <a:xfrm>
            <a:off x="548640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fleetana.sa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fleetana-launch/brand/assets/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728399" cy="23774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000000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fleetana.sa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fleetana-launch/brand/assets/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728399" cy="23774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000000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057400"/>
            <a:ext cx="11094415" cy="3931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800"/>
              </a:spcAft>
              <a:buNone/>
              <a:defRPr lang="en-US" sz="1800" dirty="0">
                <a:solidFill>
                  <a:srgbClr val="0F172A"/>
                </a:solidFill>
              </a:defRPr>
            </a:lvl1pPr>
          </a:lstStyle>
          <a:p>
            <a:pPr algn="l" indent="0" marL="0">
              <a:spcAft>
                <a:spcPts val="800"/>
              </a:spcAft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fleetana.sa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fleetana-launch/brand/assets/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2728" y="1691640"/>
            <a:ext cx="4206240" cy="578575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97280" y="2743200"/>
            <a:ext cx="999713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000" b="1" dirty="0">
                <a:solidFill>
                  <a:srgbClr val="000000"/>
                </a:solidFill>
              </a:defRPr>
            </a:lvl1pPr>
          </a:lstStyle>
          <a:p>
            <a:pPr algn="ctr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097280" y="3703320"/>
            <a:ext cx="999713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000" dirty="0">
                <a:solidFill>
                  <a:srgbClr val="0051D5"/>
                </a:solidFill>
              </a:defRPr>
            </a:lvl1pPr>
          </a:lstStyle>
          <a:p>
            <a:pPr algn="ctr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2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0051D5"/>
                </a:solidFill>
              </a:rPr>
              <a:t>COMPANY PROFILE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377440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000000"/>
                </a:solidFill>
              </a:rPr>
              <a:t>Get your fleet</a:t>
            </a:r>
            <a:endParaRPr lang="en-US" sz="48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0051D5"/>
                </a:solidFill>
              </a:rPr>
              <a:t>off spreadsheets</a:t>
            </a:r>
            <a:endParaRPr lang="en-US" sz="4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4805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45464D"/>
                </a:solidFill>
              </a:rPr>
              <a:t>Fleet management built for Saudi fleets</a:t>
            </a:r>
            <a:endParaRPr lang="en-US" sz="2000" dirty="0"/>
          </a:p>
        </p:txBody>
      </p:sp>
      <p:sp>
        <p:nvSpPr>
          <p:cNvPr id="5" name="Text 0"/>
          <p:cNvSpPr/>
          <p:nvPr>
            <p:ph idx="104" type="body" hasCustomPrompt="1"/>
          </p:nvPr>
        </p:nvSpPr>
        <p:spPr>
          <a:xfrm>
            <a:off x="548640" y="59893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Company name · DD/MM/YYYY · fleetana.sa</a:t>
            </a:r>
            <a:endParaRPr lang="en-US" sz="1200" dirty="0"/>
          </a:p>
        </p:txBody>
      </p:sp>
      <p:sp>
        <p:nvSpPr>
          <p:cNvPr id="6" name="cover-map-card"/>
          <p:cNvSpPr/>
          <p:nvPr/>
        </p:nvSpPr>
        <p:spPr>
          <a:xfrm>
            <a:off x="7269480" y="1554480"/>
            <a:ext cx="4370832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pic>
        <p:nvPicPr>
          <p:cNvPr id="7" name="Fleet map" descr="Fleet m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9208" y="1664208"/>
            <a:ext cx="4151376" cy="2428997"/>
          </a:xfrm>
          <a:prstGeom prst="rect">
            <a:avLst/>
          </a:prstGeom>
        </p:spPr>
      </p:pic>
      <p:sp>
        <p:nvSpPr>
          <p:cNvPr id="8" name="pill-Live map · GPS tracker"/>
          <p:cNvSpPr txBox="1"/>
          <p:nvPr/>
        </p:nvSpPr>
        <p:spPr>
          <a:xfrm>
            <a:off x="7379208" y="438912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5F1F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Live map · GPS tracker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Contents</a:t>
            </a:r>
            <a:endParaRPr lang="en-US" sz="3200" dirty="0"/>
          </a:p>
        </p:txBody>
      </p:sp>
      <p:sp>
        <p:nvSpPr>
          <p:cNvPr id="3" name="contents-1"/>
          <p:cNvSpPr/>
          <p:nvPr/>
        </p:nvSpPr>
        <p:spPr>
          <a:xfrm>
            <a:off x="548640" y="21488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24231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A89F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148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5464D"/>
                </a:solidFill>
              </a:rPr>
              <a:t>Where fleet time and money slip away</a:t>
            </a:r>
            <a:endParaRPr lang="en-US" sz="1500" dirty="0"/>
          </a:p>
        </p:txBody>
      </p:sp>
      <p:sp>
        <p:nvSpPr>
          <p:cNvPr id="7" name="contents-2"/>
          <p:cNvSpPr/>
          <p:nvPr/>
        </p:nvSpPr>
        <p:spPr>
          <a:xfrm>
            <a:off x="3355848" y="21488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30168" y="24231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A89F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02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3630168" y="32461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Fleetana does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630168" y="41148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5464D"/>
                </a:solidFill>
              </a:rPr>
              <a:t>One workspace for every vehicle</a:t>
            </a:r>
            <a:endParaRPr lang="en-US" sz="1500" dirty="0"/>
          </a:p>
        </p:txBody>
      </p:sp>
      <p:sp>
        <p:nvSpPr>
          <p:cNvPr id="11" name="contents-3"/>
          <p:cNvSpPr/>
          <p:nvPr/>
        </p:nvSpPr>
        <p:spPr>
          <a:xfrm>
            <a:off x="6163056" y="21488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37376" y="24231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A89F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437376" y="32461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Built for Saudi fleets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37376" y="41148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5464D"/>
                </a:solidFill>
              </a:rPr>
              <a:t>Istimara, Fahes, SAR, Arabic</a:t>
            </a:r>
            <a:endParaRPr lang="en-US" sz="1500" dirty="0"/>
          </a:p>
        </p:txBody>
      </p:sp>
      <p:sp>
        <p:nvSpPr>
          <p:cNvPr id="15" name="contents-4"/>
          <p:cNvSpPr/>
          <p:nvPr/>
        </p:nvSpPr>
        <p:spPr>
          <a:xfrm>
            <a:off x="8970264" y="21488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244584" y="24231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A89F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04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9244584" y="32461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Proposal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244584" y="41148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5464D"/>
                </a:solidFill>
              </a:rPr>
              <a:t>Rollout and next steps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2A89F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315468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The problem</a:t>
            </a:r>
            <a:endParaRPr lang="en-US" sz="44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526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E3A8A"/>
                </a:solidFill>
              </a:rPr>
              <a:t>Fleets run on spreadsheets, receipts and memory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Your fleet runs on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spreadsheets and memory</a:t>
            </a:r>
            <a:endParaRPr lang="en-US" sz="3200" dirty="0"/>
          </a:p>
        </p:txBody>
      </p:sp>
      <p:sp>
        <p:nvSpPr>
          <p:cNvPr id="3" name="problem-1"/>
          <p:cNvSpPr/>
          <p:nvPr/>
        </p:nvSpPr>
        <p:spPr>
          <a:xfrm>
            <a:off x="548640" y="2331720"/>
            <a:ext cx="3520440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4" name="icon-bg-clipboard"/>
          <p:cNvSpPr/>
          <p:nvPr/>
        </p:nvSpPr>
        <p:spPr>
          <a:xfrm>
            <a:off x="868680" y="2651760"/>
            <a:ext cx="566928" cy="566928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5" name="icon-clipboard" descr="/home/user/Claude/fleetana-launch/brand/assets/icons/icon-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066" y="2765146"/>
            <a:ext cx="340157" cy="34015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34290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Spreadsheets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402336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45464D"/>
                </a:solidFill>
              </a:rPr>
              <a:t>Service dates, plates and Istimara expiries live in files nobody updates on time.</a:t>
            </a:r>
            <a:endParaRPr lang="en-US" sz="1600" dirty="0"/>
          </a:p>
        </p:txBody>
      </p:sp>
      <p:sp>
        <p:nvSpPr>
          <p:cNvPr id="8" name="problem-2"/>
          <p:cNvSpPr/>
          <p:nvPr/>
        </p:nvSpPr>
        <p:spPr>
          <a:xfrm>
            <a:off x="4297680" y="2331720"/>
            <a:ext cx="3520440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9" name="icon-bg-fuel"/>
          <p:cNvSpPr/>
          <p:nvPr/>
        </p:nvSpPr>
        <p:spPr>
          <a:xfrm>
            <a:off x="4617720" y="2651760"/>
            <a:ext cx="566928" cy="566928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10" name="icon-fuel" descr="/home/user/Claude/fleetana-launch/brand/assets/icons/icon-fu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106" y="2765146"/>
            <a:ext cx="340157" cy="34015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7720" y="34290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Receipts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4617720" y="402336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45464D"/>
                </a:solidFill>
              </a:rPr>
              <a:t>Fuel and repair spend sits in drawers and photos, so odd fill-ups go unnoticed.</a:t>
            </a:r>
            <a:endParaRPr lang="en-US" sz="1600" dirty="0"/>
          </a:p>
        </p:txBody>
      </p:sp>
      <p:sp>
        <p:nvSpPr>
          <p:cNvPr id="13" name="problem-3"/>
          <p:cNvSpPr/>
          <p:nvPr/>
        </p:nvSpPr>
        <p:spPr>
          <a:xfrm>
            <a:off x="8046720" y="2331720"/>
            <a:ext cx="3520440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4" name="icon-bg-bell"/>
          <p:cNvSpPr/>
          <p:nvPr/>
        </p:nvSpPr>
        <p:spPr>
          <a:xfrm>
            <a:off x="8366760" y="2651760"/>
            <a:ext cx="566928" cy="566928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15" name="icon-bell" descr="/home/user/Claude/fleetana-launch/brand/assets/icons/icon-be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0146" y="2765146"/>
            <a:ext cx="340157" cy="34015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66760" y="34290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Chat threads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8366760" y="402336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45464D"/>
                </a:solidFill>
              </a:rPr>
              <a:t>Checks, faults and approvals happen in WhatsApp, and nothing links back to the vehicle.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2A89F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315468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What Fleetana does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526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E3A8A"/>
                </a:solidFill>
              </a:rPr>
              <a:t>One place for everything that touches your fleet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One workspace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for every vehicle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40280"/>
            <a:ext cx="4480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0F172A"/>
                </a:solidFill>
              </a:rPr>
              <a:t>Every fuel log, service entry, issue, inspection and work order links to the same vehicle</a:t>
            </a:r>
            <a:endParaRPr lang="en-US" sz="17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0F172A"/>
                </a:solidFill>
              </a:rPr>
              <a:t>Service due by km, engine hours or date, whichever comes first</a:t>
            </a:r>
            <a:endParaRPr lang="en-US" sz="17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0F172A"/>
                </a:solidFill>
              </a:rPr>
              <a:t>Istimara, insurance and Fahes listed 30 days before they expire</a:t>
            </a:r>
            <a:endParaRPr lang="en-US" sz="17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0F172A"/>
                </a:solidFill>
              </a:rPr>
              <a:t>Arabic and English, SAR with 15% VAT, km and engine hours</a:t>
            </a:r>
            <a:endParaRPr lang="en-US" sz="1700" dirty="0"/>
          </a:p>
        </p:txBody>
      </p:sp>
      <p:sp>
        <p:nvSpPr>
          <p:cNvPr id="4" name="product-vehicles"/>
          <p:cNvSpPr/>
          <p:nvPr/>
        </p:nvSpPr>
        <p:spPr>
          <a:xfrm>
            <a:off x="5349240" y="2103120"/>
            <a:ext cx="6291072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pic>
        <p:nvPicPr>
          <p:cNvPr id="5" name="Vehicle list screen" descr="Vehicle list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2212848"/>
            <a:ext cx="6016752" cy="28803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Everything that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touches your fleet</a:t>
            </a:r>
            <a:endParaRPr lang="en-US" sz="3200" dirty="0"/>
          </a:p>
        </p:txBody>
      </p:sp>
      <p:sp>
        <p:nvSpPr>
          <p:cNvPr id="3" name="feature-1"/>
          <p:cNvSpPr/>
          <p:nvPr/>
        </p:nvSpPr>
        <p:spPr>
          <a:xfrm>
            <a:off x="548640" y="210312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4" name="icon-bg-truck"/>
          <p:cNvSpPr/>
          <p:nvPr/>
        </p:nvSpPr>
        <p:spPr>
          <a:xfrm>
            <a:off x="822960" y="2377440"/>
            <a:ext cx="512064" cy="512064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5" name="icon-truck" descr="/home/user/Claude/fleetana-launch/brand/assets/icons/icon-tru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2479853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24048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Vehicles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9923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Plates, drivers, documents and status for every vehicle.</a:t>
            </a:r>
            <a:endParaRPr lang="en-US" sz="1300" dirty="0"/>
          </a:p>
        </p:txBody>
      </p:sp>
      <p:sp>
        <p:nvSpPr>
          <p:cNvPr id="8" name="feature-2"/>
          <p:cNvSpPr/>
          <p:nvPr/>
        </p:nvSpPr>
        <p:spPr>
          <a:xfrm>
            <a:off x="4297680" y="210312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9" name="icon-bg-wrench"/>
          <p:cNvSpPr/>
          <p:nvPr/>
        </p:nvSpPr>
        <p:spPr>
          <a:xfrm>
            <a:off x="4572000" y="2377440"/>
            <a:ext cx="512064" cy="512064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10" name="icon-wrench" descr="/home/user/Claude/fleetana-launch/brand/assets/icons/icon-wre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413" y="2479853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57800" y="24048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Service &amp; PM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99923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Programs by km, hours or date. Due soon and overdue at a glance.</a:t>
            </a:r>
            <a:endParaRPr lang="en-US" sz="1300" dirty="0"/>
          </a:p>
        </p:txBody>
      </p:sp>
      <p:sp>
        <p:nvSpPr>
          <p:cNvPr id="13" name="feature-3"/>
          <p:cNvSpPr/>
          <p:nvPr/>
        </p:nvSpPr>
        <p:spPr>
          <a:xfrm>
            <a:off x="8046720" y="210312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4" name="icon-bg-fuel"/>
          <p:cNvSpPr/>
          <p:nvPr/>
        </p:nvSpPr>
        <p:spPr>
          <a:xfrm>
            <a:off x="8321040" y="2377440"/>
            <a:ext cx="512064" cy="512064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15" name="icon-fuel" descr="/home/user/Claude/fleetana-launch/brand/assets/icons/icon-fu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453" y="2479853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06840" y="24048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Fuel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99923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km/L on every full fill. Fills below 70% of the 30-day average flagged.</a:t>
            </a:r>
            <a:endParaRPr lang="en-US" sz="1300" dirty="0"/>
          </a:p>
        </p:txBody>
      </p:sp>
      <p:sp>
        <p:nvSpPr>
          <p:cNvPr id="18" name="feature-4"/>
          <p:cNvSpPr/>
          <p:nvPr/>
        </p:nvSpPr>
        <p:spPr>
          <a:xfrm>
            <a:off x="548640" y="41148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9" name="icon-bg-clipboard"/>
          <p:cNvSpPr/>
          <p:nvPr/>
        </p:nvSpPr>
        <p:spPr>
          <a:xfrm>
            <a:off x="822960" y="4389120"/>
            <a:ext cx="512064" cy="512064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20" name="icon-clipboard" descr="/home/user/Claude/fleetana-launch/brand/assets/icons/icon-clip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373" y="4491533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08760" y="44165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Inspections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501091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Custom checklists with photos. A failed item opens an issue.</a:t>
            </a:r>
            <a:endParaRPr lang="en-US" sz="1300" dirty="0"/>
          </a:p>
        </p:txBody>
      </p:sp>
      <p:sp>
        <p:nvSpPr>
          <p:cNvPr id="23" name="feature-5"/>
          <p:cNvSpPr/>
          <p:nvPr/>
        </p:nvSpPr>
        <p:spPr>
          <a:xfrm>
            <a:off x="4297680" y="41148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24" name="icon-bg-check"/>
          <p:cNvSpPr/>
          <p:nvPr/>
        </p:nvSpPr>
        <p:spPr>
          <a:xfrm>
            <a:off x="4572000" y="4389120"/>
            <a:ext cx="512064" cy="512064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25" name="icon-check" descr="/home/user/Claude/fleetana-launch/brand/assets/icons/icon-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413" y="4491533"/>
            <a:ext cx="307238" cy="30723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257800" y="44165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Work orders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0" y="501091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Parts, labour and fees, with 15% VAT and approval steps.</a:t>
            </a:r>
            <a:endParaRPr lang="en-US" sz="1300" dirty="0"/>
          </a:p>
        </p:txBody>
      </p:sp>
      <p:sp>
        <p:nvSpPr>
          <p:cNvPr id="28" name="feature-6"/>
          <p:cNvSpPr/>
          <p:nvPr/>
        </p:nvSpPr>
        <p:spPr>
          <a:xfrm>
            <a:off x="8046720" y="41148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29" name="icon-bg-pin"/>
          <p:cNvSpPr/>
          <p:nvPr/>
        </p:nvSpPr>
        <p:spPr>
          <a:xfrm>
            <a:off x="8321040" y="4389120"/>
            <a:ext cx="512064" cy="512064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30" name="icon-pin" descr="/home/user/Claude/fleetana-launch/brand/assets/icons/icon-pi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3453" y="4491533"/>
            <a:ext cx="307238" cy="30723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006840" y="44165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Live map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8321040" y="501091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Moving, idle, parked. Trip replay and driver scores.</a:t>
            </a:r>
            <a:endParaRPr lang="en-US" sz="1300" dirty="0"/>
          </a:p>
        </p:txBody>
      </p:sp>
      <p:sp>
        <p:nvSpPr>
          <p:cNvPr id="33" name="pill-GPS tracker"/>
          <p:cNvSpPr txBox="1"/>
          <p:nvPr/>
        </p:nvSpPr>
        <p:spPr>
          <a:xfrm>
            <a:off x="9692640" y="548640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E5F1F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GPS tracker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Odd fill-ups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get flagged</a:t>
            </a:r>
            <a:endParaRPr lang="en-US" sz="3200" dirty="0"/>
          </a:p>
        </p:txBody>
      </p:sp>
      <p:sp>
        <p:nvSpPr>
          <p:cNvPr id="3" name="product-fuel"/>
          <p:cNvSpPr/>
          <p:nvPr/>
        </p:nvSpPr>
        <p:spPr>
          <a:xfrm>
            <a:off x="548640" y="2057400"/>
            <a:ext cx="64922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pic>
        <p:nvPicPr>
          <p:cNvPr id="4" name="Fuel economy chart" descr="Fuel economy 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76272"/>
            <a:ext cx="6217920" cy="3836589"/>
          </a:xfrm>
          <a:prstGeom prst="rect">
            <a:avLst/>
          </a:prstGeom>
        </p:spPr>
      </p:pic>
      <p:sp>
        <p:nvSpPr>
          <p:cNvPr id="5" name="proof-num-1"/>
          <p:cNvSpPr txBox="1"/>
          <p:nvPr/>
        </p:nvSpPr>
        <p:spPr>
          <a:xfrm>
            <a:off x="7452360" y="2148840"/>
            <a:ext cx="457200" cy="457200"/>
          </a:xfrm>
          <a:prstGeom prst="ellipse">
            <a:avLst/>
          </a:prstGeom>
          <a:solidFill>
            <a:srgbClr val="E8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1D5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092440" y="21305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Economy on every full fill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25603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Distance since the last full fill ÷ fuel added, with an odometer reading.</a:t>
            </a:r>
            <a:endParaRPr lang="en-US" sz="1300" dirty="0"/>
          </a:p>
        </p:txBody>
      </p:sp>
      <p:sp>
        <p:nvSpPr>
          <p:cNvPr id="8" name="proof-num-2"/>
          <p:cNvSpPr txBox="1"/>
          <p:nvPr/>
        </p:nvSpPr>
        <p:spPr>
          <a:xfrm>
            <a:off x="7452360" y="3447288"/>
            <a:ext cx="457200" cy="457200"/>
          </a:xfrm>
          <a:prstGeom prst="ellipse">
            <a:avLst/>
          </a:prstGeom>
          <a:solidFill>
            <a:srgbClr val="E8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1D5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3429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Compared with its own average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385876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Each vehicle against its 30-day average, not against the fleet.</a:t>
            </a:r>
            <a:endParaRPr lang="en-US" sz="1300" dirty="0"/>
          </a:p>
        </p:txBody>
      </p:sp>
      <p:sp>
        <p:nvSpPr>
          <p:cNvPr id="11" name="proof-num-3"/>
          <p:cNvSpPr txBox="1"/>
          <p:nvPr/>
        </p:nvSpPr>
        <p:spPr>
          <a:xfrm>
            <a:off x="7452360" y="4745736"/>
            <a:ext cx="457200" cy="457200"/>
          </a:xfrm>
          <a:prstGeom prst="ellipse">
            <a:avLst/>
          </a:prstGeom>
          <a:solidFill>
            <a:srgbClr val="E8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1D5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092440" y="47274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Below 70%? Flagged Low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5157216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Worth checking for a vehicle problem or a logging error.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Rules you can check,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not promises</a:t>
            </a:r>
            <a:endParaRPr lang="en-US" sz="3200" dirty="0"/>
          </a:p>
        </p:txBody>
      </p:sp>
      <p:sp>
        <p:nvSpPr>
          <p:cNvPr id="3" name="stat-1"/>
          <p:cNvSpPr/>
          <p:nvPr/>
        </p:nvSpPr>
        <p:spPr>
          <a:xfrm>
            <a:off x="548640" y="2194560"/>
            <a:ext cx="2606040" cy="34290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24688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2A89F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70%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5661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Fuel flag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25196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45464D"/>
                </a:solidFill>
              </a:rPr>
              <a:t>A full fill below 70% of the vehicle's 30-day average is flagged Low.</a:t>
            </a:r>
            <a:endParaRPr lang="en-US" sz="1250" dirty="0"/>
          </a:p>
        </p:txBody>
      </p:sp>
      <p:sp>
        <p:nvSpPr>
          <p:cNvPr id="7" name="stat-2"/>
          <p:cNvSpPr/>
          <p:nvPr/>
        </p:nvSpPr>
        <p:spPr>
          <a:xfrm>
            <a:off x="3355848" y="2194560"/>
            <a:ext cx="2606040" cy="34290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30168" y="24688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2A89F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30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630168" y="35661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Days ahead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630168" y="425196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45464D"/>
                </a:solidFill>
              </a:rPr>
              <a:t>Istimara, insurance and Fahes expiring within 30 days are listed on Home.</a:t>
            </a:r>
            <a:endParaRPr lang="en-US" sz="1250" dirty="0"/>
          </a:p>
        </p:txBody>
      </p:sp>
      <p:sp>
        <p:nvSpPr>
          <p:cNvPr id="11" name="stat-3"/>
          <p:cNvSpPr/>
          <p:nvPr/>
        </p:nvSpPr>
        <p:spPr>
          <a:xfrm>
            <a:off x="6163056" y="2194560"/>
            <a:ext cx="2606040" cy="34290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37376" y="24688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2A89F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15%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6437376" y="35661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VAT built in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37376" y="425196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45464D"/>
                </a:solidFill>
              </a:rPr>
              <a:t>Work orders and costs in SAR, with VAT added or split out.</a:t>
            </a:r>
            <a:endParaRPr lang="en-US" sz="1250" dirty="0"/>
          </a:p>
        </p:txBody>
      </p:sp>
      <p:sp>
        <p:nvSpPr>
          <p:cNvPr id="15" name="stat-4"/>
          <p:cNvSpPr/>
          <p:nvPr/>
        </p:nvSpPr>
        <p:spPr>
          <a:xfrm>
            <a:off x="8970264" y="2194560"/>
            <a:ext cx="2606040" cy="34290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244584" y="24688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2A89F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9244584" y="35661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Service triggers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244584" y="425196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45464D"/>
                </a:solidFill>
              </a:rPr>
              <a:t>km, engine hours or date, whichever comes first.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8064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Each figure is a rule in the product, not a customer result.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How it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works</a:t>
            </a:r>
            <a:endParaRPr lang="en-US" sz="3200" dirty="0"/>
          </a:p>
        </p:txBody>
      </p:sp>
      <p:sp>
        <p:nvSpPr>
          <p:cNvPr id="3" name="step-1"/>
          <p:cNvSpPr/>
          <p:nvPr/>
        </p:nvSpPr>
        <p:spPr>
          <a:xfrm>
            <a:off x="548640" y="22860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4" name="icon-bg-camera"/>
          <p:cNvSpPr/>
          <p:nvPr/>
        </p:nvSpPr>
        <p:spPr>
          <a:xfrm>
            <a:off x="868680" y="2606040"/>
            <a:ext cx="566928" cy="566928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5" name="icon-camera" descr="/home/user/Claude/fleetana-launch/brand/assets/icons/icon-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066" y="2719426"/>
            <a:ext cx="340157" cy="34015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33832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01  Capture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93192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5464D"/>
                </a:solidFill>
              </a:rPr>
              <a:t>Drivers and operators log fuel, run inspections and report issues from any device.</a:t>
            </a:r>
            <a:endParaRPr lang="en-US" sz="1500" dirty="0"/>
          </a:p>
        </p:txBody>
      </p:sp>
      <p:pic>
        <p:nvPicPr>
          <p:cNvPr id="8" name="arrow-1" descr="/home/user/Claude/fleetana-launch/brand/assets/icons/icon-arrow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368" y="3776472"/>
            <a:ext cx="201168" cy="201168"/>
          </a:xfrm>
          <a:prstGeom prst="rect">
            <a:avLst/>
          </a:prstGeom>
        </p:spPr>
      </p:pic>
      <p:sp>
        <p:nvSpPr>
          <p:cNvPr id="9" name="step-2"/>
          <p:cNvSpPr/>
          <p:nvPr/>
        </p:nvSpPr>
        <p:spPr>
          <a:xfrm>
            <a:off x="4297680" y="22860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0" name="icon-bg-box"/>
          <p:cNvSpPr/>
          <p:nvPr/>
        </p:nvSpPr>
        <p:spPr>
          <a:xfrm>
            <a:off x="4617720" y="2606040"/>
            <a:ext cx="566928" cy="566928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11" name="icon-box" descr="/home/user/Claude/fleetana-launch/brand/assets/icons/icon-bo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1106" y="2719426"/>
            <a:ext cx="340157" cy="34015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617720" y="33832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02  Organise</a:t>
            </a:r>
            <a:endParaRPr lang="en-US" sz="2100" dirty="0"/>
          </a:p>
        </p:txBody>
      </p:sp>
      <p:sp>
        <p:nvSpPr>
          <p:cNvPr id="13" name="Text 8"/>
          <p:cNvSpPr txBox="1"/>
          <p:nvPr/>
        </p:nvSpPr>
        <p:spPr>
          <a:xfrm>
            <a:off x="4617720" y="393192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5464D"/>
                </a:solidFill>
              </a:rPr>
              <a:t>Everything links to the right vehicle. Reminders come from your service programs.</a:t>
            </a:r>
            <a:endParaRPr lang="en-US" sz="1500" dirty="0"/>
          </a:p>
        </p:txBody>
      </p:sp>
      <p:pic>
        <p:nvPicPr>
          <p:cNvPr id="14" name="arrow-2" descr="/home/user/Claude/fleetana-launch/brand/assets/icons/icon-arrow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6408" y="3776472"/>
            <a:ext cx="201168" cy="201168"/>
          </a:xfrm>
          <a:prstGeom prst="rect">
            <a:avLst/>
          </a:prstGeom>
        </p:spPr>
      </p:pic>
      <p:sp>
        <p:nvSpPr>
          <p:cNvPr id="15" name="step-3"/>
          <p:cNvSpPr/>
          <p:nvPr/>
        </p:nvSpPr>
        <p:spPr>
          <a:xfrm>
            <a:off x="8046720" y="22860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6" name="icon-bg-chart"/>
          <p:cNvSpPr/>
          <p:nvPr/>
        </p:nvSpPr>
        <p:spPr>
          <a:xfrm>
            <a:off x="8366760" y="2606040"/>
            <a:ext cx="566928" cy="566928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17" name="icon-chart" descr="/home/user/Claude/fleetana-launch/brand/assets/icons/icon-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0146" y="2719426"/>
            <a:ext cx="340157" cy="340157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366760" y="33832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03  Decide</a:t>
            </a:r>
            <a:endParaRPr lang="en-US" sz="2100" dirty="0"/>
          </a:p>
        </p:txBody>
      </p:sp>
      <p:sp>
        <p:nvSpPr>
          <p:cNvPr id="19" name="Text 12"/>
          <p:cNvSpPr txBox="1"/>
          <p:nvPr/>
        </p:nvSpPr>
        <p:spPr>
          <a:xfrm>
            <a:off x="8366760" y="393192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5464D"/>
                </a:solidFill>
              </a:rPr>
              <a:t>Open Home or a vehicle to see what is due, what is overdue and what is expiring.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Built for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Saudi fleets</a:t>
            </a:r>
            <a:endParaRPr lang="en-US" sz="3200" dirty="0"/>
          </a:p>
        </p:txBody>
      </p:sp>
      <p:sp>
        <p:nvSpPr>
          <p:cNvPr id="3" name="chip-1"/>
          <p:cNvSpPr txBox="1"/>
          <p:nvPr/>
        </p:nvSpPr>
        <p:spPr>
          <a:xfrm>
            <a:off x="548640" y="2148840"/>
            <a:ext cx="251460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8A"/>
                </a:solidFill>
              </a:rPr>
              <a:t>Istimara</a:t>
            </a:r>
            <a:endParaRPr lang="en-US" sz="1500" dirty="0"/>
          </a:p>
        </p:txBody>
      </p:sp>
      <p:sp>
        <p:nvSpPr>
          <p:cNvPr id="4" name="chip-2"/>
          <p:cNvSpPr txBox="1"/>
          <p:nvPr/>
        </p:nvSpPr>
        <p:spPr>
          <a:xfrm>
            <a:off x="3246120" y="2148840"/>
            <a:ext cx="251460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8A"/>
                </a:solidFill>
              </a:rPr>
              <a:t>Fahes</a:t>
            </a:r>
            <a:endParaRPr lang="en-US" sz="1500" dirty="0"/>
          </a:p>
        </p:txBody>
      </p:sp>
      <p:sp>
        <p:nvSpPr>
          <p:cNvPr id="5" name="chip-3"/>
          <p:cNvSpPr txBox="1"/>
          <p:nvPr/>
        </p:nvSpPr>
        <p:spPr>
          <a:xfrm>
            <a:off x="5943600" y="2148840"/>
            <a:ext cx="251460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8A"/>
                </a:solidFill>
              </a:rPr>
              <a:t>Insurance</a:t>
            </a:r>
            <a:endParaRPr lang="en-US" sz="1500" dirty="0"/>
          </a:p>
        </p:txBody>
      </p:sp>
      <p:sp>
        <p:nvSpPr>
          <p:cNvPr id="6" name="chip-4"/>
          <p:cNvSpPr txBox="1"/>
          <p:nvPr/>
        </p:nvSpPr>
        <p:spPr>
          <a:xfrm>
            <a:off x="548640" y="2807208"/>
            <a:ext cx="251460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8A"/>
                </a:solidFill>
              </a:rPr>
              <a:t>SAR + 15% VAT</a:t>
            </a:r>
            <a:endParaRPr lang="en-US" sz="1500" dirty="0"/>
          </a:p>
        </p:txBody>
      </p:sp>
      <p:sp>
        <p:nvSpPr>
          <p:cNvPr id="7" name="chip-5"/>
          <p:cNvSpPr txBox="1"/>
          <p:nvPr/>
        </p:nvSpPr>
        <p:spPr>
          <a:xfrm>
            <a:off x="3246120" y="2807208"/>
            <a:ext cx="251460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8A"/>
                </a:solidFill>
              </a:rPr>
              <a:t>km &amp; engine hours</a:t>
            </a:r>
            <a:endParaRPr lang="en-US" sz="1500" dirty="0"/>
          </a:p>
        </p:txBody>
      </p:sp>
      <p:sp>
        <p:nvSpPr>
          <p:cNvPr id="8" name="chip-6"/>
          <p:cNvSpPr txBox="1"/>
          <p:nvPr/>
        </p:nvSpPr>
        <p:spPr>
          <a:xfrm>
            <a:off x="5943600" y="2807208"/>
            <a:ext cx="251460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8A"/>
                </a:solidFill>
              </a:rPr>
              <a:t>العربية · English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57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For fleets of 10 to 50 vehicles</a:t>
            </a:r>
            <a:endParaRPr lang="en-US" sz="1800" dirty="0"/>
          </a:p>
        </p:txBody>
      </p:sp>
      <p:sp>
        <p:nvSpPr>
          <p:cNvPr id="10" name="icon-bg-truck"/>
          <p:cNvSpPr/>
          <p:nvPr/>
        </p:nvSpPr>
        <p:spPr>
          <a:xfrm>
            <a:off x="548640" y="4206240"/>
            <a:ext cx="502920" cy="502920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11" name="icon-truck" descr="/home/user/Claude/fleetana-launch/brand/assets/icons/icon-tru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4306824"/>
            <a:ext cx="301752" cy="30175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234440" y="4251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Delivery &amp; courier</a:t>
            </a:r>
            <a:endParaRPr lang="en-US" sz="1500" dirty="0"/>
          </a:p>
        </p:txBody>
      </p:sp>
      <p:sp>
        <p:nvSpPr>
          <p:cNvPr id="13" name="icon-bg-wrench"/>
          <p:cNvSpPr/>
          <p:nvPr/>
        </p:nvSpPr>
        <p:spPr>
          <a:xfrm>
            <a:off x="4526280" y="4206240"/>
            <a:ext cx="502920" cy="502920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14" name="icon-wrench" descr="/home/user/Claude/fleetana-launch/brand/assets/icons/icon-wre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4306824"/>
            <a:ext cx="301752" cy="30175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212080" y="4251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Construction &amp; heavy equipment</a:t>
            </a:r>
            <a:endParaRPr lang="en-US" sz="1500" dirty="0"/>
          </a:p>
        </p:txBody>
      </p:sp>
      <p:sp>
        <p:nvSpPr>
          <p:cNvPr id="16" name="icon-bg-box"/>
          <p:cNvSpPr/>
          <p:nvPr/>
        </p:nvSpPr>
        <p:spPr>
          <a:xfrm>
            <a:off x="548640" y="4983480"/>
            <a:ext cx="502920" cy="502920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17" name="icon-box" descr="/home/user/Claude/fleetana-launch/brand/assets/icons/icon-bo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5084064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234440" y="5029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Distribution &amp; retail</a:t>
            </a:r>
            <a:endParaRPr lang="en-US" sz="1500" dirty="0"/>
          </a:p>
        </p:txBody>
      </p:sp>
      <p:sp>
        <p:nvSpPr>
          <p:cNvPr id="19" name="icon-bg-users"/>
          <p:cNvSpPr/>
          <p:nvPr/>
        </p:nvSpPr>
        <p:spPr>
          <a:xfrm>
            <a:off x="4526280" y="4983480"/>
            <a:ext cx="502920" cy="502920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20" name="icon-users" descr="/home/user/Claude/fleetana-launch/brand/assets/icons/icon-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64" y="5084064"/>
            <a:ext cx="301752" cy="30175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212080" y="5029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Passenger &amp; school transport</a:t>
            </a:r>
            <a:endParaRPr lang="en-US" sz="1500" dirty="0"/>
          </a:p>
        </p:txBody>
      </p:sp>
      <p:sp>
        <p:nvSpPr>
          <p:cNvPr id="22" name="papers-card"/>
          <p:cNvSpPr/>
          <p:nvPr/>
        </p:nvSpPr>
        <p:spPr>
          <a:xfrm>
            <a:off x="8915400" y="2148840"/>
            <a:ext cx="2724912" cy="3566160"/>
          </a:xfrm>
          <a:prstGeom prst="roundRect">
            <a:avLst>
              <a:gd name="adj" fmla="val 402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pic>
        <p:nvPicPr>
          <p:cNvPr id="23" name="Document expiry cards" descr="Document expiry card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840" y="2377440"/>
            <a:ext cx="2542032" cy="137918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098280" y="397764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45464D"/>
                </a:solidFill>
              </a:rPr>
              <a:t>Expiry dates live on each vehicle, and Home lists everything expiring in the next 30 days.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2A89F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315468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Proposal</a:t>
            </a:r>
            <a:endParaRPr lang="en-US" sz="44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526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E3A8A"/>
                </a:solidFill>
              </a:rPr>
              <a:t>How we would roll Fleetana out for you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Proposed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rollout</a:t>
            </a:r>
            <a:endParaRPr lang="en-US" sz="3200" dirty="0"/>
          </a:p>
        </p:txBody>
      </p:sp>
      <p:graphicFrame>
        <p:nvGraphicFramePr>
          <p:cNvPr id="14" name="rollou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120640"/>
                <a:gridCol w="2011680"/>
                <a:gridCol w="158191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3A8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Phase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3A8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happens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3A8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Owner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3A8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Week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Set up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Add vehicles, drivers, documents and team members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Your team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Service programs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Choose service tasks and intervals from the default set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Together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1–2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Daily use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Log fuel, run inspections and raise issues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Your drivers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2–4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Review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Walk through what is due, overdue and expiring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Together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4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692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Example plan. Adjust phases, owners and weeks to the client.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-card"/>
          <p:cNvSpPr/>
          <p:nvPr/>
        </p:nvSpPr>
        <p:spPr>
          <a:xfrm>
            <a:off x="548640" y="1783080"/>
            <a:ext cx="11094415" cy="3566160"/>
          </a:xfrm>
          <a:prstGeom prst="roundRect">
            <a:avLst>
              <a:gd name="adj" fmla="val 3077"/>
            </a:avLst>
          </a:prstGeom>
          <a:solidFill>
            <a:srgbClr val="E8F2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1188720" y="2240280"/>
            <a:ext cx="98142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Log the odometer.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0051D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We flag the rest.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343400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E3A8A"/>
                </a:solidFill>
              </a:rPr>
              <a:t>Fleetana does the arithmetic and the remembering. Your team does the driving.</a:t>
            </a:r>
            <a:endParaRPr lang="en-US" sz="1700" dirty="0"/>
          </a:p>
        </p:txBody>
      </p:sp>
      <p:sp>
        <p:nvSpPr>
          <p:cNvPr id="6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Next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steps</a:t>
            </a:r>
            <a:endParaRPr lang="en-US" sz="3200" dirty="0"/>
          </a:p>
        </p:txBody>
      </p:sp>
      <p:sp>
        <p:nvSpPr>
          <p:cNvPr id="3" name="next-num-1"/>
          <p:cNvSpPr txBox="1"/>
          <p:nvPr/>
        </p:nvSpPr>
        <p:spPr>
          <a:xfrm>
            <a:off x="548640" y="2148840"/>
            <a:ext cx="548640" cy="548640"/>
          </a:xfrm>
          <a:prstGeom prst="ellipse">
            <a:avLst/>
          </a:prstGeom>
          <a:solidFill>
            <a:srgbClr val="2A89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2112264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Agree the scope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253288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5464D"/>
                </a:solidFill>
              </a:rPr>
              <a:t>Vehicles, sites and the people who will use Fleetana.</a:t>
            </a:r>
            <a:endParaRPr lang="en-US" sz="1400" dirty="0"/>
          </a:p>
        </p:txBody>
      </p:sp>
      <p:sp>
        <p:nvSpPr>
          <p:cNvPr id="6" name="next-num-2"/>
          <p:cNvSpPr txBox="1"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2A89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3255264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Set up your workspace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367588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5464D"/>
                </a:solidFill>
              </a:rPr>
              <a:t>Vehicles, drivers and document dates added in week one.</a:t>
            </a:r>
            <a:endParaRPr lang="en-US" sz="1400" dirty="0"/>
          </a:p>
        </p:txBody>
      </p:sp>
      <p:sp>
        <p:nvSpPr>
          <p:cNvPr id="9" name="next-num-3"/>
          <p:cNvSpPr txBox="1"/>
          <p:nvPr/>
        </p:nvSpPr>
        <p:spPr>
          <a:xfrm>
            <a:off x="548640" y="4434840"/>
            <a:ext cx="548640" cy="548640"/>
          </a:xfrm>
          <a:prstGeom prst="ellipse">
            <a:avLst/>
          </a:prstGeom>
          <a:solidFill>
            <a:srgbClr val="2A89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4398264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Review together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81888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5464D"/>
                </a:solidFill>
              </a:rPr>
              <a:t>After four weeks, review what is due, overdue and expiring.</a:t>
            </a:r>
            <a:endParaRPr lang="en-US" sz="1400" dirty="0"/>
          </a:p>
        </p:txBody>
      </p:sp>
      <p:sp>
        <p:nvSpPr>
          <p:cNvPr id="12" name="contact-card"/>
          <p:cNvSpPr/>
          <p:nvPr/>
        </p:nvSpPr>
        <p:spPr>
          <a:xfrm>
            <a:off x="7863840" y="2103120"/>
            <a:ext cx="3776472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18388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51D5"/>
                </a:solidFill>
              </a:rPr>
              <a:t>CONTACT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183880" y="28346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00000"/>
                </a:solidFill>
              </a:rPr>
              <a:t>Full name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5464D"/>
                </a:solidFill>
              </a:rPr>
              <a:t>Role, Fleetana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5464D"/>
                </a:solidFill>
              </a:rPr>
              <a:t>name@fleetana.sa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5464D"/>
                </a:solidFill>
              </a:rPr>
              <a:t>+966 5X XXX XXXX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4754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51D5"/>
                </a:solidFill>
              </a:rPr>
              <a:t>fleetana.sa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097280" y="2743200"/>
            <a:ext cx="9997135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Get your fleet off spreadsheets.</a:t>
            </a:r>
            <a:endParaRPr lang="en-US" sz="4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1097280" y="3703320"/>
            <a:ext cx="9997135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51D5"/>
                </a:solidFill>
              </a:rPr>
              <a:t>fleetana.sa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eetana">
  <a:themeElements>
    <a:clrScheme name="Fleetana">
      <a:dk1>
        <a:srgbClr val="0F172A"/>
      </a:dk1>
      <a:lt1>
        <a:srgbClr val="FFFFFF"/>
      </a:lt1>
      <a:dk2>
        <a:srgbClr val="000000"/>
      </a:dk2>
      <a:lt2>
        <a:srgbClr val="F7F9FB"/>
      </a:lt2>
      <a:accent1>
        <a:srgbClr val="2A89FA"/>
      </a:accent1>
      <a:accent2>
        <a:srgbClr val="0051D5"/>
      </a:accent2>
      <a:accent3>
        <a:srgbClr val="16A34A"/>
      </a:accent3>
      <a:accent4>
        <a:srgbClr val="D97706"/>
      </a:accent4>
      <a:accent5>
        <a:srgbClr val="EF4444"/>
      </a:accent5>
      <a:accent6>
        <a:srgbClr val="1E3A8A"/>
      </a:accent6>
      <a:hlink>
        <a:srgbClr val="0051D5"/>
      </a:hlink>
      <a:folHlink>
        <a:srgbClr val="1E3A8A"/>
      </a:folHlink>
    </a:clrScheme>
    <a:fontScheme name="Fleetana">
      <a:majorFont>
        <a:latin typeface="Hanken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Fleetana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Fleetana — company profile</dc:title>
  <dc:subject>PptxGenJS Presentation</dc:subject>
  <dc:creator>Fleetana</dc:creator>
  <cp:lastModifiedBy>Fleetana</cp:lastModifiedBy>
  <cp:revision>1</cp:revision>
  <dcterms:created xsi:type="dcterms:W3CDTF">2026-10-23T13:41:21Z</dcterms:created>
  <dcterms:modified xsi:type="dcterms:W3CDTF">2026-10-23T13:41:21Z</dcterms:modified>
</cp:coreProperties>
</file>