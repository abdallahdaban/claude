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0c990a4-bfab-8ac2-a9b4-dbcdc8b0c77e}">
          <p14:sldIdLst>
            <p14:sldId id="256"/>
            <p14:sldId id="257"/>
          </p14:sldIdLst>
        </p14:section>
        <p14:section name="The problem" id="{4005ff1c-deb3-7a97-5e2d-7dcbb47a5902}">
          <p14:sldIdLst>
            <p14:sldId id="258"/>
            <p14:sldId id="259"/>
          </p14:sldIdLst>
        </p14:section>
        <p14:section name="What Fleetana does" id="{8992dc78-2ee2-e620-e012-dcdbb46e2957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roposal" id="{2c07da57-3205-f5cf-029b-80a87f4378af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layout. Eyebrow = document type (company profile, pitch, proposal). Title in two lines: statement in black, payoff in Accent Blue.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only layout with four cards. Keep each item to a short title and one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 layout. Number, title and one supporting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cards with icons. One problem per card, in the customer's words. No invented statistics.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 left, product screen right. Product screens are our illustrations; demo data must look like demo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feature cards. GPS-dependent features carry the 'GPS tracker' 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product screen with three numbered points that explain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 callouts. Only use numbers that are product rules or proven data, and say which.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Three-step process with icons.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Chips, audience list and a supporting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layout for proposals. Use the house table: Tint header, hairline rules, Paper banding.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 statement on a Tint card. Use once per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Numbered next steps with a contact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layout. Logo, the line, the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divider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792029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0051D5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48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5464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64748B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defRPr>
            </a:lvl1pPr>
          </a:lstStyle>
          <a:p>
            <a:pPr algn="l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1E3A8A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057400"/>
            <a:ext cx="1109441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1800" dirty="0">
                <a:solidFill>
                  <a:srgbClr val="0F172A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2728" y="1691640"/>
            <a:ext cx="4206240" cy="57857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0051D5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2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COMPANY PROFILE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0000"/>
                </a:solidFill>
              </a:rPr>
              <a:t>Get your fleet</a:t>
            </a:r>
            <a:endParaRPr lang="en-US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51D5"/>
                </a:solidFill>
              </a:rPr>
              <a:t>off spreadsheets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5464D"/>
                </a:solidFill>
              </a:rPr>
              <a:t>Fleet management built for Saudi fleets</a:t>
            </a:r>
            <a:endParaRPr lang="en-US" sz="20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Company name · DD/MM/YYYY · fleetana.sa</a:t>
            </a:r>
            <a:endParaRPr lang="en-US" sz="1200" dirty="0"/>
          </a:p>
        </p:txBody>
      </p:sp>
      <p:sp>
        <p:nvSpPr>
          <p:cNvPr id="6" name="cover-map-card"/>
          <p:cNvSpPr/>
          <p:nvPr/>
        </p:nvSpPr>
        <p:spPr>
          <a:xfrm>
            <a:off x="7269480" y="1554480"/>
            <a:ext cx="4370832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Fleet map" descr="Flee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1664208"/>
            <a:ext cx="4151376" cy="2428997"/>
          </a:xfrm>
          <a:prstGeom prst="rect">
            <a:avLst/>
          </a:prstGeom>
        </p:spPr>
      </p:pic>
      <p:sp>
        <p:nvSpPr>
          <p:cNvPr id="8" name="pill-Live map · GPS tracker"/>
          <p:cNvSpPr txBox="1"/>
          <p:nvPr/>
        </p:nvSpPr>
        <p:spPr>
          <a:xfrm>
            <a:off x="7379208" y="43891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Live map · GPS tracker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Contents</a:t>
            </a:r>
            <a:endParaRPr lang="en-US" sz="3200" dirty="0"/>
          </a:p>
        </p:txBody>
      </p:sp>
      <p:sp>
        <p:nvSpPr>
          <p:cNvPr id="3" name="contents-1"/>
          <p:cNvSpPr/>
          <p:nvPr/>
        </p:nvSpPr>
        <p:spPr>
          <a:xfrm>
            <a:off x="548640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Where fleet time and money slip away</a:t>
            </a:r>
            <a:endParaRPr lang="en-US" sz="1500" dirty="0"/>
          </a:p>
        </p:txBody>
      </p:sp>
      <p:sp>
        <p:nvSpPr>
          <p:cNvPr id="7" name="contents-2"/>
          <p:cNvSpPr/>
          <p:nvPr/>
        </p:nvSpPr>
        <p:spPr>
          <a:xfrm>
            <a:off x="3355848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30168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Fleetana does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One workspace for every vehicle</a:t>
            </a:r>
            <a:endParaRPr lang="en-US" sz="1500" dirty="0"/>
          </a:p>
        </p:txBody>
      </p:sp>
      <p:sp>
        <p:nvSpPr>
          <p:cNvPr id="11" name="contents-3"/>
          <p:cNvSpPr/>
          <p:nvPr/>
        </p:nvSpPr>
        <p:spPr>
          <a:xfrm>
            <a:off x="6163056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7376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Built for Saudi fleets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37376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Istimara, Fahes, SAR, Arabic</a:t>
            </a:r>
            <a:endParaRPr lang="en-US" sz="1500" dirty="0"/>
          </a:p>
        </p:txBody>
      </p:sp>
      <p:sp>
        <p:nvSpPr>
          <p:cNvPr id="15" name="contents-4"/>
          <p:cNvSpPr/>
          <p:nvPr/>
        </p:nvSpPr>
        <p:spPr>
          <a:xfrm>
            <a:off x="8970264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44584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9244584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Proposal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244584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Rollout and next steps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The problem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Fleets run on spreadsheets, receipts and memory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Your fleet runs on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spreadsheets and memory</a:t>
            </a:r>
            <a:endParaRPr lang="en-US" sz="3200" dirty="0"/>
          </a:p>
        </p:txBody>
      </p:sp>
      <p:sp>
        <p:nvSpPr>
          <p:cNvPr id="3" name="problem-1"/>
          <p:cNvSpPr/>
          <p:nvPr/>
        </p:nvSpPr>
        <p:spPr>
          <a:xfrm>
            <a:off x="548640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lipboard"/>
          <p:cNvSpPr/>
          <p:nvPr/>
        </p:nvSpPr>
        <p:spPr>
          <a:xfrm>
            <a:off x="868680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066" y="276514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Spreadsheets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Service dates, plates and Istimara expiries live in files nobody updates on time.</a:t>
            </a:r>
            <a:endParaRPr lang="en-US" sz="1600" dirty="0"/>
          </a:p>
        </p:txBody>
      </p:sp>
      <p:sp>
        <p:nvSpPr>
          <p:cNvPr id="8" name="problem-2"/>
          <p:cNvSpPr/>
          <p:nvPr/>
        </p:nvSpPr>
        <p:spPr>
          <a:xfrm>
            <a:off x="4297680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fuel"/>
          <p:cNvSpPr/>
          <p:nvPr/>
        </p:nvSpPr>
        <p:spPr>
          <a:xfrm>
            <a:off x="4617720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106" y="276514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Receipts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Fuel and repair spend sits in drawers and photos, so odd fill-ups go unnoticed.</a:t>
            </a:r>
            <a:endParaRPr lang="en-US" sz="1600" dirty="0"/>
          </a:p>
        </p:txBody>
      </p:sp>
      <p:sp>
        <p:nvSpPr>
          <p:cNvPr id="13" name="problem-3"/>
          <p:cNvSpPr/>
          <p:nvPr/>
        </p:nvSpPr>
        <p:spPr>
          <a:xfrm>
            <a:off x="8046720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bell"/>
          <p:cNvSpPr/>
          <p:nvPr/>
        </p:nvSpPr>
        <p:spPr>
          <a:xfrm>
            <a:off x="8366760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bell" descr="/home/user/Claude/fleetana-launch/brand/assets/icons/icon-be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146" y="276514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Chat threads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Checks, faults and approvals happen in WhatsApp, and nothing links back to the vehicle.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What Fleetana does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One place for everything that touches your fleet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One workspace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for every vehicle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Every fuel log, service entry, issue, inspection and work order links to the same vehicle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Service due by km, engine hours or date, whichever comes first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Istimara, insurance and Fahes listed 30 days before they expire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Arabic and English, SAR with 15% VAT, km and engine hours</a:t>
            </a:r>
            <a:endParaRPr lang="en-US" sz="1700" dirty="0"/>
          </a:p>
        </p:txBody>
      </p:sp>
      <p:sp>
        <p:nvSpPr>
          <p:cNvPr id="4" name="product-vehicles"/>
          <p:cNvSpPr/>
          <p:nvPr/>
        </p:nvSpPr>
        <p:spPr>
          <a:xfrm>
            <a:off x="5349240" y="2103120"/>
            <a:ext cx="6291072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Vehicle list screen" descr="Vehicle list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2212848"/>
            <a:ext cx="6016752" cy="2880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Everything that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touches your fleet</a:t>
            </a:r>
            <a:endParaRPr lang="en-US" sz="3200" dirty="0"/>
          </a:p>
        </p:txBody>
      </p:sp>
      <p:sp>
        <p:nvSpPr>
          <p:cNvPr id="3" name="feature-1"/>
          <p:cNvSpPr/>
          <p:nvPr/>
        </p:nvSpPr>
        <p:spPr>
          <a:xfrm>
            <a:off x="54864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truck"/>
          <p:cNvSpPr/>
          <p:nvPr/>
        </p:nvSpPr>
        <p:spPr>
          <a:xfrm>
            <a:off x="82296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479853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Vehicles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Plates, drivers, documents and status for every vehicle.</a:t>
            </a:r>
            <a:endParaRPr lang="en-US" sz="1300" dirty="0"/>
          </a:p>
        </p:txBody>
      </p:sp>
      <p:sp>
        <p:nvSpPr>
          <p:cNvPr id="8" name="feature-2"/>
          <p:cNvSpPr/>
          <p:nvPr/>
        </p:nvSpPr>
        <p:spPr>
          <a:xfrm>
            <a:off x="429768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457200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413" y="247985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780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Service &amp; PM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Programs by km, hours or date. Due soon and overdue at a glance.</a:t>
            </a:r>
            <a:endParaRPr lang="en-US" sz="1300" dirty="0"/>
          </a:p>
        </p:txBody>
      </p:sp>
      <p:sp>
        <p:nvSpPr>
          <p:cNvPr id="13" name="feature-3"/>
          <p:cNvSpPr/>
          <p:nvPr/>
        </p:nvSpPr>
        <p:spPr>
          <a:xfrm>
            <a:off x="804672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fuel"/>
          <p:cNvSpPr/>
          <p:nvPr/>
        </p:nvSpPr>
        <p:spPr>
          <a:xfrm>
            <a:off x="832104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24798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0684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km/L on every full fill. Fills below 70% of the 30-day average flagged.</a:t>
            </a:r>
            <a:endParaRPr lang="en-US" sz="1300" dirty="0"/>
          </a:p>
        </p:txBody>
      </p:sp>
      <p:sp>
        <p:nvSpPr>
          <p:cNvPr id="18" name="feature-4"/>
          <p:cNvSpPr/>
          <p:nvPr/>
        </p:nvSpPr>
        <p:spPr>
          <a:xfrm>
            <a:off x="54864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lipboard"/>
          <p:cNvSpPr/>
          <p:nvPr/>
        </p:nvSpPr>
        <p:spPr>
          <a:xfrm>
            <a:off x="82296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3" y="4491533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0876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Inspections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Custom checklists with photos. A failed item opens an issue.</a:t>
            </a:r>
            <a:endParaRPr lang="en-US" sz="1300" dirty="0"/>
          </a:p>
        </p:txBody>
      </p:sp>
      <p:sp>
        <p:nvSpPr>
          <p:cNvPr id="23" name="feature-5"/>
          <p:cNvSpPr/>
          <p:nvPr/>
        </p:nvSpPr>
        <p:spPr>
          <a:xfrm>
            <a:off x="429768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4" name="icon-bg-check"/>
          <p:cNvSpPr/>
          <p:nvPr/>
        </p:nvSpPr>
        <p:spPr>
          <a:xfrm>
            <a:off x="457200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5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4413" y="4491533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780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orders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Parts, labour and fees, with 15% VAT and approval steps.</a:t>
            </a:r>
            <a:endParaRPr lang="en-US" sz="1300" dirty="0"/>
          </a:p>
        </p:txBody>
      </p:sp>
      <p:sp>
        <p:nvSpPr>
          <p:cNvPr id="28" name="feature-6"/>
          <p:cNvSpPr/>
          <p:nvPr/>
        </p:nvSpPr>
        <p:spPr>
          <a:xfrm>
            <a:off x="804672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9" name="icon-bg-pin"/>
          <p:cNvSpPr/>
          <p:nvPr/>
        </p:nvSpPr>
        <p:spPr>
          <a:xfrm>
            <a:off x="832104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3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3453" y="4491533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0684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Live map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1091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Moving, idle, parked. Trip replay and driver scores.</a:t>
            </a:r>
            <a:endParaRPr lang="en-US" sz="1300" dirty="0"/>
          </a:p>
        </p:txBody>
      </p:sp>
      <p:sp>
        <p:nvSpPr>
          <p:cNvPr id="33" name="pill-GPS tracker"/>
          <p:cNvSpPr txBox="1"/>
          <p:nvPr/>
        </p:nvSpPr>
        <p:spPr>
          <a:xfrm>
            <a:off x="9692640" y="548640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GPS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Odd fill-ups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get flagged</a:t>
            </a:r>
            <a:endParaRPr lang="en-US" sz="3200" dirty="0"/>
          </a:p>
        </p:txBody>
      </p:sp>
      <p:sp>
        <p:nvSpPr>
          <p:cNvPr id="3" name="product-fuel"/>
          <p:cNvSpPr/>
          <p:nvPr/>
        </p:nvSpPr>
        <p:spPr>
          <a:xfrm>
            <a:off x="548640" y="2057400"/>
            <a:ext cx="64922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Fuel economy chart" descr="Fuel economy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76272"/>
            <a:ext cx="6217920" cy="3836589"/>
          </a:xfrm>
          <a:prstGeom prst="rect">
            <a:avLst/>
          </a:prstGeom>
        </p:spPr>
      </p:pic>
      <p:sp>
        <p:nvSpPr>
          <p:cNvPr id="5" name="proof-num-1"/>
          <p:cNvSpPr txBox="1"/>
          <p:nvPr/>
        </p:nvSpPr>
        <p:spPr>
          <a:xfrm>
            <a:off x="7452360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130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Economy on every full fill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560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Distance since the last full fill ÷ fuel added, with an odometer reading.</a:t>
            </a:r>
            <a:endParaRPr lang="en-US" sz="1300" dirty="0"/>
          </a:p>
        </p:txBody>
      </p:sp>
      <p:sp>
        <p:nvSpPr>
          <p:cNvPr id="8" name="proof-num-2"/>
          <p:cNvSpPr txBox="1"/>
          <p:nvPr/>
        </p:nvSpPr>
        <p:spPr>
          <a:xfrm>
            <a:off x="7452360" y="3447288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3429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Compared with its own average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8587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Each vehicle against its 30-day average, not against the fleet.</a:t>
            </a:r>
            <a:endParaRPr lang="en-US" sz="1300" dirty="0"/>
          </a:p>
        </p:txBody>
      </p:sp>
      <p:sp>
        <p:nvSpPr>
          <p:cNvPr id="11" name="proof-num-3"/>
          <p:cNvSpPr txBox="1"/>
          <p:nvPr/>
        </p:nvSpPr>
        <p:spPr>
          <a:xfrm>
            <a:off x="7452360" y="4745736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092440" y="4727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Below 70%? Flagged Low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5157216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Worth checking for a vehicle problem or a logging error.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Rules you can check,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not promises</a:t>
            </a:r>
            <a:endParaRPr lang="en-US" sz="3200" dirty="0"/>
          </a:p>
        </p:txBody>
      </p:sp>
      <p:sp>
        <p:nvSpPr>
          <p:cNvPr id="3" name="stat-1"/>
          <p:cNvSpPr/>
          <p:nvPr/>
        </p:nvSpPr>
        <p:spPr>
          <a:xfrm>
            <a:off x="548640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70%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 flag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A full fill below 70% of the vehicle's 30-day average is flagged Low.</a:t>
            </a:r>
            <a:endParaRPr lang="en-US" sz="1250" dirty="0"/>
          </a:p>
        </p:txBody>
      </p:sp>
      <p:sp>
        <p:nvSpPr>
          <p:cNvPr id="7" name="stat-2"/>
          <p:cNvSpPr/>
          <p:nvPr/>
        </p:nvSpPr>
        <p:spPr>
          <a:xfrm>
            <a:off x="3355848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30168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Days ahead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Istimara, insurance and Fahes expiring within 30 days are listed on Home.</a:t>
            </a:r>
            <a:endParaRPr lang="en-US" sz="1250" dirty="0"/>
          </a:p>
        </p:txBody>
      </p:sp>
      <p:sp>
        <p:nvSpPr>
          <p:cNvPr id="11" name="stat-3"/>
          <p:cNvSpPr/>
          <p:nvPr/>
        </p:nvSpPr>
        <p:spPr>
          <a:xfrm>
            <a:off x="6163056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7376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15%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VAT built in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37376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Work orders and costs in SAR, with VAT added or split out.</a:t>
            </a:r>
            <a:endParaRPr lang="en-US" sz="1250" dirty="0"/>
          </a:p>
        </p:txBody>
      </p:sp>
      <p:sp>
        <p:nvSpPr>
          <p:cNvPr id="15" name="stat-4"/>
          <p:cNvSpPr/>
          <p:nvPr/>
        </p:nvSpPr>
        <p:spPr>
          <a:xfrm>
            <a:off x="8970264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44584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9244584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Service triggers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4584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km, engine hours or date, whichever comes first.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06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Each figure is a rule in the product, not a customer result.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How it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works</a:t>
            </a:r>
            <a:endParaRPr lang="en-US" sz="3200" dirty="0"/>
          </a:p>
        </p:txBody>
      </p:sp>
      <p:sp>
        <p:nvSpPr>
          <p:cNvPr id="3" name="step-1"/>
          <p:cNvSpPr/>
          <p:nvPr/>
        </p:nvSpPr>
        <p:spPr>
          <a:xfrm>
            <a:off x="548640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amera"/>
          <p:cNvSpPr/>
          <p:nvPr/>
        </p:nvSpPr>
        <p:spPr>
          <a:xfrm>
            <a:off x="868680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amera" descr="/home/user/Claude/fleetana-launch/brand/assets/icons/icon-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066" y="271942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  Capture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Drivers and operators log fuel, run inspections and report issues from any device.</a:t>
            </a:r>
            <a:endParaRPr lang="en-US" sz="1500" dirty="0"/>
          </a:p>
        </p:txBody>
      </p:sp>
      <p:pic>
        <p:nvPicPr>
          <p:cNvPr id="8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368" y="3776472"/>
            <a:ext cx="201168" cy="201168"/>
          </a:xfrm>
          <a:prstGeom prst="rect">
            <a:avLst/>
          </a:prstGeom>
        </p:spPr>
      </p:pic>
      <p:sp>
        <p:nvSpPr>
          <p:cNvPr id="9" name="step-2"/>
          <p:cNvSpPr/>
          <p:nvPr/>
        </p:nvSpPr>
        <p:spPr>
          <a:xfrm>
            <a:off x="4297680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0" name="icon-bg-box"/>
          <p:cNvSpPr/>
          <p:nvPr/>
        </p:nvSpPr>
        <p:spPr>
          <a:xfrm>
            <a:off x="4617720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1106" y="2719426"/>
            <a:ext cx="340157" cy="34015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17720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  Organise</a:t>
            </a:r>
            <a:endParaRPr lang="en-US" sz="21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Everything links to the right vehicle. Reminders come from your service programs.</a:t>
            </a:r>
            <a:endParaRPr lang="en-US" sz="1500" dirty="0"/>
          </a:p>
        </p:txBody>
      </p:sp>
      <p:pic>
        <p:nvPicPr>
          <p:cNvPr id="14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6408" y="3776472"/>
            <a:ext cx="201168" cy="201168"/>
          </a:xfrm>
          <a:prstGeom prst="rect">
            <a:avLst/>
          </a:prstGeom>
        </p:spPr>
      </p:pic>
      <p:sp>
        <p:nvSpPr>
          <p:cNvPr id="15" name="step-3"/>
          <p:cNvSpPr/>
          <p:nvPr/>
        </p:nvSpPr>
        <p:spPr>
          <a:xfrm>
            <a:off x="8046720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icon-bg-chart"/>
          <p:cNvSpPr/>
          <p:nvPr/>
        </p:nvSpPr>
        <p:spPr>
          <a:xfrm>
            <a:off x="8366760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0146" y="2719426"/>
            <a:ext cx="340157" cy="340157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366760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  Decide</a:t>
            </a:r>
            <a:endParaRPr lang="en-US" sz="2100" dirty="0"/>
          </a:p>
        </p:txBody>
      </p:sp>
      <p:sp>
        <p:nvSpPr>
          <p:cNvPr id="19" name="Text 12"/>
          <p:cNvSpPr txBox="1"/>
          <p:nvPr/>
        </p:nvSpPr>
        <p:spPr>
          <a:xfrm>
            <a:off x="8366760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Open Home or a vehicle to see what is due, what is overdue and what is expiring.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Built for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Saudi fleets</a:t>
            </a:r>
            <a:endParaRPr lang="en-US" sz="3200" dirty="0"/>
          </a:p>
        </p:txBody>
      </p:sp>
      <p:sp>
        <p:nvSpPr>
          <p:cNvPr id="3" name="chip-1"/>
          <p:cNvSpPr txBox="1"/>
          <p:nvPr/>
        </p:nvSpPr>
        <p:spPr>
          <a:xfrm>
            <a:off x="54864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Istimara</a:t>
            </a:r>
            <a:endParaRPr lang="en-US" sz="1500" dirty="0"/>
          </a:p>
        </p:txBody>
      </p:sp>
      <p:sp>
        <p:nvSpPr>
          <p:cNvPr id="4" name="chip-2"/>
          <p:cNvSpPr txBox="1"/>
          <p:nvPr/>
        </p:nvSpPr>
        <p:spPr>
          <a:xfrm>
            <a:off x="324612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Fahes</a:t>
            </a:r>
            <a:endParaRPr lang="en-US" sz="1500" dirty="0"/>
          </a:p>
        </p:txBody>
      </p:sp>
      <p:sp>
        <p:nvSpPr>
          <p:cNvPr id="5" name="chip-3"/>
          <p:cNvSpPr txBox="1"/>
          <p:nvPr/>
        </p:nvSpPr>
        <p:spPr>
          <a:xfrm>
            <a:off x="594360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Insurance</a:t>
            </a:r>
            <a:endParaRPr lang="en-US" sz="1500" dirty="0"/>
          </a:p>
        </p:txBody>
      </p:sp>
      <p:sp>
        <p:nvSpPr>
          <p:cNvPr id="6" name="chip-4"/>
          <p:cNvSpPr txBox="1"/>
          <p:nvPr/>
        </p:nvSpPr>
        <p:spPr>
          <a:xfrm>
            <a:off x="54864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SAR + 15% VAT</a:t>
            </a:r>
            <a:endParaRPr lang="en-US" sz="1500" dirty="0"/>
          </a:p>
        </p:txBody>
      </p:sp>
      <p:sp>
        <p:nvSpPr>
          <p:cNvPr id="7" name="chip-5"/>
          <p:cNvSpPr txBox="1"/>
          <p:nvPr/>
        </p:nvSpPr>
        <p:spPr>
          <a:xfrm>
            <a:off x="324612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km &amp; engine hours</a:t>
            </a:r>
            <a:endParaRPr lang="en-US" sz="1500" dirty="0"/>
          </a:p>
        </p:txBody>
      </p:sp>
      <p:sp>
        <p:nvSpPr>
          <p:cNvPr id="8" name="chip-6"/>
          <p:cNvSpPr txBox="1"/>
          <p:nvPr/>
        </p:nvSpPr>
        <p:spPr>
          <a:xfrm>
            <a:off x="594360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العربية · English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57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fleets of 10 to 50 vehicles</a:t>
            </a:r>
            <a:endParaRPr lang="en-US" sz="1800" dirty="0"/>
          </a:p>
        </p:txBody>
      </p:sp>
      <p:sp>
        <p:nvSpPr>
          <p:cNvPr id="10" name="icon-bg-truck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430682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3444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Delivery &amp; courier</a:t>
            </a:r>
            <a:endParaRPr lang="en-US" sz="1500" dirty="0"/>
          </a:p>
        </p:txBody>
      </p:sp>
      <p:sp>
        <p:nvSpPr>
          <p:cNvPr id="13" name="icon-bg-wrench"/>
          <p:cNvSpPr/>
          <p:nvPr/>
        </p:nvSpPr>
        <p:spPr>
          <a:xfrm>
            <a:off x="452628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4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430682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1208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Construction &amp; heavy equipment</a:t>
            </a:r>
            <a:endParaRPr lang="en-US" sz="1500" dirty="0"/>
          </a:p>
        </p:txBody>
      </p:sp>
      <p:sp>
        <p:nvSpPr>
          <p:cNvPr id="16" name="icon-bg-box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508406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Distribution &amp; retail</a:t>
            </a:r>
            <a:endParaRPr lang="en-US" sz="1500" dirty="0"/>
          </a:p>
        </p:txBody>
      </p:sp>
      <p:sp>
        <p:nvSpPr>
          <p:cNvPr id="19" name="icon-bg-users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508406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1208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Passenger &amp; school transport</a:t>
            </a:r>
            <a:endParaRPr lang="en-US" sz="1500" dirty="0"/>
          </a:p>
        </p:txBody>
      </p:sp>
      <p:sp>
        <p:nvSpPr>
          <p:cNvPr id="22" name="papers-card"/>
          <p:cNvSpPr/>
          <p:nvPr/>
        </p:nvSpPr>
        <p:spPr>
          <a:xfrm>
            <a:off x="8915400" y="2148840"/>
            <a:ext cx="2724912" cy="356616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3" name="Document expiry cards" descr="Document expiry car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2377440"/>
            <a:ext cx="2542032" cy="137918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098280" y="3977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Expiry dates live on each vehicle, and Home lists everything expiring in the next 30 days.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Proposal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How we would roll Fleetana out for you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Proposed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rollout</a:t>
            </a:r>
            <a:endParaRPr lang="en-US" sz="3200" dirty="0"/>
          </a:p>
        </p:txBody>
      </p:sp>
      <p:graphicFrame>
        <p:nvGraphicFramePr>
          <p:cNvPr id="14" name="rollou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2011680"/>
                <a:gridCol w="158191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Phase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happens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Week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Set up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 vehicles, drivers, documents and team members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Your team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 programs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Choose service tasks and intervals from the default set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Together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1–2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use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Log fuel, run inspections and raise issues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Your drivers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2–4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Review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Walk through what is due, overdue and expiring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Together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Example plan. Adjust phases, owners and weeks to the client.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atement-card"/>
          <p:cNvSpPr/>
          <p:nvPr/>
        </p:nvSpPr>
        <p:spPr>
          <a:xfrm>
            <a:off x="548640" y="1783080"/>
            <a:ext cx="11094415" cy="3566160"/>
          </a:xfrm>
          <a:prstGeom prst="roundRect">
            <a:avLst>
              <a:gd name="adj" fmla="val 3077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88720" y="2240280"/>
            <a:ext cx="981425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Log the odometer.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0051D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flag the rest.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434340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3A8A"/>
                </a:solidFill>
              </a:rPr>
              <a:t>Fleetana does the arithmetic and the remembering. Your team does the driving.</a:t>
            </a:r>
            <a:endParaRPr lang="en-US" sz="17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Next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steps</a:t>
            </a:r>
            <a:endParaRPr lang="en-US" sz="3200" dirty="0"/>
          </a:p>
        </p:txBody>
      </p:sp>
      <p:sp>
        <p:nvSpPr>
          <p:cNvPr id="3" name="next-num-1"/>
          <p:cNvSpPr txBox="1"/>
          <p:nvPr/>
        </p:nvSpPr>
        <p:spPr>
          <a:xfrm>
            <a:off x="548640" y="2148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2112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Agree the scope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2532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Vehicles, sites and the people who will use Fleetana.</a:t>
            </a:r>
            <a:endParaRPr lang="en-US" sz="1400" dirty="0"/>
          </a:p>
        </p:txBody>
      </p:sp>
      <p:sp>
        <p:nvSpPr>
          <p:cNvPr id="6" name="next-num-2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3255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Set up your workspace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3675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Vehicles, drivers and document dates added in week one.</a:t>
            </a:r>
            <a:endParaRPr lang="en-US" sz="1400" dirty="0"/>
          </a:p>
        </p:txBody>
      </p:sp>
      <p:sp>
        <p:nvSpPr>
          <p:cNvPr id="9" name="next-num-3"/>
          <p:cNvSpPr txBox="1"/>
          <p:nvPr/>
        </p:nvSpPr>
        <p:spPr>
          <a:xfrm>
            <a:off x="548640" y="4434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4398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Review together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4818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After four weeks, review what is due, overdue and expiring.</a:t>
            </a:r>
            <a:endParaRPr lang="en-US" sz="1400" dirty="0"/>
          </a:p>
        </p:txBody>
      </p:sp>
      <p:sp>
        <p:nvSpPr>
          <p:cNvPr id="12" name="contact-card"/>
          <p:cNvSpPr/>
          <p:nvPr/>
        </p:nvSpPr>
        <p:spPr>
          <a:xfrm>
            <a:off x="7863840" y="2103120"/>
            <a:ext cx="37764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18388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51D5"/>
                </a:solidFill>
              </a:rPr>
              <a:t>CONTACT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28346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000000"/>
                </a:solidFill>
              </a:rPr>
              <a:t>Full name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Role, Fleetana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name@fleetana.sa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+966 5X XXX XXXX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51D5"/>
                </a:solidFill>
              </a:rPr>
              <a:t>fleetana.sa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Get your fleet off spreadsheets.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1D5"/>
                </a:solidFill>
              </a:rPr>
              <a:t>fleetana.sa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etana">
  <a:themeElements>
    <a:clrScheme name="Fleetana">
      <a:dk1>
        <a:srgbClr val="0F172A"/>
      </a:dk1>
      <a:lt1>
        <a:srgbClr val="FFFFFF"/>
      </a:lt1>
      <a:dk2>
        <a:srgbClr val="000000"/>
      </a:dk2>
      <a:lt2>
        <a:srgbClr val="F7F9FB"/>
      </a:lt2>
      <a:accent1>
        <a:srgbClr val="2A89FA"/>
      </a:accent1>
      <a:accent2>
        <a:srgbClr val="0051D5"/>
      </a:accent2>
      <a:accent3>
        <a:srgbClr val="16A34A"/>
      </a:accent3>
      <a:accent4>
        <a:srgbClr val="D97706"/>
      </a:accent4>
      <a:accent5>
        <a:srgbClr val="EF4444"/>
      </a:accent5>
      <a:accent6>
        <a:srgbClr val="1E3A8A"/>
      </a:accent6>
      <a:hlink>
        <a:srgbClr val="0051D5"/>
      </a:hlink>
      <a:folHlink>
        <a:srgbClr val="1E3A8A"/>
      </a:folHlink>
    </a:clrScheme>
    <a:fontScheme name="Fleetana">
      <a:majorFont>
        <a:latin typeface="Hanken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Fleetana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Fleetana — company profile</dc:title>
  <dc:subject>PptxGenJS Presentation</dc:subject>
  <dc:creator>Fleetana</dc:creator>
  <cp:lastModifiedBy>Fleetana</cp:lastModifiedBy>
  <cp:revision>1</cp:revision>
  <dcterms:created xsi:type="dcterms:W3CDTF">2026-10-23T07:48:20Z</dcterms:created>
  <dcterms:modified xsi:type="dcterms:W3CDTF">2026-10-23T07:48:20Z</dcterms:modified>
</cp:coreProperties>
</file>