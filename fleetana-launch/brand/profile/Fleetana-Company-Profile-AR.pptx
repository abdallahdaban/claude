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ن نحن" id="{57395a9d-14c3-f18e-c621-2c9f6e61592f}">
          <p14:sldIdLst>
            <p14:sldId id="256"/>
            <p14:sldId id="257"/>
            <p14:sldId id="258"/>
          </p14:sldIdLst>
        </p14:section>
        <p14:section name="المشكلة" id="{5db43ae1-a80b-3bae-6572-fdb2105eb4ed}">
          <p14:sldIdLst>
            <p14:sldId id="259"/>
            <p14:sldId id="260"/>
          </p14:sldIdLst>
        </p14:section>
        <p14:section name="الحل" id="{1b5a527d-ec50-5f2a-2d1f-3eb630576391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أجهزة التتبع" id="{b78ea642-ae7f-d3be-8503-075e2a73db6d}">
          <p14:sldIdLst>
            <p14:sldId id="268"/>
            <p14:sldId id="269"/>
            <p14:sldId id="270"/>
          </p14:sldIdLst>
        </p14:section>
        <p14:section name="التوفير" id="{f56f2117-d295-b584-c8c0-6fde11397fea}">
          <p14:sldIdLst>
            <p14:sldId id="271"/>
            <p14:sldId id="272"/>
          </p14:sldIdLst>
        </p14:section>
        <p14:section name="العمل معنا" id="{971097bd-72de-05c5-99df-d81d0856c3d2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الملف التعريفي لفليتانا للعملاء المحتملين.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النظام والأجهزة من شريك سعودي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السطرين بصوت واضح ودعهما يتحدثان.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العميل: أي هذه الأربع يشبه أسبوعه أكثر؟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العرض كله في شريحة واحدة: الجهاز، والنظام، والنتيجة.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الوحدات الست. الشرائح التالية تتعمق فيها.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يعمل بجهاز تتبع فليتانا في كل مركبة.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في الصورة بيانات توضيحية.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الخريطة والمسافات بيانات توضيحية.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بيانات توضيحية على الشاشة.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نوفّر الجهازين ونركّبهما وندعمهما.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الأساطيل المختلطة تستخدم الجهازين غالبًا: FMC003 للمركبات الخفيفة وR12L للثقيلة.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أين يأتي التوفير. كل بند إجراء يتخذه العميل بناءً على ما يُظهره فليتانا.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عدّل القطاعات حسب العميل.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معظم الإعداد يتم في الأسبوع الأول.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مؤسسين، فريق واحد: العمليات، والمنتج، وتطوير الأعمال، والعملاء.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divider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026" y="548640"/>
            <a:ext cx="2792029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327855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400" b="1" dirty="0">
                <a:solidFill>
                  <a:srgbClr val="0051D5"/>
                </a:solidFill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333695" y="237744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95000"/>
              </a:lnSpc>
              <a:buNone/>
              <a:defRPr lang="en-US" sz="48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333695" y="448056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000" dirty="0">
                <a:solidFill>
                  <a:srgbClr val="45464D"/>
                </a:solidFill>
              </a:defRPr>
            </a:lvl1pPr>
          </a:lstStyle>
          <a:p>
            <a:pPr algn="r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3230575" y="5989320"/>
            <a:ext cx="8412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4748B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4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1E3A8A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057400"/>
            <a:ext cx="1109441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Aft>
                <a:spcPts val="800"/>
              </a:spcAft>
              <a:buNone/>
              <a:defRPr lang="en-US" sz="1800" dirty="0">
                <a:solidFill>
                  <a:srgbClr val="0F172A"/>
                </a:solidFill>
              </a:defRPr>
            </a:lvl1pPr>
          </a:lstStyle>
          <a:p>
            <a:pPr algn="r" indent="0" marL="0">
              <a:spcAft>
                <a:spcPts val="8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691640"/>
            <a:ext cx="4206240" cy="5785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000000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0051D5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5.png"/><Relationship Id="rId7" Type="http://schemas.openxmlformats.org/officeDocument/2006/relationships/image" Target="../media/image-18-5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327855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51D5"/>
                </a:solidFill>
              </a:rPr>
              <a:t>الملف التعريفي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333695" y="23774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أسطولك كله.</a:t>
            </a:r>
            <a:endParaRPr lang="en-US" sz="4800" dirty="0"/>
          </a:p>
          <a:p>
            <a:pPr rtl="1" algn="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51D5"/>
                </a:solidFill>
              </a:rPr>
              <a:t>في مكان واحد.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333695" y="4480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45464D"/>
                </a:solidFill>
              </a:rPr>
              <a:t>رؤية كاملة لأسطولك وتكاليفه، صُمّمت للأساطيل السعودية</a:t>
            </a:r>
            <a:endParaRPr lang="en-US" sz="2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30575" y="5989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فليتانا · 2026 · fleetana.sa</a:t>
            </a:r>
            <a:endParaRPr lang="en-US" sz="1200" dirty="0"/>
          </a:p>
        </p:txBody>
      </p:sp>
      <p:sp>
        <p:nvSpPr>
          <p:cNvPr id="6" name="cover-map-card"/>
          <p:cNvSpPr/>
          <p:nvPr/>
        </p:nvSpPr>
        <p:spPr>
          <a:xfrm>
            <a:off x="551383" y="1554480"/>
            <a:ext cx="437083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Fleet map" descr="Flee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" y="1664208"/>
            <a:ext cx="4151376" cy="2428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من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نحن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08015" y="21945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فليتانا نظام لإدارة الأساطيل، صُمّم في المملكة العربية السعودية لمن يديرون المركبات.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608015" y="3520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منصة واحدة للمركبات والسائقين والمسارات والوقود والصيانة والفحوصات وأوامر العمل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يُظهر ما تفعله كل مركبة، وكم تكلّف كل مركبة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أجهزة تتبع نوفّرها ونركّبها بفريقنا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تطبيق ويب للمديرين وتطبيق جوال للسائقين، بالعربية والإنجليزية</a:t>
            </a:r>
            <a:endParaRPr lang="en-US" sz="1600" dirty="0"/>
          </a:p>
        </p:txBody>
      </p:sp>
      <p:sp>
        <p:nvSpPr>
          <p:cNvPr id="5" name="fact-1"/>
          <p:cNvSpPr/>
          <p:nvPr/>
        </p:nvSpPr>
        <p:spPr>
          <a:xfrm>
            <a:off x="2910535" y="219456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139135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51D5"/>
                </a:solidFill>
              </a:rPr>
              <a:t>سنة التأسيس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39135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2026</a:t>
            </a:r>
            <a:endParaRPr lang="en-US" sz="2000" dirty="0"/>
          </a:p>
        </p:txBody>
      </p:sp>
      <p:sp>
        <p:nvSpPr>
          <p:cNvPr id="8" name="fact-2"/>
          <p:cNvSpPr/>
          <p:nvPr/>
        </p:nvSpPr>
        <p:spPr>
          <a:xfrm>
            <a:off x="578815" y="219456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7415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51D5"/>
                </a:solidFill>
              </a:rPr>
              <a:t>المقر الرئيسي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7415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الرياض، المملكة العربية السعودية</a:t>
            </a:r>
            <a:endParaRPr lang="en-US" sz="2000" dirty="0"/>
          </a:p>
        </p:txBody>
      </p:sp>
      <p:sp>
        <p:nvSpPr>
          <p:cNvPr id="11" name="fact-3"/>
          <p:cNvSpPr/>
          <p:nvPr/>
        </p:nvSpPr>
        <p:spPr>
          <a:xfrm>
            <a:off x="2910535" y="388620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39135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51D5"/>
                </a:solidFill>
              </a:rPr>
              <a:t>السجل التجاري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39135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7051877566</a:t>
            </a:r>
            <a:endParaRPr lang="en-US" sz="2000" dirty="0"/>
          </a:p>
        </p:txBody>
      </p:sp>
      <p:sp>
        <p:nvSpPr>
          <p:cNvPr id="14" name="fact-4"/>
          <p:cNvSpPr/>
          <p:nvPr/>
        </p:nvSpPr>
        <p:spPr>
          <a:xfrm>
            <a:off x="578815" y="388620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7415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51D5"/>
                </a:solidFill>
              </a:rPr>
              <a:t>اللغات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· English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الرؤية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والرسالة</a:t>
            </a:r>
            <a:endParaRPr lang="en-US" sz="3200" dirty="0"/>
          </a:p>
        </p:txBody>
      </p:sp>
      <p:sp>
        <p:nvSpPr>
          <p:cNvPr id="3" name="vm-1"/>
          <p:cNvSpPr/>
          <p:nvPr/>
        </p:nvSpPr>
        <p:spPr>
          <a:xfrm>
            <a:off x="6248095" y="21945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hart"/>
          <p:cNvSpPr/>
          <p:nvPr/>
        </p:nvSpPr>
        <p:spPr>
          <a:xfrm>
            <a:off x="10664647" y="25603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8033" y="267370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59575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51D5"/>
                </a:solidFill>
              </a:rPr>
              <a:t>الرؤية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659575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أن تُدار كل الأساطيل السعودية بالحقائق، بدورة حياة فعّالة ومُحسَّنة.</a:t>
            </a:r>
            <a:endParaRPr lang="en-US" sz="2600" dirty="0"/>
          </a:p>
        </p:txBody>
      </p:sp>
      <p:sp>
        <p:nvSpPr>
          <p:cNvPr id="8" name="vm-2"/>
          <p:cNvSpPr/>
          <p:nvPr/>
        </p:nvSpPr>
        <p:spPr>
          <a:xfrm>
            <a:off x="624535" y="21945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check"/>
          <p:cNvSpPr/>
          <p:nvPr/>
        </p:nvSpPr>
        <p:spPr>
          <a:xfrm>
            <a:off x="5041087" y="25603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73" y="267370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36015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51D5"/>
                </a:solidFill>
              </a:rPr>
              <a:t>الرسالة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36015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مكان واحد ترى فيه كل مركبة، وتكلفتها، ومهمتها التالية، وتنفيذها.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المشكلة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أساطيل تُدار بجداول البيانات والإيصالات والذاكرة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أين تذهب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أموال أسطولك؟</a:t>
            </a:r>
            <a:endParaRPr lang="en-US" sz="3200" dirty="0"/>
          </a:p>
        </p:txBody>
      </p:sp>
      <p:sp>
        <p:nvSpPr>
          <p:cNvPr id="3" name="card4-1"/>
          <p:cNvSpPr/>
          <p:nvPr/>
        </p:nvSpPr>
        <p:spPr>
          <a:xfrm>
            <a:off x="9037015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lipboard"/>
          <p:cNvSpPr/>
          <p:nvPr/>
        </p:nvSpPr>
        <p:spPr>
          <a:xfrm>
            <a:off x="10801807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193" y="262798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11335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جداول البيانات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311335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مواعيد الصيانة واللوحات وتواريخ الاستمارة في ملفات لا تُحدَّث في وقتها.</a:t>
            </a:r>
            <a:endParaRPr lang="en-US" sz="1400" dirty="0"/>
          </a:p>
        </p:txBody>
      </p:sp>
      <p:sp>
        <p:nvSpPr>
          <p:cNvPr id="8" name="card4-2"/>
          <p:cNvSpPr/>
          <p:nvPr/>
        </p:nvSpPr>
        <p:spPr>
          <a:xfrm>
            <a:off x="6229807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fuel"/>
          <p:cNvSpPr/>
          <p:nvPr/>
        </p:nvSpPr>
        <p:spPr>
          <a:xfrm>
            <a:off x="7994599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985" y="262798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04127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الإيصالات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4127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مصاريف الوقود والإصلاح في الأدراج والصور، فتمر التعبئة غير المعتادة دون انتباه.</a:t>
            </a:r>
            <a:endParaRPr lang="en-US" sz="1400" dirty="0"/>
          </a:p>
        </p:txBody>
      </p:sp>
      <p:sp>
        <p:nvSpPr>
          <p:cNvPr id="13" name="card4-3"/>
          <p:cNvSpPr/>
          <p:nvPr/>
        </p:nvSpPr>
        <p:spPr>
          <a:xfrm>
            <a:off x="3422599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pin"/>
          <p:cNvSpPr/>
          <p:nvPr/>
        </p:nvSpPr>
        <p:spPr>
          <a:xfrm>
            <a:off x="5187391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777" y="262798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96919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نقاط عمياء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696919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لا أحد يعرف أي طريق سلكته المركبة، ولا كم بقيت متوقفة والمحرك يعمل.</a:t>
            </a:r>
            <a:endParaRPr lang="en-US" sz="1400" dirty="0"/>
          </a:p>
        </p:txBody>
      </p:sp>
      <p:sp>
        <p:nvSpPr>
          <p:cNvPr id="18" name="card4-4"/>
          <p:cNvSpPr/>
          <p:nvPr/>
        </p:nvSpPr>
        <p:spPr>
          <a:xfrm>
            <a:off x="615391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bell"/>
          <p:cNvSpPr/>
          <p:nvPr/>
        </p:nvSpPr>
        <p:spPr>
          <a:xfrm>
            <a:off x="2380183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bell" descr="/home/user/Claude/fleetana-launch/brand/assets/icons/icon-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569" y="262798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9711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محادثات الواتساب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الفحوصات والأعطال والموافقات في المحادثات، ولا شيء مرتبط بالمركبة.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الحل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النظام وأجهزة التتبع من شريك واحد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كيف يعمل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فليتانا</a:t>
            </a:r>
            <a:endParaRPr lang="en-US" sz="3200" dirty="0"/>
          </a:p>
        </p:txBody>
      </p:sp>
      <p:sp>
        <p:nvSpPr>
          <p:cNvPr id="3" name="how-1"/>
          <p:cNvSpPr/>
          <p:nvPr/>
        </p:nvSpPr>
        <p:spPr>
          <a:xfrm>
            <a:off x="8214055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evice-fmc003" descr="fmc0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268" y="2377440"/>
            <a:ext cx="1225868" cy="1188720"/>
          </a:xfrm>
          <a:prstGeom prst="rect">
            <a:avLst/>
          </a:prstGeom>
        </p:spPr>
      </p:pic>
      <p:pic>
        <p:nvPicPr>
          <p:cNvPr id="5" name="device-r12l" descr="r12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039" y="2304288"/>
            <a:ext cx="395016" cy="1325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88375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51D5"/>
                </a:solidFill>
              </a:rPr>
              <a:t>في كل مركبة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488375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جهاز التتبع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488375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نوفّر ونركّب الجهاز المناسب لكل مركبة، من البيك أب إلى الشاحنات الثقيلة.</a:t>
            </a:r>
            <a:endParaRPr lang="en-US" sz="1350" dirty="0"/>
          </a:p>
        </p:txBody>
      </p:sp>
      <p:pic>
        <p:nvPicPr>
          <p:cNvPr id="9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944307" y="3931920"/>
            <a:ext cx="219456" cy="219456"/>
          </a:xfrm>
          <a:prstGeom prst="rect">
            <a:avLst/>
          </a:prstGeom>
        </p:spPr>
      </p:pic>
      <p:sp>
        <p:nvSpPr>
          <p:cNvPr id="10" name="how-2"/>
          <p:cNvSpPr/>
          <p:nvPr/>
        </p:nvSpPr>
        <p:spPr>
          <a:xfrm>
            <a:off x="4465015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1" name="Fleetana platform" descr="Fleetana platfo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335" y="2377440"/>
            <a:ext cx="2880360" cy="168531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739335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51D5"/>
                </a:solidFill>
              </a:rPr>
              <a:t>على منصة واحدة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4739335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فليتانا على الويب والجوال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4739335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الموقع والرحلات والوقود والصيانة والتكاليف في مكان واحد، لكل مركبة.</a:t>
            </a:r>
            <a:endParaRPr lang="en-US" sz="1350" dirty="0"/>
          </a:p>
        </p:txBody>
      </p:sp>
      <p:pic>
        <p:nvPicPr>
          <p:cNvPr id="15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195267" y="3931920"/>
            <a:ext cx="219456" cy="219456"/>
          </a:xfrm>
          <a:prstGeom prst="rect">
            <a:avLst/>
          </a:prstGeom>
        </p:spPr>
      </p:pic>
      <p:sp>
        <p:nvSpPr>
          <p:cNvPr id="16" name="how-3"/>
          <p:cNvSpPr/>
          <p:nvPr/>
        </p:nvSpPr>
        <p:spPr>
          <a:xfrm>
            <a:off x="715975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7" name="Cost per vehicle" descr="Cost per vehi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95" y="2377440"/>
            <a:ext cx="2880360" cy="168531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90295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51D5"/>
                </a:solidFill>
              </a:rPr>
              <a:t>في قراراتك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990295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ارَ، قرّر، وفّر</a:t>
            </a:r>
            <a:endParaRPr lang="en-US" sz="1900" dirty="0"/>
          </a:p>
        </p:txBody>
      </p:sp>
      <p:sp>
        <p:nvSpPr>
          <p:cNvPr id="20" name="Text 12"/>
          <p:cNvSpPr txBox="1"/>
          <p:nvPr/>
        </p:nvSpPr>
        <p:spPr>
          <a:xfrm>
            <a:off x="990295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اكشف الهدر، وتصرّف، وشاهد تكلفة كل مركبة تنخفض.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كل ما يتعلق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بأسطولك</a:t>
            </a:r>
            <a:endParaRPr lang="en-US" sz="3200" dirty="0"/>
          </a:p>
        </p:txBody>
      </p:sp>
      <p:sp>
        <p:nvSpPr>
          <p:cNvPr id="3" name="tile-1"/>
          <p:cNvSpPr/>
          <p:nvPr/>
        </p:nvSpPr>
        <p:spPr>
          <a:xfrm>
            <a:off x="812261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truck"/>
          <p:cNvSpPr/>
          <p:nvPr/>
        </p:nvSpPr>
        <p:spPr>
          <a:xfrm>
            <a:off x="1085667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9084" y="247985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121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المركبات والوثائق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39693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اللوحات والسائقون والاستمارة والتأمين والفحص الدوري لكل مركبة.</a:t>
            </a:r>
            <a:endParaRPr lang="en-US" sz="1300" dirty="0"/>
          </a:p>
        </p:txBody>
      </p:sp>
      <p:sp>
        <p:nvSpPr>
          <p:cNvPr id="8" name="tile-2"/>
          <p:cNvSpPr/>
          <p:nvPr/>
        </p:nvSpPr>
        <p:spPr>
          <a:xfrm>
            <a:off x="437357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710763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44" y="247985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17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الصيانة والوقاية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4789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برامج بالكيلومترات أو ساعات التشغيل أو التاريخ، مع القادم والمتأخر بنظرة.</a:t>
            </a:r>
            <a:endParaRPr lang="en-US" sz="1300" dirty="0"/>
          </a:p>
        </p:txBody>
      </p:sp>
      <p:sp>
        <p:nvSpPr>
          <p:cNvPr id="13" name="tile-3"/>
          <p:cNvSpPr/>
          <p:nvPr/>
        </p:nvSpPr>
        <p:spPr>
          <a:xfrm>
            <a:off x="62453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fuel"/>
          <p:cNvSpPr/>
          <p:nvPr/>
        </p:nvSpPr>
        <p:spPr>
          <a:xfrm>
            <a:off x="335859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04" y="24798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313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الوقود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9885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كم/لتر لكل تعبئة كاملة، والتعبئة غير المعتادة تظهر بعلامة «منخفض».</a:t>
            </a:r>
            <a:endParaRPr lang="en-US" sz="1300" dirty="0"/>
          </a:p>
        </p:txBody>
      </p:sp>
      <p:sp>
        <p:nvSpPr>
          <p:cNvPr id="18" name="tile-4"/>
          <p:cNvSpPr/>
          <p:nvPr/>
        </p:nvSpPr>
        <p:spPr>
          <a:xfrm>
            <a:off x="812261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lipboard"/>
          <p:cNvSpPr/>
          <p:nvPr/>
        </p:nvSpPr>
        <p:spPr>
          <a:xfrm>
            <a:off x="1085667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84" y="44915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5121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الفحوصات والبلاغات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396935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قوائم فحص مخصصة مع الصور، والبند الفاشل يفتح بلاغًا.</a:t>
            </a:r>
            <a:endParaRPr lang="en-US" sz="1300" dirty="0"/>
          </a:p>
        </p:txBody>
      </p:sp>
      <p:sp>
        <p:nvSpPr>
          <p:cNvPr id="23" name="tile-5"/>
          <p:cNvSpPr/>
          <p:nvPr/>
        </p:nvSpPr>
        <p:spPr>
          <a:xfrm>
            <a:off x="437357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icon-bg-check"/>
          <p:cNvSpPr/>
          <p:nvPr/>
        </p:nvSpPr>
        <p:spPr>
          <a:xfrm>
            <a:off x="710763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5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4491533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0217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أوامر العمل والقطع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647895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القطع والعمالة والرسوم، مع ضريبة 15٪ وخطوات الاعتماد.</a:t>
            </a:r>
            <a:endParaRPr lang="en-US" sz="1300" dirty="0"/>
          </a:p>
        </p:txBody>
      </p:sp>
      <p:sp>
        <p:nvSpPr>
          <p:cNvPr id="28" name="tile-6"/>
          <p:cNvSpPr/>
          <p:nvPr/>
        </p:nvSpPr>
        <p:spPr>
          <a:xfrm>
            <a:off x="62453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9" name="icon-bg-pin"/>
          <p:cNvSpPr/>
          <p:nvPr/>
        </p:nvSpPr>
        <p:spPr>
          <a:xfrm>
            <a:off x="335859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30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004" y="4491533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313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الخريطة والمسارات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98855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المواقع المباشرة وإعادة الرحلات والمسارات المُحسَّنة وأداء السائقين.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اعرف ما تفعله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كل مركبة</a:t>
            </a:r>
            <a:endParaRPr lang="en-US" sz="3200" dirty="0"/>
          </a:p>
        </p:txBody>
      </p:sp>
      <p:sp>
        <p:nvSpPr>
          <p:cNvPr id="3" name="icon-bg-pin"/>
          <p:cNvSpPr/>
          <p:nvPr/>
        </p:nvSpPr>
        <p:spPr>
          <a:xfrm>
            <a:off x="11130991" y="21488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4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404" y="2251253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05295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خريطة الأسطول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705295" y="2496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كل مركبة: تتحرك، أو خاملة، أو متوقفة، أو بلا إشارة، وتُحدَّث كل بضع ثوانٍ.</a:t>
            </a:r>
            <a:endParaRPr lang="en-US" sz="1300" dirty="0"/>
          </a:p>
        </p:txBody>
      </p:sp>
      <p:sp>
        <p:nvSpPr>
          <p:cNvPr id="7" name="icon-bg-chart"/>
          <p:cNvSpPr/>
          <p:nvPr/>
        </p:nvSpPr>
        <p:spPr>
          <a:xfrm>
            <a:off x="11130991" y="3081528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8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404" y="31839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05295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إعادة الرحلات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705295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شاهد الطريق الذي سلكته كل مركبة فعليًا، محطة بمحطة.</a:t>
            </a:r>
            <a:endParaRPr lang="en-US" sz="1300" dirty="0"/>
          </a:p>
        </p:txBody>
      </p:sp>
      <p:sp>
        <p:nvSpPr>
          <p:cNvPr id="11" name="icon-bg-alert"/>
          <p:cNvSpPr/>
          <p:nvPr/>
        </p:nvSpPr>
        <p:spPr>
          <a:xfrm>
            <a:off x="11130991" y="4014216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2" name="icon-alert" descr="/home/user/Claude/fleetana-launch/brand/assets/icons/icon-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404" y="4116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05295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وقت الخمول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705295" y="4361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دقائق تشغيل المحرك والمركبة متوقفة، لكل رحلة ولكل يوم.</a:t>
            </a:r>
            <a:endParaRPr lang="en-US" sz="1300" dirty="0"/>
          </a:p>
        </p:txBody>
      </p:sp>
      <p:sp>
        <p:nvSpPr>
          <p:cNvPr id="15" name="icon-bg-users"/>
          <p:cNvSpPr/>
          <p:nvPr/>
        </p:nvSpPr>
        <p:spPr>
          <a:xfrm>
            <a:off x="11130991" y="4946904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6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404" y="5049317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05295" y="4928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أداء السائقين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705295" y="52943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القيادة العنيفة والسرعة الزائدة والحوادث في تقييم من 0 إلى 100.</a:t>
            </a:r>
            <a:endParaRPr lang="en-US" sz="1300" dirty="0"/>
          </a:p>
        </p:txBody>
      </p:sp>
      <p:sp>
        <p:nvSpPr>
          <p:cNvPr id="19" name="card-map"/>
          <p:cNvSpPr/>
          <p:nvPr/>
        </p:nvSpPr>
        <p:spPr>
          <a:xfrm>
            <a:off x="551383" y="2103120"/>
            <a:ext cx="6016752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0" name="Live map" descr="Live m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" y="2212848"/>
            <a:ext cx="5797296" cy="3392035"/>
          </a:xfrm>
          <a:prstGeom prst="rect">
            <a:avLst/>
          </a:prstGeom>
        </p:spPr>
      </p:pic>
      <p:sp>
        <p:nvSpPr>
          <p:cNvPr id="21" name="pill-جهاز تتبع فليتانا"/>
          <p:cNvSpPr txBox="1"/>
          <p:nvPr/>
        </p:nvSpPr>
        <p:spPr>
          <a:xfrm>
            <a:off x="4190695" y="58704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جهاز تتبع فليتانا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اعرف أين تذهب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أموال أسطولك فعلًا</a:t>
            </a:r>
            <a:endParaRPr lang="en-US" sz="3200" dirty="0"/>
          </a:p>
        </p:txBody>
      </p:sp>
      <p:sp>
        <p:nvSpPr>
          <p:cNvPr id="3" name="card-costs"/>
          <p:cNvSpPr/>
          <p:nvPr/>
        </p:nvSpPr>
        <p:spPr>
          <a:xfrm>
            <a:off x="5333695" y="2103120"/>
            <a:ext cx="6309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Vehicle cost breakdown" descr="Vehicle cost break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423" y="2176272"/>
            <a:ext cx="6089904" cy="3563242"/>
          </a:xfrm>
          <a:prstGeom prst="rect">
            <a:avLst/>
          </a:prstGeom>
        </p:spPr>
      </p:pic>
      <p:sp>
        <p:nvSpPr>
          <p:cNvPr id="5" name="num-1"/>
          <p:cNvSpPr txBox="1"/>
          <p:nvPr/>
        </p:nvSpPr>
        <p:spPr>
          <a:xfrm>
            <a:off x="4465015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51383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تكلفة كل مركبة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51383" y="2542032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الوقود والصيانة وأوامر العمل تُجمع لكل مركبة بالريال، مع التكلفة لكل كيلومتر.</a:t>
            </a:r>
            <a:endParaRPr lang="en-US" sz="1300" dirty="0"/>
          </a:p>
        </p:txBody>
      </p:sp>
      <p:sp>
        <p:nvSpPr>
          <p:cNvPr id="8" name="num-2"/>
          <p:cNvSpPr txBox="1"/>
          <p:nvPr/>
        </p:nvSpPr>
        <p:spPr>
          <a:xfrm>
            <a:off x="4465015" y="3136392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51383" y="311810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تعبئة غير معتادة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51383" y="3529584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التعبئة الكاملة الأقل من 70٪ من متوسط المركبة خلال 30 يومًا تظهر بعلامة «منخفض».</a:t>
            </a:r>
            <a:endParaRPr lang="en-US" sz="1300" dirty="0"/>
          </a:p>
        </p:txBody>
      </p:sp>
      <p:sp>
        <p:nvSpPr>
          <p:cNvPr id="11" name="num-3"/>
          <p:cNvSpPr txBox="1"/>
          <p:nvPr/>
        </p:nvSpPr>
        <p:spPr>
          <a:xfrm>
            <a:off x="4465015" y="4123944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51383" y="4105656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ريال مفصّل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51383" y="4517136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أوامر العمل تفصل القطع والعمالة والرسوم، مع ضريبة 15٪.</a:t>
            </a:r>
            <a:endParaRPr lang="en-US" sz="1300" dirty="0"/>
          </a:p>
        </p:txBody>
      </p:sp>
      <p:sp>
        <p:nvSpPr>
          <p:cNvPr id="14" name="num-4"/>
          <p:cNvSpPr txBox="1"/>
          <p:nvPr/>
        </p:nvSpPr>
        <p:spPr>
          <a:xfrm>
            <a:off x="4465015" y="5111496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51383" y="509320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الضمان محفوظ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51383" y="5504688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تحقّق من الضمان قبل أن تدفع ثمن الإصلاح نفسه مرتين.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مسارات أقصر،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ووقود أقل</a:t>
            </a:r>
            <a:endParaRPr lang="en-US" sz="3200" dirty="0"/>
          </a:p>
        </p:txBody>
      </p:sp>
      <p:sp>
        <p:nvSpPr>
          <p:cNvPr id="3" name="card-route"/>
          <p:cNvSpPr/>
          <p:nvPr/>
        </p:nvSpPr>
        <p:spPr>
          <a:xfrm>
            <a:off x="5333695" y="2103120"/>
            <a:ext cx="6309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riven route vs optimised route" descr="Driven route vs optimised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423" y="2176272"/>
            <a:ext cx="6089904" cy="3563242"/>
          </a:xfrm>
          <a:prstGeom prst="rect">
            <a:avLst/>
          </a:prstGeom>
        </p:spPr>
      </p:pic>
      <p:sp>
        <p:nvSpPr>
          <p:cNvPr id="5" name="num-1"/>
          <p:cNvSpPr txBox="1"/>
          <p:nvPr/>
        </p:nvSpPr>
        <p:spPr>
          <a:xfrm>
            <a:off x="4465015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51383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مسارات مُحسَّنة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51383" y="254203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يرتّب فليتانا محطاتك في أقصر مسار قبل أن تنطلق المركبة.</a:t>
            </a:r>
            <a:endParaRPr lang="en-US" sz="1300" dirty="0"/>
          </a:p>
        </p:txBody>
      </p:sp>
      <p:sp>
        <p:nvSpPr>
          <p:cNvPr id="8" name="num-2"/>
          <p:cNvSpPr txBox="1"/>
          <p:nvPr/>
        </p:nvSpPr>
        <p:spPr>
          <a:xfrm>
            <a:off x="4465015" y="333756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51383" y="331927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المخطط مقابل الفعلي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51383" y="373075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قارن المسار الذي خططت له بالمسار الذي سُلك فعلًا.</a:t>
            </a:r>
            <a:endParaRPr lang="en-US" sz="1300" dirty="0"/>
          </a:p>
        </p:txBody>
      </p:sp>
      <p:sp>
        <p:nvSpPr>
          <p:cNvPr id="11" name="num-3"/>
          <p:cNvSpPr txBox="1"/>
          <p:nvPr/>
        </p:nvSpPr>
        <p:spPr>
          <a:xfrm>
            <a:off x="4465015" y="452628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51383" y="450799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كيلومترات أقل هدرًا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51383" y="491947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كل كيلومتر توفّره وقود ووقت واستهلاك لا تدفع ثمنه.</a:t>
            </a:r>
            <a:endParaRPr lang="en-US" sz="1300" dirty="0"/>
          </a:p>
        </p:txBody>
      </p:sp>
      <p:sp>
        <p:nvSpPr>
          <p:cNvPr id="14" name="pill-جهاز تتبع فليتانا"/>
          <p:cNvSpPr txBox="1"/>
          <p:nvPr/>
        </p:nvSpPr>
        <p:spPr>
          <a:xfrm>
            <a:off x="2544775" y="557784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جهاز تتبع فليتانا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صيانة تسير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في موعدها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65215" y="2240280"/>
            <a:ext cx="5577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مواعيد الصيانة بالكيلومترات أو ساعات التشغيل أو التاريخ، أيّها أسبق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36 مهمة صيانة قياسية جاهزة من اليوم الأول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فحوصات على تطبيق الجوال مع الصور، والبند الفاشل يفتح بلاغًا تلقائيًا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أوامر عمل بالقطع والعمالة والرسوم وضريبة 15٪ وخطوات الاعتماد</a:t>
            </a:r>
            <a:endParaRPr lang="en-US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مخزون القطع لكل موقع، وفترات الضمان على القطع والإصلاحات</a:t>
            </a:r>
            <a:endParaRPr lang="en-US" sz="1600" dirty="0"/>
          </a:p>
        </p:txBody>
      </p:sp>
      <p:sp>
        <p:nvSpPr>
          <p:cNvPr id="4" name="card-ui-reminders"/>
          <p:cNvSpPr/>
          <p:nvPr/>
        </p:nvSpPr>
        <p:spPr>
          <a:xfrm>
            <a:off x="551383" y="2057400"/>
            <a:ext cx="4434840" cy="1968392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5" name="Service reminders" descr="Service remin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" y="2167128"/>
            <a:ext cx="4215384" cy="1748936"/>
          </a:xfrm>
          <a:prstGeom prst="rect">
            <a:avLst/>
          </a:prstGeom>
        </p:spPr>
      </p:pic>
      <p:sp>
        <p:nvSpPr>
          <p:cNvPr id="6" name="card-ui-inspection"/>
          <p:cNvSpPr/>
          <p:nvPr/>
        </p:nvSpPr>
        <p:spPr>
          <a:xfrm>
            <a:off x="551383" y="4160520"/>
            <a:ext cx="4434840" cy="1990814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Inspection with a failed item" descr="Inspection with a failed i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" y="4270248"/>
            <a:ext cx="4215384" cy="177135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أجهزة التتبع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أجهزة نوفّرها ونركّبها وندعمها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جهازان،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لكل مركبة في أسطولك</a:t>
            </a:r>
            <a:endParaRPr lang="en-US" sz="3200" dirty="0"/>
          </a:p>
        </p:txBody>
      </p:sp>
      <p:sp>
        <p:nvSpPr>
          <p:cNvPr id="3" name="device-card-fmc003"/>
          <p:cNvSpPr/>
          <p:nvPr/>
        </p:nvSpPr>
        <p:spPr>
          <a:xfrm>
            <a:off x="6248095" y="205740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evice-fmc003" descr="fmc0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8529" y="2560320"/>
            <a:ext cx="1650206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76695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51D5"/>
                </a:solidFill>
              </a:rPr>
              <a:t>TELTONIKA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76695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FMC003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76695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جهاز تتبع يُركَّب في منفذ OBD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76695" y="3474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يُركَّب في منفذ OBD-II خلال دقائق، دون أسلاك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شبكة 4G مع GPS وGLONASS وGalileo وBeiDou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يقرأ عدّاد المركبة ومستوى الوقود منها مباشرة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رصد القيادة الاقتصادية والحوادث والسحب والفصل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معتمد من هيئة الاتصالات والفضاء والتقنية</a:t>
            </a:r>
            <a:endParaRPr lang="en-US" sz="1250" dirty="0"/>
          </a:p>
        </p:txBody>
      </p:sp>
      <p:sp>
        <p:nvSpPr>
          <p:cNvPr id="9" name="bestfor-fmc003"/>
          <p:cNvSpPr txBox="1"/>
          <p:nvPr/>
        </p:nvSpPr>
        <p:spPr>
          <a:xfrm>
            <a:off x="6522415" y="5504688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E8F2FF"/>
          </a:solidFill>
          <a:ln/>
        </p:spPr>
        <p:txBody>
          <a:bodyPr wrap="square" lIns="0" tIns="12700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الأنسب لـ: </a:t>
            </a:r>
            <a:pPr algn="r"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السيارات والبيك أب والفانات</a:t>
            </a:r>
            <a:endParaRPr lang="en-US" sz="1300" dirty="0"/>
          </a:p>
        </p:txBody>
      </p:sp>
      <p:sp>
        <p:nvSpPr>
          <p:cNvPr id="10" name="device-card-r12l"/>
          <p:cNvSpPr/>
          <p:nvPr/>
        </p:nvSpPr>
        <p:spPr>
          <a:xfrm>
            <a:off x="606247" y="205740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1" name="device-r12l" descr="r12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88" y="2331720"/>
            <a:ext cx="653820" cy="21945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4847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51D5"/>
                </a:solidFill>
              </a:rPr>
              <a:t>SEEWORLD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34847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R12L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34847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جهاز تتبع سلكي لأي مركبة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34847" y="3474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تركيب مخفي، ويعمل من 9 إلى 90 فولت للشاحنات والحافلات والمعدات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شبكة 4G مع GPS وBeiDou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مقاوم للغبار والماء IP65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إيقاف المحرك عن بُعد ورصد تشغيل المحرك</a:t>
            </a:r>
            <a:endParaRPr lang="en-US" sz="1250" dirty="0"/>
          </a:p>
          <a:p>
            <a:pPr rtl="1" algn="r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تنبيهات الاهتزاز وانقطاع الكهرباء والسرعة الزائدة</a:t>
            </a:r>
            <a:endParaRPr lang="en-US" sz="1250" dirty="0"/>
          </a:p>
        </p:txBody>
      </p:sp>
      <p:sp>
        <p:nvSpPr>
          <p:cNvPr id="16" name="bestfor-r12l"/>
          <p:cNvSpPr txBox="1"/>
          <p:nvPr/>
        </p:nvSpPr>
        <p:spPr>
          <a:xfrm>
            <a:off x="880567" y="5504688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E8F2FF"/>
          </a:solidFill>
          <a:ln/>
        </p:spPr>
        <p:txBody>
          <a:bodyPr wrap="square" lIns="0" tIns="127000" rIns="1270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الأنسب لـ: </a:t>
            </a:r>
            <a:pPr algn="r"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الشاحنات والحافلات والمعدات والحماية من السرقة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ماذا يتيح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كل جهاز</a:t>
            </a:r>
            <a:endParaRPr lang="en-US" sz="3200" dirty="0"/>
          </a:p>
        </p:txBody>
      </p:sp>
      <p:graphicFrame>
        <p:nvGraphicFramePr>
          <p:cNvPr id="16" name="unlock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19295" y="2057400"/>
          <a:ext cx="72237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ميزة فليتانا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FMC003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R12L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الأسطول وإعادة الرحلات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وقت الخمول وأداء السائقين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تحسين المسارات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تنبيهات السرعة الزائدة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تنبيهات العبث (الفصل / انقطاع الكهرباء)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رصد الحوادث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—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مستوى الوقود والعدّاد من المركبة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—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إيقاف المحرك عن بُعد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—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الشاحنات والمعدات الثقيلة (حتى 90 فولت)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—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✓</a:t>
                      </a:r>
                      <a:endParaRPr lang="en-US" sz="16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rvice-card"/>
          <p:cNvSpPr/>
          <p:nvPr/>
        </p:nvSpPr>
        <p:spPr>
          <a:xfrm>
            <a:off x="551383" y="2057400"/>
            <a:ext cx="3547872" cy="3977640"/>
          </a:xfrm>
          <a:prstGeom prst="roundRect">
            <a:avLst>
              <a:gd name="adj" fmla="val 3093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5" name="icon-bg-wrench"/>
          <p:cNvSpPr/>
          <p:nvPr/>
        </p:nvSpPr>
        <p:spPr>
          <a:xfrm>
            <a:off x="3258007" y="23317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6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393" y="2445106"/>
            <a:ext cx="340157" cy="34015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7415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نوفّرها ونركّبها وندعمها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07415" y="38404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نختار الجهاز المناسب لكل مركبة</a:t>
            </a:r>
            <a:endParaRPr lang="en-US" sz="135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فريقنا يتولى التركيب</a:t>
            </a:r>
            <a:endParaRPr lang="en-US" sz="135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تعمل على فليتانا في اليوم نفسه</a:t>
            </a:r>
            <a:endParaRPr lang="en-US" sz="1350" dirty="0"/>
          </a:p>
          <a:p>
            <a:pPr rtl="1"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شريك واحد للنظام والأجهزة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اكشف الهدر،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وأوقفه.</a:t>
            </a:r>
            <a:endParaRPr lang="en-US" sz="3200" dirty="0"/>
          </a:p>
        </p:txBody>
      </p:sp>
      <p:sp>
        <p:nvSpPr>
          <p:cNvPr id="3" name="saving-1"/>
          <p:cNvSpPr/>
          <p:nvPr/>
        </p:nvSpPr>
        <p:spPr>
          <a:xfrm>
            <a:off x="9037015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fuel"/>
          <p:cNvSpPr/>
          <p:nvPr/>
        </p:nvSpPr>
        <p:spPr>
          <a:xfrm>
            <a:off x="10801807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193" y="24908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11335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الوقود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311335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تعبئة غير معتادة تظهر فورًا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وقت خمول أقل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مسارات أقصر ومُحسَّنة</a:t>
            </a:r>
            <a:endParaRPr lang="en-US" sz="1300" dirty="0"/>
          </a:p>
        </p:txBody>
      </p:sp>
      <p:sp>
        <p:nvSpPr>
          <p:cNvPr id="8" name="saving-2"/>
          <p:cNvSpPr/>
          <p:nvPr/>
        </p:nvSpPr>
        <p:spPr>
          <a:xfrm>
            <a:off x="6229807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7994599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985" y="249082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04127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الصيانة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4127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صيانة قبل الأعطال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لا دفع مرتين لإصلاح تحت الضمان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كل أمر عمل مفصّل</a:t>
            </a:r>
            <a:endParaRPr lang="en-US" sz="1300" dirty="0"/>
          </a:p>
        </p:txBody>
      </p:sp>
      <p:sp>
        <p:nvSpPr>
          <p:cNvPr id="13" name="saving-3"/>
          <p:cNvSpPr/>
          <p:nvPr/>
        </p:nvSpPr>
        <p:spPr>
          <a:xfrm>
            <a:off x="3422599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truck"/>
          <p:cNvSpPr/>
          <p:nvPr/>
        </p:nvSpPr>
        <p:spPr>
          <a:xfrm>
            <a:off x="5187391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777" y="249082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96919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الأسطول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696919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تكلفة كل مركبة ولكل كيلومتر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استبعاد المركبات الأعلى تكلفة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وثائق سارية دائمًا</a:t>
            </a:r>
            <a:endParaRPr lang="en-US" sz="1300" dirty="0"/>
          </a:p>
        </p:txBody>
      </p:sp>
      <p:sp>
        <p:nvSpPr>
          <p:cNvPr id="18" name="saving-4"/>
          <p:cNvSpPr/>
          <p:nvPr/>
        </p:nvSpPr>
        <p:spPr>
          <a:xfrm>
            <a:off x="615391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shield"/>
          <p:cNvSpPr/>
          <p:nvPr/>
        </p:nvSpPr>
        <p:spPr>
          <a:xfrm>
            <a:off x="2380183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shield" descr="/home/user/Claude/fleetana-launch/brand/assets/icons/icon-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569" y="249082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9711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السلامة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تقييم السائقين وتوجيههم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تنبيهات الحوادث والسرعة الزائدة</a:t>
            </a:r>
            <a:endParaRPr lang="en-US" sz="1300" dirty="0"/>
          </a:p>
          <a:p>
            <a:pPr rtl="1" algn="r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إيقاف المحرك عن بُعد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صُمّم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للأساطيل السعودية</a:t>
            </a:r>
            <a:endParaRPr lang="en-US" sz="3200" dirty="0"/>
          </a:p>
        </p:txBody>
      </p:sp>
      <p:sp>
        <p:nvSpPr>
          <p:cNvPr id="3" name="chip-1"/>
          <p:cNvSpPr txBox="1"/>
          <p:nvPr/>
        </p:nvSpPr>
        <p:spPr>
          <a:xfrm>
            <a:off x="912845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الاستمارة</a:t>
            </a:r>
            <a:endParaRPr lang="en-US" sz="1500" dirty="0"/>
          </a:p>
        </p:txBody>
      </p:sp>
      <p:sp>
        <p:nvSpPr>
          <p:cNvPr id="4" name="chip-2"/>
          <p:cNvSpPr txBox="1"/>
          <p:nvPr/>
        </p:nvSpPr>
        <p:spPr>
          <a:xfrm>
            <a:off x="643097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الفحص الدوري</a:t>
            </a:r>
            <a:endParaRPr lang="en-US" sz="1500" dirty="0"/>
          </a:p>
        </p:txBody>
      </p:sp>
      <p:sp>
        <p:nvSpPr>
          <p:cNvPr id="5" name="chip-3"/>
          <p:cNvSpPr txBox="1"/>
          <p:nvPr/>
        </p:nvSpPr>
        <p:spPr>
          <a:xfrm>
            <a:off x="373349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التأمين</a:t>
            </a:r>
            <a:endParaRPr lang="en-US" sz="1500" dirty="0"/>
          </a:p>
        </p:txBody>
      </p:sp>
      <p:sp>
        <p:nvSpPr>
          <p:cNvPr id="6" name="chip-4"/>
          <p:cNvSpPr txBox="1"/>
          <p:nvPr/>
        </p:nvSpPr>
        <p:spPr>
          <a:xfrm>
            <a:off x="912845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الريال وضريبة 15٪</a:t>
            </a:r>
            <a:endParaRPr lang="en-US" sz="1500" dirty="0"/>
          </a:p>
        </p:txBody>
      </p:sp>
      <p:sp>
        <p:nvSpPr>
          <p:cNvPr id="7" name="chip-5"/>
          <p:cNvSpPr txBox="1"/>
          <p:nvPr/>
        </p:nvSpPr>
        <p:spPr>
          <a:xfrm>
            <a:off x="643097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أجهزة معتمدة من الهيئة</a:t>
            </a:r>
            <a:endParaRPr lang="en-US" sz="1500" dirty="0"/>
          </a:p>
        </p:txBody>
      </p:sp>
      <p:sp>
        <p:nvSpPr>
          <p:cNvPr id="8" name="chip-6"/>
          <p:cNvSpPr txBox="1"/>
          <p:nvPr/>
        </p:nvSpPr>
        <p:spPr>
          <a:xfrm>
            <a:off x="373349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العربية · English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79215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لأساطيل مثل أسطولك</a:t>
            </a:r>
            <a:endParaRPr lang="en-US" sz="1800" dirty="0"/>
          </a:p>
        </p:txBody>
      </p:sp>
      <p:sp>
        <p:nvSpPr>
          <p:cNvPr id="10" name="icon-bg-truck"/>
          <p:cNvSpPr/>
          <p:nvPr/>
        </p:nvSpPr>
        <p:spPr>
          <a:xfrm>
            <a:off x="11140135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0719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56855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التوصيل والشحن</a:t>
            </a:r>
            <a:endParaRPr lang="en-US" sz="1500" dirty="0"/>
          </a:p>
        </p:txBody>
      </p:sp>
      <p:sp>
        <p:nvSpPr>
          <p:cNvPr id="13" name="icon-bg-wrench"/>
          <p:cNvSpPr/>
          <p:nvPr/>
        </p:nvSpPr>
        <p:spPr>
          <a:xfrm>
            <a:off x="7162495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4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079" y="430682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79215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البناء والمعدات الثقيلة</a:t>
            </a:r>
            <a:endParaRPr lang="en-US" sz="1500" dirty="0"/>
          </a:p>
        </p:txBody>
      </p:sp>
      <p:sp>
        <p:nvSpPr>
          <p:cNvPr id="16" name="icon-bg-box"/>
          <p:cNvSpPr/>
          <p:nvPr/>
        </p:nvSpPr>
        <p:spPr>
          <a:xfrm>
            <a:off x="11140135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719" y="50840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56855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التوزيع والتجزئة</a:t>
            </a:r>
            <a:endParaRPr lang="en-US" sz="1500" dirty="0"/>
          </a:p>
        </p:txBody>
      </p:sp>
      <p:sp>
        <p:nvSpPr>
          <p:cNvPr id="19" name="icon-bg-users"/>
          <p:cNvSpPr/>
          <p:nvPr/>
        </p:nvSpPr>
        <p:spPr>
          <a:xfrm>
            <a:off x="7162495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079" y="508406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79215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نقل الركاب والنقل المدرسي</a:t>
            </a:r>
            <a:endParaRPr lang="en-US" sz="1500" dirty="0"/>
          </a:p>
        </p:txBody>
      </p:sp>
      <p:sp>
        <p:nvSpPr>
          <p:cNvPr id="22" name="papers-card"/>
          <p:cNvSpPr/>
          <p:nvPr/>
        </p:nvSpPr>
        <p:spPr>
          <a:xfrm>
            <a:off x="551383" y="2148840"/>
            <a:ext cx="2724912" cy="35661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3" name="Document expiry cards" descr="Document expiry car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" y="2377440"/>
            <a:ext cx="2542032" cy="13791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" y="3977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تواريخ الانتهاء محفوظة في سجل كل مركبة، والرئيسية تعرض ما ينتهي خلال 30 يومًا.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كيف نبدأ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معك</a:t>
            </a:r>
            <a:endParaRPr lang="en-US" sz="3200" dirty="0"/>
          </a:p>
        </p:txBody>
      </p:sp>
      <p:sp>
        <p:nvSpPr>
          <p:cNvPr id="3" name="card4-1"/>
          <p:cNvSpPr/>
          <p:nvPr/>
        </p:nvSpPr>
        <p:spPr>
          <a:xfrm>
            <a:off x="9037015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users"/>
          <p:cNvSpPr/>
          <p:nvPr/>
        </p:nvSpPr>
        <p:spPr>
          <a:xfrm>
            <a:off x="10801807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193" y="262798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11335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  سجّل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311335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أنشئ مساحة عملك على fleetana.sa وادعُ فريقك.</a:t>
            </a:r>
            <a:endParaRPr lang="en-US" sz="1400" dirty="0"/>
          </a:p>
        </p:txBody>
      </p:sp>
      <p:sp>
        <p:nvSpPr>
          <p:cNvPr id="8" name="card4-2"/>
          <p:cNvSpPr/>
          <p:nvPr/>
        </p:nvSpPr>
        <p:spPr>
          <a:xfrm>
            <a:off x="6229807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truck"/>
          <p:cNvSpPr/>
          <p:nvPr/>
        </p:nvSpPr>
        <p:spPr>
          <a:xfrm>
            <a:off x="7994599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985" y="262798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04127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  أضف مركباتك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4127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المركبات والسائقون وتواريخ الوثائق، استيرادًا أو يدويًا.</a:t>
            </a:r>
            <a:endParaRPr lang="en-US" sz="1400" dirty="0"/>
          </a:p>
        </p:txBody>
      </p:sp>
      <p:sp>
        <p:nvSpPr>
          <p:cNvPr id="13" name="card4-3"/>
          <p:cNvSpPr/>
          <p:nvPr/>
        </p:nvSpPr>
        <p:spPr>
          <a:xfrm>
            <a:off x="3422599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wrench"/>
          <p:cNvSpPr/>
          <p:nvPr/>
        </p:nvSpPr>
        <p:spPr>
          <a:xfrm>
            <a:off x="5187391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777" y="262798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96919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  نركّب الأجهزة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696919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الجهاز المناسب لكل مركبة، يركّبه فريقنا.</a:t>
            </a:r>
            <a:endParaRPr lang="en-US" sz="1400" dirty="0"/>
          </a:p>
        </p:txBody>
      </p:sp>
      <p:sp>
        <p:nvSpPr>
          <p:cNvPr id="18" name="card4-4"/>
          <p:cNvSpPr/>
          <p:nvPr/>
        </p:nvSpPr>
        <p:spPr>
          <a:xfrm>
            <a:off x="615391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hart"/>
          <p:cNvSpPr/>
          <p:nvPr/>
        </p:nvSpPr>
        <p:spPr>
          <a:xfrm>
            <a:off x="2380183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569" y="262798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9711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  ارَ، قرّر، وفّر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الخريطة والتكاليف والتوفير من اليوم الأول.</a:t>
            </a:r>
            <a:endParaRPr lang="en-US" sz="1400" dirty="0"/>
          </a:p>
        </p:txBody>
      </p:sp>
      <p:pic>
        <p:nvPicPr>
          <p:cNvPr id="23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835847" y="3657600"/>
            <a:ext cx="219456" cy="219456"/>
          </a:xfrm>
          <a:prstGeom prst="rect">
            <a:avLst/>
          </a:prstGeom>
        </p:spPr>
      </p:pic>
      <p:pic>
        <p:nvPicPr>
          <p:cNvPr id="24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028639" y="3657600"/>
            <a:ext cx="219456" cy="219456"/>
          </a:xfrm>
          <a:prstGeom prst="rect">
            <a:avLst/>
          </a:prstGeom>
        </p:spPr>
      </p:pic>
      <p:pic>
        <p:nvPicPr>
          <p:cNvPr id="25" name="arrow-3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3221431" y="365760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المؤسسون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خلف فليتانا</a:t>
            </a:r>
            <a:endParaRPr lang="en-US" sz="3200" dirty="0"/>
          </a:p>
        </p:txBody>
      </p:sp>
      <p:sp>
        <p:nvSpPr>
          <p:cNvPr id="3" name="team-abdallah"/>
          <p:cNvSpPr/>
          <p:nvPr/>
        </p:nvSpPr>
        <p:spPr>
          <a:xfrm>
            <a:off x="9037015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ring-abdallah"/>
          <p:cNvSpPr/>
          <p:nvPr/>
        </p:nvSpPr>
        <p:spPr>
          <a:xfrm>
            <a:off x="9407347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5" name="photo-abdallah" descr="عبدالله دبا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1355" y="2395728"/>
            <a:ext cx="1737360" cy="173736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19895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عبدالله دبان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219895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العمليات والاستراتيجية</a:t>
            </a:r>
            <a:endParaRPr lang="en-US" sz="1350" dirty="0"/>
          </a:p>
        </p:txBody>
      </p:sp>
      <p:sp>
        <p:nvSpPr>
          <p:cNvPr id="8" name="team-abdulrahman"/>
          <p:cNvSpPr/>
          <p:nvPr/>
        </p:nvSpPr>
        <p:spPr>
          <a:xfrm>
            <a:off x="6229807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ring-abdulrahman"/>
          <p:cNvSpPr/>
          <p:nvPr/>
        </p:nvSpPr>
        <p:spPr>
          <a:xfrm>
            <a:off x="6600139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10" name="photo-abdulrahman" descr="عبدالرحمن العسك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47" y="2395728"/>
            <a:ext cx="1737360" cy="173736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12687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عبدالرحمن العسكر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12687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مدير المنتج</a:t>
            </a:r>
            <a:endParaRPr lang="en-US" sz="1350" dirty="0"/>
          </a:p>
        </p:txBody>
      </p:sp>
      <p:sp>
        <p:nvSpPr>
          <p:cNvPr id="13" name="team-faisal"/>
          <p:cNvSpPr/>
          <p:nvPr/>
        </p:nvSpPr>
        <p:spPr>
          <a:xfrm>
            <a:off x="3422599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ring-faisal"/>
          <p:cNvSpPr/>
          <p:nvPr/>
        </p:nvSpPr>
        <p:spPr>
          <a:xfrm>
            <a:off x="3792931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15" name="photo-faisal" descr="فيصل قاس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939" y="2395728"/>
            <a:ext cx="1737360" cy="1737360"/>
          </a:xfrm>
          <a:prstGeom prst="ellipse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05479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فيصل قاسم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605479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تطوير الأعمال</a:t>
            </a:r>
            <a:endParaRPr lang="en-US" sz="1350" dirty="0"/>
          </a:p>
        </p:txBody>
      </p:sp>
      <p:sp>
        <p:nvSpPr>
          <p:cNvPr id="18" name="team-ali"/>
          <p:cNvSpPr/>
          <p:nvPr/>
        </p:nvSpPr>
        <p:spPr>
          <a:xfrm>
            <a:off x="615391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ring-ali"/>
          <p:cNvSpPr/>
          <p:nvPr/>
        </p:nvSpPr>
        <p:spPr>
          <a:xfrm>
            <a:off x="985723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20" name="photo-ali" descr="علي شودر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" y="2395728"/>
            <a:ext cx="1737360" cy="1737360"/>
          </a:xfrm>
          <a:prstGeom prst="ellipse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8271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علي شودري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98271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مدير الأعمال والعملاء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أخرج أسطولك من جداول البيانات.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0051D5"/>
                </a:solidFill>
              </a:rPr>
              <a:t>fleetana.sa  ·  admin@fleetana.sa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ana">
  <a:themeElements>
    <a:clrScheme name="Fleetana">
      <a:dk1>
        <a:srgbClr val="0F172A"/>
      </a:dk1>
      <a:lt1>
        <a:srgbClr val="FFFFFF"/>
      </a:lt1>
      <a:dk2>
        <a:srgbClr val="000000"/>
      </a:dk2>
      <a:lt2>
        <a:srgbClr val="F7F9FB"/>
      </a:lt2>
      <a:accent1>
        <a:srgbClr val="2A89FA"/>
      </a:accent1>
      <a:accent2>
        <a:srgbClr val="0051D5"/>
      </a:accent2>
      <a:accent3>
        <a:srgbClr val="16A34A"/>
      </a:accent3>
      <a:accent4>
        <a:srgbClr val="D97706"/>
      </a:accent4>
      <a:accent5>
        <a:srgbClr val="EF4444"/>
      </a:accent5>
      <a:accent6>
        <a:srgbClr val="1E3A8A"/>
      </a:accent6>
      <a:hlink>
        <a:srgbClr val="0051D5"/>
      </a:hlink>
      <a:folHlink>
        <a:srgbClr val="1E3A8A"/>
      </a:folHlink>
    </a:clrScheme>
    <a:fontScheme name="Fleetana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Fleetana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فليتانا — الملف التعريفي</dc:title>
  <dc:subject>PptxGenJS Presentation</dc:subject>
  <dc:creator>Fleetana</dc:creator>
  <cp:lastModifiedBy>Fleetana</cp:lastModifiedBy>
  <cp:revision>1</cp:revision>
  <dcterms:created xsi:type="dcterms:W3CDTF">2026-10-23T14:29:46Z</dcterms:created>
  <dcterms:modified xsi:type="dcterms:W3CDTF">2026-10-23T14:29:46Z</dcterms:modified>
</cp:coreProperties>
</file>