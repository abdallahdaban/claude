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us" id="{b93d63f3-2f07-d449-e502-36d72f943ce7}">
          <p14:sldIdLst>
            <p14:sldId id="256"/>
            <p14:sldId id="257"/>
            <p14:sldId id="258"/>
          </p14:sldIdLst>
        </p14:section>
        <p14:section name="The problem" id="{2e45f009-1246-88c7-fcf5-7eb09c2f8928}">
          <p14:sldIdLst>
            <p14:sldId id="259"/>
            <p14:sldId id="260"/>
          </p14:sldIdLst>
        </p14:section>
        <p14:section name="The solution" id="{5791ada5-6e75-fee7-a7e7-0ad30aef6464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Our trackers" id="{f2018fe6-8292-ec02-915e-e9e954be6aa5}">
          <p14:sldIdLst>
            <p14:sldId id="268"/>
            <p14:sldId id="269"/>
            <p14:sldId id="270"/>
          </p14:sldIdLst>
        </p14:section>
        <p14:section name="The savings" id="{4a17ec5c-9288-4746-2019-7636ee7821e0}">
          <p14:sldIdLst>
            <p14:sldId id="271"/>
            <p14:sldId id="272"/>
          </p14:sldIdLst>
        </p14:section>
        <p14:section name="Working with us" id="{09a8e658-60ec-0b94-69b0-b690696c74f8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Fleetana company profile for prospective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and hardware from one Saudi partner.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lines aloud; let them 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client which of these four sounds most like their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offer on one slide: hardware, software,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six modules. The next slides go deeper.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Powered by the Fleetana GPS tracker in each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uses demo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and distances are demo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data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supply, install and support both trackers.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fleets often use both: FMC003 for light vehicles, R12L for heavy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savings come from. Each one is an action the client takes with what Fleetana shows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 the industries to the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setup happens in the first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founders, one team: operations, product, business development and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0051D5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3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5.png"/><Relationship Id="rId7" Type="http://schemas.openxmlformats.org/officeDocument/2006/relationships/image" Target="../media/image-18-5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COMPANY PROFILE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Your whole fleet.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One place.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Fleet and cost visibility, built for Saudi fleets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Fleetana · 2026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7269480" y="1554480"/>
            <a:ext cx="43708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1664208"/>
            <a:ext cx="4151376" cy="24289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Who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we 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Fleetana is fleet-management software built in Saudi Arabia for the people who run vehicles.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One platform for vehicles, drivers, routes, fuel, service, inspections and work orders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Shows what every vehicle is doing and what every vehicle costs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Our own GPS trackers, supplied and installed by our team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Web app for managers, mobile app for drivers, in Arabic and English</a:t>
            </a:r>
            <a:endParaRPr lang="en-US" sz="1600" dirty="0"/>
          </a:p>
        </p:txBody>
      </p:sp>
      <p:sp>
        <p:nvSpPr>
          <p:cNvPr id="5" name="fact-1"/>
          <p:cNvSpPr/>
          <p:nvPr/>
        </p:nvSpPr>
        <p:spPr>
          <a:xfrm>
            <a:off x="7086600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0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FOUNDED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2026</a:t>
            </a:r>
            <a:endParaRPr lang="en-US" sz="2000" dirty="0"/>
          </a:p>
        </p:txBody>
      </p:sp>
      <p:sp>
        <p:nvSpPr>
          <p:cNvPr id="8" name="fact-2"/>
          <p:cNvSpPr/>
          <p:nvPr/>
        </p:nvSpPr>
        <p:spPr>
          <a:xfrm>
            <a:off x="9418320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46920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HEADQUARTERS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Riyadh, Saudi Arabia</a:t>
            </a:r>
            <a:endParaRPr lang="en-US" sz="2000" dirty="0"/>
          </a:p>
        </p:txBody>
      </p:sp>
      <p:sp>
        <p:nvSpPr>
          <p:cNvPr id="11" name="fact-3"/>
          <p:cNvSpPr/>
          <p:nvPr/>
        </p:nvSpPr>
        <p:spPr>
          <a:xfrm>
            <a:off x="7086600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0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CR NUMBER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7051877566</a:t>
            </a:r>
            <a:endParaRPr lang="en-US" sz="2000" dirty="0"/>
          </a:p>
        </p:txBody>
      </p:sp>
      <p:sp>
        <p:nvSpPr>
          <p:cNvPr id="14" name="fact-4"/>
          <p:cNvSpPr/>
          <p:nvPr/>
        </p:nvSpPr>
        <p:spPr>
          <a:xfrm>
            <a:off x="9418320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46920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LANGUAGES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Arabic · English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Vision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mission</a:t>
            </a:r>
            <a:endParaRPr lang="en-US" sz="3200" dirty="0"/>
          </a:p>
        </p:txBody>
      </p:sp>
      <p:sp>
        <p:nvSpPr>
          <p:cNvPr id="3" name="vm-1"/>
          <p:cNvSpPr/>
          <p:nvPr/>
        </p:nvSpPr>
        <p:spPr>
          <a:xfrm>
            <a:off x="548640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hart"/>
          <p:cNvSpPr/>
          <p:nvPr/>
        </p:nvSpPr>
        <p:spPr>
          <a:xfrm>
            <a:off x="960120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267370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VISION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Every Saudi fleet run on facts with the lifecycle optimized and efficient.</a:t>
            </a:r>
            <a:endParaRPr lang="en-US" sz="2600" dirty="0"/>
          </a:p>
        </p:txBody>
      </p:sp>
      <p:sp>
        <p:nvSpPr>
          <p:cNvPr id="8" name="vm-2"/>
          <p:cNvSpPr/>
          <p:nvPr/>
        </p:nvSpPr>
        <p:spPr>
          <a:xfrm>
            <a:off x="6172200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check"/>
          <p:cNvSpPr/>
          <p:nvPr/>
        </p:nvSpPr>
        <p:spPr>
          <a:xfrm>
            <a:off x="6583680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066" y="267370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8368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MISSION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place to see every vehicle, its cost, its next job, and execution.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problem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Fleets run on spreadsheets, receipts and memory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Where does your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fleet's money go?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548640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822960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Spreadsheets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Service dates, plates and Istimara expiries live in files nobody updates on time.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3355848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3630168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Receipts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Fuel and repair spend sits in drawers and photos, so odd fill-ups go unnoticed.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6163056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pin"/>
          <p:cNvSpPr/>
          <p:nvPr/>
        </p:nvSpPr>
        <p:spPr>
          <a:xfrm>
            <a:off x="6437376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Blind spots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Nobody can say which route a vehicle took, or how long it sat idling.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8970264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bell"/>
          <p:cNvSpPr/>
          <p:nvPr/>
        </p:nvSpPr>
        <p:spPr>
          <a:xfrm>
            <a:off x="9244584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Chat threads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Checks, faults and approvals happen in WhatsApp, and nothing links back to the vehicle.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solution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Software and trackers from one partner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Fleetana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works</a:t>
            </a:r>
            <a:endParaRPr lang="en-US" sz="3200" dirty="0"/>
          </a:p>
        </p:txBody>
      </p:sp>
      <p:sp>
        <p:nvSpPr>
          <p:cNvPr id="3" name="how-1"/>
          <p:cNvSpPr/>
          <p:nvPr/>
        </p:nvSpPr>
        <p:spPr>
          <a:xfrm>
            <a:off x="54864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377440"/>
            <a:ext cx="1225868" cy="1188720"/>
          </a:xfrm>
          <a:prstGeom prst="rect">
            <a:avLst/>
          </a:prstGeom>
        </p:spPr>
      </p:pic>
      <p:pic>
        <p:nvPicPr>
          <p:cNvPr id="5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304288"/>
            <a:ext cx="395016" cy="13258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2296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IN EVERY VEHICLE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82296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Our GPS tracker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We supply and install a tracker that fits the vehicle, from pickups to heavy trucks.</a:t>
            </a:r>
            <a:endParaRPr lang="en-US" sz="1350" dirty="0"/>
          </a:p>
        </p:txBody>
      </p:sp>
      <p:pic>
        <p:nvPicPr>
          <p:cNvPr id="9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932" y="3931920"/>
            <a:ext cx="219456" cy="219456"/>
          </a:xfrm>
          <a:prstGeom prst="rect">
            <a:avLst/>
          </a:prstGeom>
        </p:spPr>
      </p:pic>
      <p:sp>
        <p:nvSpPr>
          <p:cNvPr id="10" name="how-2"/>
          <p:cNvSpPr/>
          <p:nvPr/>
        </p:nvSpPr>
        <p:spPr>
          <a:xfrm>
            <a:off x="429768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Fleetana platform" descr="Fleetana plat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377440"/>
            <a:ext cx="2880360" cy="168531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7200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ON ONE PLATFORM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457200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Fleetana web &amp; mobile</a:t>
            </a:r>
            <a:endParaRPr lang="en-US" sz="1900" dirty="0"/>
          </a:p>
        </p:txBody>
      </p:sp>
      <p:sp>
        <p:nvSpPr>
          <p:cNvPr id="14" name="Text 8"/>
          <p:cNvSpPr txBox="1"/>
          <p:nvPr/>
        </p:nvSpPr>
        <p:spPr>
          <a:xfrm>
            <a:off x="457200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Location, trips, fuel, service and costs land in one place, for every vehicle.</a:t>
            </a:r>
            <a:endParaRPr lang="en-US" sz="1350" dirty="0"/>
          </a:p>
        </p:txBody>
      </p:sp>
      <p:pic>
        <p:nvPicPr>
          <p:cNvPr id="15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972" y="3931920"/>
            <a:ext cx="219456" cy="219456"/>
          </a:xfrm>
          <a:prstGeom prst="rect">
            <a:avLst/>
          </a:prstGeom>
        </p:spPr>
      </p:pic>
      <p:sp>
        <p:nvSpPr>
          <p:cNvPr id="16" name="how-3"/>
          <p:cNvSpPr/>
          <p:nvPr/>
        </p:nvSpPr>
        <p:spPr>
          <a:xfrm>
            <a:off x="804672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7" name="Cost per vehicle" descr="Cost per vehic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377440"/>
            <a:ext cx="2880360" cy="1685317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832104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IN YOUR DECISIONS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832104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See, decide, save</a:t>
            </a:r>
            <a:endParaRPr lang="en-US" sz="1900" dirty="0"/>
          </a:p>
        </p:txBody>
      </p:sp>
      <p:sp>
        <p:nvSpPr>
          <p:cNvPr id="20" name="Text 12"/>
          <p:cNvSpPr txBox="1"/>
          <p:nvPr/>
        </p:nvSpPr>
        <p:spPr>
          <a:xfrm>
            <a:off x="832104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Spot the waste, act on it, and watch the cost per vehicle come down.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Everything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touches your fleet</a:t>
            </a:r>
            <a:endParaRPr lang="en-US" sz="3200" dirty="0"/>
          </a:p>
        </p:txBody>
      </p:sp>
      <p:sp>
        <p:nvSpPr>
          <p:cNvPr id="3" name="tile-1"/>
          <p:cNvSpPr/>
          <p:nvPr/>
        </p:nvSpPr>
        <p:spPr>
          <a:xfrm>
            <a:off x="54864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82296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Vehicles &amp; documents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Plates, drivers, Istimara, insurance and Fahes for every vehicle.</a:t>
            </a:r>
            <a:endParaRPr lang="en-US" sz="1300" dirty="0"/>
          </a:p>
        </p:txBody>
      </p:sp>
      <p:sp>
        <p:nvSpPr>
          <p:cNvPr id="8" name="tile-2"/>
          <p:cNvSpPr/>
          <p:nvPr/>
        </p:nvSpPr>
        <p:spPr>
          <a:xfrm>
            <a:off x="429768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457200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413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&amp; maintenance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Programs by km, engine hours or date. Due soon and overdue at a glance.</a:t>
            </a:r>
            <a:endParaRPr lang="en-US" sz="1300" dirty="0"/>
          </a:p>
        </p:txBody>
      </p:sp>
      <p:sp>
        <p:nvSpPr>
          <p:cNvPr id="13" name="tile-3"/>
          <p:cNvSpPr/>
          <p:nvPr/>
        </p:nvSpPr>
        <p:spPr>
          <a:xfrm>
            <a:off x="804672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832104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km/L on every full fill. Low fills flagged.</a:t>
            </a:r>
            <a:endParaRPr lang="en-US" sz="1300" dirty="0"/>
          </a:p>
        </p:txBody>
      </p:sp>
      <p:sp>
        <p:nvSpPr>
          <p:cNvPr id="18" name="tile-4"/>
          <p:cNvSpPr/>
          <p:nvPr/>
        </p:nvSpPr>
        <p:spPr>
          <a:xfrm>
            <a:off x="54864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82296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Inspections &amp; issues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Custom checklists with photos. A failed item opens an issue.</a:t>
            </a:r>
            <a:endParaRPr lang="en-US" sz="1300" dirty="0"/>
          </a:p>
        </p:txBody>
      </p:sp>
      <p:sp>
        <p:nvSpPr>
          <p:cNvPr id="23" name="tile-5"/>
          <p:cNvSpPr/>
          <p:nvPr/>
        </p:nvSpPr>
        <p:spPr>
          <a:xfrm>
            <a:off x="429768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457200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4413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orders &amp; parts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Parts, labour and fees, with 15% VAT and approval steps.</a:t>
            </a:r>
            <a:endParaRPr lang="en-US" sz="1300" dirty="0"/>
          </a:p>
        </p:txBody>
      </p:sp>
      <p:sp>
        <p:nvSpPr>
          <p:cNvPr id="28" name="tile-6"/>
          <p:cNvSpPr/>
          <p:nvPr/>
        </p:nvSpPr>
        <p:spPr>
          <a:xfrm>
            <a:off x="804672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832104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3453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 &amp; routes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Live positions, trip replay, optimised routes and driver scores.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Know what every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vehicle is doing</a:t>
            </a:r>
            <a:endParaRPr lang="en-US" sz="3200" dirty="0"/>
          </a:p>
        </p:txBody>
      </p:sp>
      <p:sp>
        <p:nvSpPr>
          <p:cNvPr id="3" name="icon-bg-pin"/>
          <p:cNvSpPr/>
          <p:nvPr/>
        </p:nvSpPr>
        <p:spPr>
          <a:xfrm>
            <a:off x="548640" y="21488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4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053" y="2251253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21305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24963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Every vehicle as moving, idle, parked or no signal, updated every few seconds.</a:t>
            </a:r>
            <a:endParaRPr lang="en-US" sz="1300" dirty="0"/>
          </a:p>
        </p:txBody>
      </p:sp>
      <p:sp>
        <p:nvSpPr>
          <p:cNvPr id="7" name="icon-bg-chart"/>
          <p:cNvSpPr/>
          <p:nvPr/>
        </p:nvSpPr>
        <p:spPr>
          <a:xfrm>
            <a:off x="548640" y="3081528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8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3" y="31839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3063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Trip replay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34290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See the exact route each vehicle drove, stop by stop.</a:t>
            </a:r>
            <a:endParaRPr lang="en-US" sz="1300" dirty="0"/>
          </a:p>
        </p:txBody>
      </p:sp>
      <p:sp>
        <p:nvSpPr>
          <p:cNvPr id="11" name="icon-bg-alert"/>
          <p:cNvSpPr/>
          <p:nvPr/>
        </p:nvSpPr>
        <p:spPr>
          <a:xfrm>
            <a:off x="548640" y="4014216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2" name="icon-alert" descr="/home/user/Claude/fleetana-launch/brand/assets/icons/icon-ale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" y="411662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995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Idle time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43616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Engine-on minutes per trip and per day, for every vehicle.</a:t>
            </a:r>
            <a:endParaRPr lang="en-US" sz="1300" dirty="0"/>
          </a:p>
        </p:txBody>
      </p:sp>
      <p:sp>
        <p:nvSpPr>
          <p:cNvPr id="15" name="icon-bg-users"/>
          <p:cNvSpPr/>
          <p:nvPr/>
        </p:nvSpPr>
        <p:spPr>
          <a:xfrm>
            <a:off x="548640" y="4946904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6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3" y="5049317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9286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Driver scores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52943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Harsh driving, speeding and collisions turned into a 0–100 score.</a:t>
            </a:r>
            <a:endParaRPr lang="en-US" sz="1300" dirty="0"/>
          </a:p>
        </p:txBody>
      </p:sp>
      <p:sp>
        <p:nvSpPr>
          <p:cNvPr id="19" name="card-map"/>
          <p:cNvSpPr/>
          <p:nvPr/>
        </p:nvSpPr>
        <p:spPr>
          <a:xfrm>
            <a:off x="5623560" y="2103120"/>
            <a:ext cx="6016752" cy="3630168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0" name="Live map" descr="Live 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2212848"/>
            <a:ext cx="5797296" cy="3392035"/>
          </a:xfrm>
          <a:prstGeom prst="rect">
            <a:avLst/>
          </a:prstGeom>
        </p:spPr>
      </p:pic>
      <p:sp>
        <p:nvSpPr>
          <p:cNvPr id="21" name="pill-Fleetana GPS tracker"/>
          <p:cNvSpPr txBox="1"/>
          <p:nvPr/>
        </p:nvSpPr>
        <p:spPr>
          <a:xfrm>
            <a:off x="5623560" y="58704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Fleetana 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See where your fleet's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money really goes</a:t>
            </a:r>
            <a:endParaRPr lang="en-US" sz="3200" dirty="0"/>
          </a:p>
        </p:txBody>
      </p:sp>
      <p:sp>
        <p:nvSpPr>
          <p:cNvPr id="3" name="card-costs"/>
          <p:cNvSpPr/>
          <p:nvPr/>
        </p:nvSpPr>
        <p:spPr>
          <a:xfrm>
            <a:off x="548640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Vehicle cost breakdown" descr="Vehicle cost break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726948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Cost per vehicle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542032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Fuel, service and work orders add up on each vehicle, in SAR, with cost per km.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7269480" y="3136392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118104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 anomalies flagged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529584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A full fill below 70% of that vehicle's 30-day average is flagged Low.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7269480" y="4123944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105656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Every riyal itemised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4517136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Work orders split parts, labour and fees, with 15% VAT.</a:t>
            </a:r>
            <a:endParaRPr lang="en-US" sz="1300" dirty="0"/>
          </a:p>
        </p:txBody>
      </p:sp>
      <p:sp>
        <p:nvSpPr>
          <p:cNvPr id="14" name="num-4"/>
          <p:cNvSpPr txBox="1"/>
          <p:nvPr/>
        </p:nvSpPr>
        <p:spPr>
          <a:xfrm>
            <a:off x="7269480" y="511149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5093208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Warranty on record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909560" y="5504688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Check the warranty before you pay for the same repair twice.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Shorter routes,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less fuel</a:t>
            </a:r>
            <a:endParaRPr lang="en-US" sz="3200" dirty="0"/>
          </a:p>
        </p:txBody>
      </p:sp>
      <p:sp>
        <p:nvSpPr>
          <p:cNvPr id="3" name="card-route"/>
          <p:cNvSpPr/>
          <p:nvPr/>
        </p:nvSpPr>
        <p:spPr>
          <a:xfrm>
            <a:off x="548640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riven route vs optimised route" descr="Driven route vs optimised 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726948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Optimised routes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54203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Fleetana orders your stops into the shortest route before the vehicle leaves.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7269480" y="333756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31927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Planned vs driven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73075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Compare the route you planned with the route actually driven.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7269480" y="452628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50799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Fewer wasted kilometres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491947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Every kilometre saved is fuel, time and wear you don't pay for.</a:t>
            </a:r>
            <a:endParaRPr lang="en-US" sz="1300" dirty="0"/>
          </a:p>
        </p:txBody>
      </p:sp>
      <p:sp>
        <p:nvSpPr>
          <p:cNvPr id="14" name="pill-Fleetana GPS tracker"/>
          <p:cNvSpPr txBox="1"/>
          <p:nvPr/>
        </p:nvSpPr>
        <p:spPr>
          <a:xfrm>
            <a:off x="7269480" y="557784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Fleetana 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Maintenance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runs on schedule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5577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Service due by km, engine hours or date, whichever comes first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36 standard service tasks ready on day one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Inspections on the mobile app, with photos; a failed item opens an issue automatically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Work orders with parts, labour, fees, 15% VAT and approval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Parts stock per location, and warranty periods on parts and repairs</a:t>
            </a:r>
            <a:endParaRPr lang="en-US" sz="1600" dirty="0"/>
          </a:p>
        </p:txBody>
      </p:sp>
      <p:sp>
        <p:nvSpPr>
          <p:cNvPr id="4" name="card-ui-reminders"/>
          <p:cNvSpPr/>
          <p:nvPr/>
        </p:nvSpPr>
        <p:spPr>
          <a:xfrm>
            <a:off x="7205472" y="2057400"/>
            <a:ext cx="4434840" cy="1968392"/>
          </a:xfrm>
          <a:prstGeom prst="roundRect">
            <a:avLst>
              <a:gd name="adj" fmla="val 557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Service reminders" descr="Service remin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2167128"/>
            <a:ext cx="4215384" cy="1748936"/>
          </a:xfrm>
          <a:prstGeom prst="rect">
            <a:avLst/>
          </a:prstGeom>
        </p:spPr>
      </p:pic>
      <p:sp>
        <p:nvSpPr>
          <p:cNvPr id="6" name="card-ui-inspection"/>
          <p:cNvSpPr/>
          <p:nvPr/>
        </p:nvSpPr>
        <p:spPr>
          <a:xfrm>
            <a:off x="7205472" y="4160520"/>
            <a:ext cx="4434840" cy="1990814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Inspection with a failed item" descr="Inspection with a failed it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270248"/>
            <a:ext cx="4215384" cy="177135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Our trackers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Hardware we supply, install and support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Two trackers,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every vehicle covered</a:t>
            </a:r>
            <a:endParaRPr lang="en-US" sz="3200" dirty="0"/>
          </a:p>
        </p:txBody>
      </p:sp>
      <p:sp>
        <p:nvSpPr>
          <p:cNvPr id="3" name="device-card-fmc003"/>
          <p:cNvSpPr/>
          <p:nvPr/>
        </p:nvSpPr>
        <p:spPr>
          <a:xfrm>
            <a:off x="548640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560320"/>
            <a:ext cx="1650206" cy="1600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0604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TELTONIKA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606040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FMC003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2606040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Plug-and-play OBD tracker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606040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Plugs into the OBD-II port in minutes, no wiring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4G LTE with GPS, GLONASS, Galileo and BeiDou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Reads the vehicle's own odometer and fuel level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Eco-driving, crash, towing and unplug detection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CST-certified in Saudi Arabia</a:t>
            </a:r>
            <a:endParaRPr lang="en-US" sz="1250" dirty="0"/>
          </a:p>
        </p:txBody>
      </p:sp>
      <p:sp>
        <p:nvSpPr>
          <p:cNvPr id="9" name="bestfor-fmc003"/>
          <p:cNvSpPr txBox="1"/>
          <p:nvPr/>
        </p:nvSpPr>
        <p:spPr>
          <a:xfrm>
            <a:off x="822960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Best for  </a:t>
            </a:r>
            <a:pPr algn="l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cars, pickups and vans</a:t>
            </a:r>
            <a:endParaRPr lang="en-US" sz="1300" dirty="0"/>
          </a:p>
        </p:txBody>
      </p:sp>
      <p:sp>
        <p:nvSpPr>
          <p:cNvPr id="10" name="device-card-r12l"/>
          <p:cNvSpPr/>
          <p:nvPr/>
        </p:nvSpPr>
        <p:spPr>
          <a:xfrm>
            <a:off x="6190488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2331720"/>
            <a:ext cx="653820" cy="21945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47888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SEEWORLD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247888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R12L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8247888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Hard-wired tracker for any vehicle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247888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Hidden install, 9–90 V for trucks, buses and equipment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4G LTE with GPS and BeiDou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IP65 dust and water resistant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Remote engine cut-off and ignition detection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Vibration, power-cut and over-speed alarms</a:t>
            </a:r>
            <a:endParaRPr lang="en-US" sz="1250" dirty="0"/>
          </a:p>
        </p:txBody>
      </p:sp>
      <p:sp>
        <p:nvSpPr>
          <p:cNvPr id="16" name="bestfor-r12l"/>
          <p:cNvSpPr txBox="1"/>
          <p:nvPr/>
        </p:nvSpPr>
        <p:spPr>
          <a:xfrm>
            <a:off x="6464808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Best for  </a:t>
            </a:r>
            <a:pPr algn="l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trucks, buses, equipment and theft protection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What each tracker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unlocks</a:t>
            </a:r>
            <a:endParaRPr lang="en-US" sz="3200" dirty="0"/>
          </a:p>
        </p:txBody>
      </p:sp>
      <p:graphicFrame>
        <p:nvGraphicFramePr>
          <p:cNvPr id="16" name="unlock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72237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Fleetana feature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FMC003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R12L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map and trip replay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Idle time and driver scores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optimisation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Over-speed alerts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Tamper alerts (unplug / power cut)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Crash detection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Fuel level and odometer from the vehicle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 engine cut-off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Trucks and heavy equipment (up to 90 V)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rvice-card"/>
          <p:cNvSpPr/>
          <p:nvPr/>
        </p:nvSpPr>
        <p:spPr>
          <a:xfrm>
            <a:off x="8092440" y="2057400"/>
            <a:ext cx="3547872" cy="3977640"/>
          </a:xfrm>
          <a:prstGeom prst="roundRect">
            <a:avLst>
              <a:gd name="adj" fmla="val 309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icon-bg-wrench"/>
          <p:cNvSpPr/>
          <p:nvPr/>
        </p:nvSpPr>
        <p:spPr>
          <a:xfrm>
            <a:off x="8366760" y="23317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6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146" y="2445106"/>
            <a:ext cx="340157" cy="34015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66760" y="3063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Supplied, installed and supported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366760" y="38404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We pick the right tracker for each vehicle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Our team installs it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Live in Fleetana the same day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One partner for software and hardware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Find the leaks.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Fix them.</a:t>
            </a:r>
            <a:endParaRPr lang="en-US" sz="3200" dirty="0"/>
          </a:p>
        </p:txBody>
      </p:sp>
      <p:sp>
        <p:nvSpPr>
          <p:cNvPr id="3" name="saving-1"/>
          <p:cNvSpPr/>
          <p:nvPr/>
        </p:nvSpPr>
        <p:spPr>
          <a:xfrm>
            <a:off x="548640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fuel"/>
          <p:cNvSpPr/>
          <p:nvPr/>
        </p:nvSpPr>
        <p:spPr>
          <a:xfrm>
            <a:off x="822960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4908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Fuel anomalies flagged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Idle time cut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Shorter, optimised routes</a:t>
            </a:r>
            <a:endParaRPr lang="en-US" sz="1300" dirty="0"/>
          </a:p>
        </p:txBody>
      </p:sp>
      <p:sp>
        <p:nvSpPr>
          <p:cNvPr id="8" name="saving-2"/>
          <p:cNvSpPr/>
          <p:nvPr/>
        </p:nvSpPr>
        <p:spPr>
          <a:xfrm>
            <a:off x="3355848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3630168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49082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Maintenance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Service before breakdowns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No paying twice under warranty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Every work order itemised</a:t>
            </a:r>
            <a:endParaRPr lang="en-US" sz="1300" dirty="0"/>
          </a:p>
        </p:txBody>
      </p:sp>
      <p:sp>
        <p:nvSpPr>
          <p:cNvPr id="13" name="saving-3"/>
          <p:cNvSpPr/>
          <p:nvPr/>
        </p:nvSpPr>
        <p:spPr>
          <a:xfrm>
            <a:off x="6163056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truck"/>
          <p:cNvSpPr/>
          <p:nvPr/>
        </p:nvSpPr>
        <p:spPr>
          <a:xfrm>
            <a:off x="6437376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49082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Cost per vehicle and per km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Retire the costliest vehicles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Keep documents valid</a:t>
            </a:r>
            <a:endParaRPr lang="en-US" sz="1300" dirty="0"/>
          </a:p>
        </p:txBody>
      </p:sp>
      <p:sp>
        <p:nvSpPr>
          <p:cNvPr id="18" name="saving-4"/>
          <p:cNvSpPr/>
          <p:nvPr/>
        </p:nvSpPr>
        <p:spPr>
          <a:xfrm>
            <a:off x="8970264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shield"/>
          <p:cNvSpPr/>
          <p:nvPr/>
        </p:nvSpPr>
        <p:spPr>
          <a:xfrm>
            <a:off x="9244584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shield" descr="/home/user/Claude/fleetana-launch/brand/assets/icons/icon-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49082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Safety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Driver scores and coaching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Crash and over-speed alerts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Remote engine cut-off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Built for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Saudi fleets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54864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Istimara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324612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Fahes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594360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Insurance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54864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SAR + 15% VAT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324612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CST-certified trackers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594360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Made for fleets like yours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3444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Delivery &amp; courier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452628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1208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Construction &amp; heavy equipment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Distribution &amp; retail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1208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Passenger &amp; school transport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8915400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98280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Expiry dates live on each vehicle, and Home lists everything expiring in the next 30 days.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we get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you running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548640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users"/>
          <p:cNvSpPr/>
          <p:nvPr/>
        </p:nvSpPr>
        <p:spPr>
          <a:xfrm>
            <a:off x="822960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  Sign up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Create your workspace at fleetana.sa and invite your team.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3355848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truck"/>
          <p:cNvSpPr/>
          <p:nvPr/>
        </p:nvSpPr>
        <p:spPr>
          <a:xfrm>
            <a:off x="3630168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  Add vehicles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Vehicles, drivers and document dates, imported or added by hand.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6163056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wrench"/>
          <p:cNvSpPr/>
          <p:nvPr/>
        </p:nvSpPr>
        <p:spPr>
          <a:xfrm>
            <a:off x="6437376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  We install trackers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The right tracker for each vehicle, installed by our team.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8970264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hart"/>
          <p:cNvSpPr/>
          <p:nvPr/>
        </p:nvSpPr>
        <p:spPr>
          <a:xfrm>
            <a:off x="9244584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04  See, decide, save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Live map, costs and savings from day one.</a:t>
            </a:r>
            <a:endParaRPr lang="en-US" sz="1400" dirty="0"/>
          </a:p>
        </p:txBody>
      </p:sp>
      <p:pic>
        <p:nvPicPr>
          <p:cNvPr id="23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6392" y="3657600"/>
            <a:ext cx="219456" cy="219456"/>
          </a:xfrm>
          <a:prstGeom prst="rect">
            <a:avLst/>
          </a:prstGeom>
        </p:spPr>
      </p:pic>
      <p:pic>
        <p:nvPicPr>
          <p:cNvPr id="2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657600"/>
            <a:ext cx="219456" cy="219456"/>
          </a:xfrm>
          <a:prstGeom prst="rect">
            <a:avLst/>
          </a:prstGeom>
        </p:spPr>
      </p:pic>
      <p:pic>
        <p:nvPicPr>
          <p:cNvPr id="25" name="arrow-3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0808" y="3657600"/>
            <a:ext cx="219456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The founders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behind Fleetana</a:t>
            </a:r>
            <a:endParaRPr lang="en-US" sz="3200" dirty="0"/>
          </a:p>
        </p:txBody>
      </p:sp>
      <p:sp>
        <p:nvSpPr>
          <p:cNvPr id="3" name="team-abdallah"/>
          <p:cNvSpPr/>
          <p:nvPr/>
        </p:nvSpPr>
        <p:spPr>
          <a:xfrm>
            <a:off x="548640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photo-abdallah"/>
          <p:cNvSpPr txBox="1"/>
          <p:nvPr/>
        </p:nvSpPr>
        <p:spPr>
          <a:xfrm>
            <a:off x="982980" y="2395728"/>
            <a:ext cx="1737360" cy="173736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51D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AD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Abdallah Daban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Operations &amp; Strategy</a:t>
            </a:r>
            <a:endParaRPr lang="en-US" sz="1350" dirty="0"/>
          </a:p>
        </p:txBody>
      </p:sp>
      <p:sp>
        <p:nvSpPr>
          <p:cNvPr id="7" name="team-abdulrahman"/>
          <p:cNvSpPr/>
          <p:nvPr/>
        </p:nvSpPr>
        <p:spPr>
          <a:xfrm>
            <a:off x="3355848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8" name="photo-abdulrahman"/>
          <p:cNvSpPr txBox="1"/>
          <p:nvPr/>
        </p:nvSpPr>
        <p:spPr>
          <a:xfrm>
            <a:off x="3790188" y="2395728"/>
            <a:ext cx="1737360" cy="173736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51D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AA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38728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Abdulrahman Alaskar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538728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Product Manager</a:t>
            </a:r>
            <a:endParaRPr lang="en-US" sz="1350" dirty="0"/>
          </a:p>
        </p:txBody>
      </p:sp>
      <p:sp>
        <p:nvSpPr>
          <p:cNvPr id="11" name="team-faisal"/>
          <p:cNvSpPr/>
          <p:nvPr/>
        </p:nvSpPr>
        <p:spPr>
          <a:xfrm>
            <a:off x="6163056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photo-faisal"/>
          <p:cNvSpPr txBox="1"/>
          <p:nvPr/>
        </p:nvSpPr>
        <p:spPr>
          <a:xfrm>
            <a:off x="6597396" y="2395728"/>
            <a:ext cx="1737360" cy="173736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51D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FQ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345936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Faisal Qassem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45936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Business Development</a:t>
            </a:r>
            <a:endParaRPr lang="en-US" sz="1350" dirty="0"/>
          </a:p>
        </p:txBody>
      </p:sp>
      <p:sp>
        <p:nvSpPr>
          <p:cNvPr id="15" name="team-ali"/>
          <p:cNvSpPr/>
          <p:nvPr/>
        </p:nvSpPr>
        <p:spPr>
          <a:xfrm>
            <a:off x="8970264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6" name="photo-ali"/>
          <p:cNvSpPr txBox="1"/>
          <p:nvPr/>
        </p:nvSpPr>
        <p:spPr>
          <a:xfrm>
            <a:off x="9404604" y="2395728"/>
            <a:ext cx="1737360" cy="173736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51D5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AC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9153144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Ali Choudhary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153144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Business &amp; Customer Manager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Get your fleet off spreadsheets.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  ·  info@fleetana.sa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Hanken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Fleetana — company profile</dc:title>
  <dc:subject>PptxGenJS Presentation</dc:subject>
  <dc:creator>Fleetana</dc:creator>
  <cp:lastModifiedBy>Fleetana</cp:lastModifiedBy>
  <cp:revision>1</cp:revision>
  <dcterms:created xsi:type="dcterms:W3CDTF">2026-10-23T14:19:05Z</dcterms:created>
  <dcterms:modified xsi:type="dcterms:W3CDTF">2026-10-23T14:19:05Z</dcterms:modified>
</cp:coreProperties>
</file>