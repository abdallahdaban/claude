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out us" id="{18645ece-78dd-078f-55c5-c140d0bdb7fe}">
          <p14:sldIdLst>
            <p14:sldId id="256"/>
            <p14:sldId id="257"/>
            <p14:sldId id="258"/>
          </p14:sldIdLst>
        </p14:section>
        <p14:section name="The problem" id="{6fb07dc5-508a-24f4-31ae-1dc72e73b832}">
          <p14:sldIdLst>
            <p14:sldId id="259"/>
            <p14:sldId id="260"/>
          </p14:sldIdLst>
        </p14:section>
        <p14:section name="The solution" id="{cb518b92-37c0-193d-59b1-02c985491044}">
          <p14:sldIdLst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Our trackers" id="{2c81eda2-3e31-c3bb-f006-7c2b4cfb829f}">
          <p14:sldIdLst>
            <p14:sldId id="268"/>
            <p14:sldId id="269"/>
            <p14:sldId id="270"/>
          </p14:sldIdLst>
        </p14:section>
        <p14:section name="The savings" id="{61f10fc0-ff95-37ce-380c-32b157035f87}">
          <p14:sldIdLst>
            <p14:sldId id="271"/>
            <p14:sldId id="272"/>
          </p14:sldIdLst>
        </p14:section>
        <p14:section name="Working with us" id="{f0f293a5-975c-ebf7-2f0d-52586ecca2c7}">
          <p14:sldIdLst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Fleetana company profile for prospective clients.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Software and hardware from one Saudi partner.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both lines aloud; let them stand.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client which of these four sounds most like their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whole offer on one slide: hardware, software, outcome.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six modules. The next slides go deeper.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Powered by the Fleetana GPS tracker in each vehicle.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Illustration uses demo figures.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and distances are demo figures.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data on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supply, install and support both trackers.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Mixed fleets often use both: FMC003 for light vehicles, R12L for heavy 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the savings come from. Each one is an action the client takes with what Fleetana shows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Adjust the industries to the client.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of setup happens in the first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founders, one team: operations, product, business development and customers.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Cover-image-2.jpe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Section-divider-image-2.jpe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image" Target="../media/Closing-image-2.jpe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aude/fleetana-launch/brand/assets/logo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2792029" cy="38404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spc="200" kern="0" dirty="0">
                <a:solidFill>
                  <a:srgbClr val="0051D5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2377440"/>
            <a:ext cx="63093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5000"/>
              </a:lnSpc>
              <a:buNone/>
              <a:defRPr lang="en-US" sz="4800" b="1" dirty="0">
                <a:solidFill>
                  <a:srgbClr val="000000"/>
                </a:solidFill>
              </a:defRPr>
            </a:lvl1pPr>
          </a:lstStyle>
          <a:p>
            <a:pPr algn="l" indent="0" marL="0">
              <a:lnSpc>
                <a:spcPct val="95000"/>
              </a:lnSpc>
              <a:buNone/>
            </a:pPr>
            <a:endParaRPr lang="en-US" sz="4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4480560"/>
            <a:ext cx="63093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45464D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548640" y="5989320"/>
            <a:ext cx="841248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64748B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aude/fleetana-launch/brand/assets/logo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1728399" cy="237744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828800"/>
            <a:ext cx="3657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8000" b="1" dirty="0">
                <a:solidFill>
                  <a:srgbClr val="2A89F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defRPr>
            </a:lvl1pPr>
          </a:lstStyle>
          <a:p>
            <a:pPr algn="l" indent="0" marL="0">
              <a:buNone/>
            </a:pPr>
            <a:endParaRPr lang="en-US" sz="80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3154680"/>
            <a:ext cx="91440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000000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452628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1E3A8A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6" name="Text 0"/>
          <p:cNvSpPr/>
          <p:nvPr/>
        </p:nvSpPr>
        <p:spPr>
          <a:xfrm>
            <a:off x="548640" y="6400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fleetana.sa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aude/fleetana-launch/brand/assets/logo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1728399" cy="237744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68680"/>
            <a:ext cx="11094415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000000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fleetana.sa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aude/fleetana-launch/brand/assets/logo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1728399" cy="237744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hasCustomPrompt="1"/>
          </p:nvPr>
        </p:nvSpPr>
        <p:spPr>
          <a:xfrm>
            <a:off x="548640" y="868680"/>
            <a:ext cx="11094415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000000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057400"/>
            <a:ext cx="11094415" cy="3931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spcAft>
                <a:spcPts val="800"/>
              </a:spcAft>
              <a:buNone/>
              <a:defRPr lang="en-US" sz="1800" dirty="0">
                <a:solidFill>
                  <a:srgbClr val="0F172A"/>
                </a:solidFill>
              </a:defRPr>
            </a:lvl1pPr>
          </a:lstStyle>
          <a:p>
            <a:pPr algn="l" indent="0" marL="0">
              <a:spcAft>
                <a:spcPts val="800"/>
              </a:spcAft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400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fleetana.sa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aude/fleetana-launch/brand/assets/logo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92728" y="1691640"/>
            <a:ext cx="4206240" cy="578575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097280" y="2743200"/>
            <a:ext cx="999713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000" b="1" dirty="0">
                <a:solidFill>
                  <a:srgbClr val="000000"/>
                </a:solidFill>
              </a:defRPr>
            </a:lvl1pPr>
          </a:lstStyle>
          <a:p>
            <a:pPr algn="ctr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1097280" y="3703320"/>
            <a:ext cx="9997135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000" dirty="0">
                <a:solidFill>
                  <a:srgbClr val="0051D5"/>
                </a:solidFill>
              </a:defRPr>
            </a:lvl1pPr>
          </a:lstStyle>
          <a:p>
            <a:pPr algn="ctr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3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5.png"/><Relationship Id="rId7" Type="http://schemas.openxmlformats.org/officeDocument/2006/relationships/image" Target="../media/image-18-5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image" Target="../media/image-19-2.jpg"/><Relationship Id="rId3" Type="http://schemas.openxmlformats.org/officeDocument/2006/relationships/image" Target="../media/image-19-3.jpg"/><Relationship Id="rId4" Type="http://schemas.openxmlformats.org/officeDocument/2006/relationships/image" Target="../media/image-19-4.jp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0051D5"/>
                </a:solidFill>
              </a:rPr>
              <a:t>COMPANY PROFILE</a:t>
            </a: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2377440"/>
            <a:ext cx="6309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000000"/>
                </a:solidFill>
              </a:rPr>
              <a:t>Your whole fleet.</a:t>
            </a:r>
            <a:endParaRPr lang="en-US" sz="48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0051D5"/>
                </a:solidFill>
              </a:rPr>
              <a:t>One place.</a:t>
            </a:r>
            <a:endParaRPr lang="en-US" sz="48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448056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45464D"/>
                </a:solidFill>
              </a:rPr>
              <a:t>Fleet and cost visibility, built for Saudi fleets</a:t>
            </a:r>
            <a:endParaRPr lang="en-US" sz="2000" dirty="0"/>
          </a:p>
        </p:txBody>
      </p:sp>
      <p:sp>
        <p:nvSpPr>
          <p:cNvPr id="5" name="Text 0"/>
          <p:cNvSpPr/>
          <p:nvPr>
            <p:ph idx="104" type="body" hasCustomPrompt="1"/>
          </p:nvPr>
        </p:nvSpPr>
        <p:spPr>
          <a:xfrm>
            <a:off x="548640" y="59893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Fleetana · 2026 · fleetana.sa</a:t>
            </a:r>
            <a:endParaRPr lang="en-US" sz="1200" dirty="0"/>
          </a:p>
        </p:txBody>
      </p:sp>
      <p:sp>
        <p:nvSpPr>
          <p:cNvPr id="6" name="cover-map-card"/>
          <p:cNvSpPr/>
          <p:nvPr/>
        </p:nvSpPr>
        <p:spPr>
          <a:xfrm>
            <a:off x="7269480" y="1554480"/>
            <a:ext cx="4370832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pic>
        <p:nvPicPr>
          <p:cNvPr id="7" name="Fleet map" descr="Fleet ma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79208" y="1664208"/>
            <a:ext cx="4151376" cy="242899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86868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Who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0051D5"/>
                </a:solidFill>
              </a:rPr>
              <a:t>we are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9456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Fleetana is fleet-management software built in Saudi Arabia for the people who run vehicles.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520440"/>
            <a:ext cx="6035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0F172A"/>
                </a:solidFill>
              </a:rPr>
              <a:t>One platform for vehicles, drivers, routes, fuel, service, inspections and work orders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0F172A"/>
                </a:solidFill>
              </a:rPr>
              <a:t>Shows what every vehicle is doing and what every vehicle costs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0F172A"/>
                </a:solidFill>
              </a:rPr>
              <a:t>Our own GPS trackers, supplied and installed by our team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0F172A"/>
                </a:solidFill>
              </a:rPr>
              <a:t>Web app for managers, mobile app for drivers, in Arabic and English</a:t>
            </a:r>
            <a:endParaRPr lang="en-US" sz="1600" dirty="0"/>
          </a:p>
        </p:txBody>
      </p:sp>
      <p:sp>
        <p:nvSpPr>
          <p:cNvPr id="5" name="fact-1"/>
          <p:cNvSpPr/>
          <p:nvPr/>
        </p:nvSpPr>
        <p:spPr>
          <a:xfrm>
            <a:off x="7086600" y="2194560"/>
            <a:ext cx="21945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315200" y="245059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0051D5"/>
                </a:solidFill>
              </a:rPr>
              <a:t>FOUNDED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315200" y="28346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2026</a:t>
            </a:r>
            <a:endParaRPr lang="en-US" sz="2000" dirty="0"/>
          </a:p>
        </p:txBody>
      </p:sp>
      <p:sp>
        <p:nvSpPr>
          <p:cNvPr id="8" name="fact-2"/>
          <p:cNvSpPr/>
          <p:nvPr/>
        </p:nvSpPr>
        <p:spPr>
          <a:xfrm>
            <a:off x="9418320" y="2194560"/>
            <a:ext cx="21945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9646920" y="245059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0051D5"/>
                </a:solidFill>
              </a:rPr>
              <a:t>HEADQUARTERS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8346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Riyadh, Saudi Arabia</a:t>
            </a:r>
            <a:endParaRPr lang="en-US" sz="2000" dirty="0"/>
          </a:p>
        </p:txBody>
      </p:sp>
      <p:sp>
        <p:nvSpPr>
          <p:cNvPr id="11" name="fact-3"/>
          <p:cNvSpPr/>
          <p:nvPr/>
        </p:nvSpPr>
        <p:spPr>
          <a:xfrm>
            <a:off x="7086600" y="3886200"/>
            <a:ext cx="21945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315200" y="414223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0051D5"/>
                </a:solidFill>
              </a:rPr>
              <a:t>CR NUMBER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0" y="45262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7051877566</a:t>
            </a:r>
            <a:endParaRPr lang="en-US" sz="2000" dirty="0"/>
          </a:p>
        </p:txBody>
      </p:sp>
      <p:sp>
        <p:nvSpPr>
          <p:cNvPr id="14" name="fact-4"/>
          <p:cNvSpPr/>
          <p:nvPr/>
        </p:nvSpPr>
        <p:spPr>
          <a:xfrm>
            <a:off x="9418320" y="3886200"/>
            <a:ext cx="21945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646920" y="414223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0051D5"/>
                </a:solidFill>
              </a:rPr>
              <a:t>LANGUAGES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45262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Arabic · English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86868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Vision &amp;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0051D5"/>
                </a:solidFill>
              </a:rPr>
              <a:t>mission</a:t>
            </a:r>
            <a:endParaRPr lang="en-US" sz="3200" dirty="0"/>
          </a:p>
        </p:txBody>
      </p:sp>
      <p:sp>
        <p:nvSpPr>
          <p:cNvPr id="3" name="vm-1"/>
          <p:cNvSpPr/>
          <p:nvPr/>
        </p:nvSpPr>
        <p:spPr>
          <a:xfrm>
            <a:off x="548640" y="2194560"/>
            <a:ext cx="5394960" cy="3291840"/>
          </a:xfrm>
          <a:prstGeom prst="roundRect">
            <a:avLst>
              <a:gd name="adj" fmla="val 3333"/>
            </a:avLst>
          </a:prstGeom>
          <a:solidFill>
            <a:srgbClr val="E8F2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sp>
        <p:nvSpPr>
          <p:cNvPr id="4" name="icon-bg-chart"/>
          <p:cNvSpPr/>
          <p:nvPr/>
        </p:nvSpPr>
        <p:spPr>
          <a:xfrm>
            <a:off x="960120" y="2560320"/>
            <a:ext cx="566928" cy="566928"/>
          </a:xfrm>
          <a:prstGeom prst="ellipse">
            <a:avLst/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pic>
        <p:nvPicPr>
          <p:cNvPr id="5" name="icon-chart" descr="/home/user/Claude/fleetana-launch/brand/assets/icons/icon-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3506" y="2673706"/>
            <a:ext cx="340157" cy="34015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60120" y="3337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0051D5"/>
                </a:solidFill>
              </a:rPr>
              <a:t>VISION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374904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Every Saudi fleet run on facts with the lifecycle optimized and efficient.</a:t>
            </a:r>
            <a:endParaRPr lang="en-US" sz="2600" dirty="0"/>
          </a:p>
        </p:txBody>
      </p:sp>
      <p:sp>
        <p:nvSpPr>
          <p:cNvPr id="8" name="vm-2"/>
          <p:cNvSpPr/>
          <p:nvPr/>
        </p:nvSpPr>
        <p:spPr>
          <a:xfrm>
            <a:off x="6172200" y="2194560"/>
            <a:ext cx="539496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sp>
        <p:nvSpPr>
          <p:cNvPr id="9" name="icon-bg-check"/>
          <p:cNvSpPr/>
          <p:nvPr/>
        </p:nvSpPr>
        <p:spPr>
          <a:xfrm>
            <a:off x="6583680" y="2560320"/>
            <a:ext cx="566928" cy="566928"/>
          </a:xfrm>
          <a:prstGeom prst="ellipse">
            <a:avLst/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pic>
        <p:nvPicPr>
          <p:cNvPr id="10" name="icon-check" descr="/home/user/Claude/fleetana-launch/brand/assets/icons/icon-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7066" y="2673706"/>
            <a:ext cx="340157" cy="34015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583680" y="3337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0051D5"/>
                </a:solidFill>
              </a:rPr>
              <a:t>MISSION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6583680" y="374904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One place to see every vehicle, its cost, its next job, and execution.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18288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2A89F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01</a:t>
            </a:r>
            <a:endParaRPr lang="en-US" sz="80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3154680"/>
            <a:ext cx="9144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00000"/>
                </a:solidFill>
              </a:rPr>
              <a:t>The problem</a:t>
            </a:r>
            <a:endParaRPr lang="en-US" sz="44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45262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E3A8A"/>
                </a:solidFill>
              </a:rPr>
              <a:t>Fleets run on spreadsheets, receipts and memory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86868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Where does your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0051D5"/>
                </a:solidFill>
              </a:rPr>
              <a:t>fleet's money go?</a:t>
            </a:r>
            <a:endParaRPr lang="en-US" sz="3200" dirty="0"/>
          </a:p>
        </p:txBody>
      </p:sp>
      <p:sp>
        <p:nvSpPr>
          <p:cNvPr id="3" name="card4-1"/>
          <p:cNvSpPr/>
          <p:nvPr/>
        </p:nvSpPr>
        <p:spPr>
          <a:xfrm>
            <a:off x="548640" y="224028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sp>
        <p:nvSpPr>
          <p:cNvPr id="4" name="icon-bg-clipboard"/>
          <p:cNvSpPr/>
          <p:nvPr/>
        </p:nvSpPr>
        <p:spPr>
          <a:xfrm>
            <a:off x="822960" y="2514600"/>
            <a:ext cx="566928" cy="566928"/>
          </a:xfrm>
          <a:prstGeom prst="ellipse">
            <a:avLst/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pic>
        <p:nvPicPr>
          <p:cNvPr id="5" name="icon-clipboard" descr="/home/user/Claude/fleetana-launch/brand/assets/icons/icon-clip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6346" y="2627986"/>
            <a:ext cx="340157" cy="34015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329184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Spreadsheets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402336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5464D"/>
                </a:solidFill>
              </a:rPr>
              <a:t>Service dates, plates and Istimara expiries live in files nobody updates on time.</a:t>
            </a:r>
            <a:endParaRPr lang="en-US" sz="1400" dirty="0"/>
          </a:p>
        </p:txBody>
      </p:sp>
      <p:sp>
        <p:nvSpPr>
          <p:cNvPr id="8" name="card4-2"/>
          <p:cNvSpPr/>
          <p:nvPr/>
        </p:nvSpPr>
        <p:spPr>
          <a:xfrm>
            <a:off x="3355848" y="224028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sp>
        <p:nvSpPr>
          <p:cNvPr id="9" name="icon-bg-fuel"/>
          <p:cNvSpPr/>
          <p:nvPr/>
        </p:nvSpPr>
        <p:spPr>
          <a:xfrm>
            <a:off x="3630168" y="2514600"/>
            <a:ext cx="566928" cy="566928"/>
          </a:xfrm>
          <a:prstGeom prst="ellipse">
            <a:avLst/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pic>
        <p:nvPicPr>
          <p:cNvPr id="10" name="icon-fuel" descr="/home/user/Claude/fleetana-launch/brand/assets/icons/icon-fue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3554" y="2627986"/>
            <a:ext cx="340157" cy="34015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30168" y="329184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Receipts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3630168" y="402336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5464D"/>
                </a:solidFill>
              </a:rPr>
              <a:t>Fuel and repair spend sits in drawers and photos, so odd fill-ups go unnoticed.</a:t>
            </a:r>
            <a:endParaRPr lang="en-US" sz="1400" dirty="0"/>
          </a:p>
        </p:txBody>
      </p:sp>
      <p:sp>
        <p:nvSpPr>
          <p:cNvPr id="13" name="card4-3"/>
          <p:cNvSpPr/>
          <p:nvPr/>
        </p:nvSpPr>
        <p:spPr>
          <a:xfrm>
            <a:off x="6163056" y="224028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sp>
        <p:nvSpPr>
          <p:cNvPr id="14" name="icon-bg-pin"/>
          <p:cNvSpPr/>
          <p:nvPr/>
        </p:nvSpPr>
        <p:spPr>
          <a:xfrm>
            <a:off x="6437376" y="2514600"/>
            <a:ext cx="566928" cy="566928"/>
          </a:xfrm>
          <a:prstGeom prst="ellipse">
            <a:avLst/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pic>
        <p:nvPicPr>
          <p:cNvPr id="15" name="icon-pin" descr="/home/user/Claude/fleetana-launch/brand/assets/icons/icon-p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0762" y="2627986"/>
            <a:ext cx="340157" cy="34015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437376" y="329184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Blind spots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6437376" y="402336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5464D"/>
                </a:solidFill>
              </a:rPr>
              <a:t>Nobody can say which route a vehicle took, or how long it sat idling.</a:t>
            </a:r>
            <a:endParaRPr lang="en-US" sz="1400" dirty="0"/>
          </a:p>
        </p:txBody>
      </p:sp>
      <p:sp>
        <p:nvSpPr>
          <p:cNvPr id="18" name="card4-4"/>
          <p:cNvSpPr/>
          <p:nvPr/>
        </p:nvSpPr>
        <p:spPr>
          <a:xfrm>
            <a:off x="8970264" y="224028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sp>
        <p:nvSpPr>
          <p:cNvPr id="19" name="icon-bg-bell"/>
          <p:cNvSpPr/>
          <p:nvPr/>
        </p:nvSpPr>
        <p:spPr>
          <a:xfrm>
            <a:off x="9244584" y="2514600"/>
            <a:ext cx="566928" cy="566928"/>
          </a:xfrm>
          <a:prstGeom prst="ellipse">
            <a:avLst/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pic>
        <p:nvPicPr>
          <p:cNvPr id="20" name="icon-bell" descr="/home/user/Claude/fleetana-launch/brand/assets/icons/icon-bel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7970" y="2627986"/>
            <a:ext cx="340157" cy="340157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244584" y="329184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Chat threads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9244584" y="402336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5464D"/>
                </a:solidFill>
              </a:rPr>
              <a:t>Checks, faults and approvals happen in WhatsApp, and nothing links back to the vehicle.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18288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2A89F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02</a:t>
            </a:r>
            <a:endParaRPr lang="en-US" sz="80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3154680"/>
            <a:ext cx="9144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00000"/>
                </a:solidFill>
              </a:rPr>
              <a:t>The solution</a:t>
            </a:r>
            <a:endParaRPr lang="en-US" sz="44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45262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E3A8A"/>
                </a:solidFill>
              </a:rPr>
              <a:t>Software and trackers from one partner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86868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How Fleetana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0051D5"/>
                </a:solidFill>
              </a:rPr>
              <a:t>works</a:t>
            </a:r>
            <a:endParaRPr lang="en-US" sz="3200" dirty="0"/>
          </a:p>
        </p:txBody>
      </p:sp>
      <p:sp>
        <p:nvSpPr>
          <p:cNvPr id="3" name="how-1"/>
          <p:cNvSpPr/>
          <p:nvPr/>
        </p:nvSpPr>
        <p:spPr>
          <a:xfrm>
            <a:off x="548640" y="2103120"/>
            <a:ext cx="3429000" cy="38862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pic>
        <p:nvPicPr>
          <p:cNvPr id="4" name="device-fmc003" descr="fmc00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377440"/>
            <a:ext cx="1225868" cy="1188720"/>
          </a:xfrm>
          <a:prstGeom prst="rect">
            <a:avLst/>
          </a:prstGeom>
        </p:spPr>
      </p:pic>
      <p:pic>
        <p:nvPicPr>
          <p:cNvPr id="5" name="device-r12l" descr="r12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2304288"/>
            <a:ext cx="395016" cy="132588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22960" y="427939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051D5"/>
                </a:solidFill>
              </a:rPr>
              <a:t>IN EVERY VEHICLE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822960" y="455371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Our GPS tracker</a:t>
            </a:r>
            <a:endParaRPr lang="en-US" sz="1900" dirty="0"/>
          </a:p>
        </p:txBody>
      </p:sp>
      <p:sp>
        <p:nvSpPr>
          <p:cNvPr id="8" name="Text 4"/>
          <p:cNvSpPr txBox="1"/>
          <p:nvPr/>
        </p:nvSpPr>
        <p:spPr>
          <a:xfrm>
            <a:off x="822960" y="502920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45464D"/>
                </a:solidFill>
              </a:rPr>
              <a:t>We supply and install a tracker that fits the vehicle, from pickups to heavy trucks.</a:t>
            </a:r>
            <a:endParaRPr lang="en-US" sz="1350" dirty="0"/>
          </a:p>
        </p:txBody>
      </p:sp>
      <p:pic>
        <p:nvPicPr>
          <p:cNvPr id="9" name="arrow-1" descr="/home/user/Claude/fleetana-launch/brand/assets/icons/icon-arrowR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7932" y="3931920"/>
            <a:ext cx="219456" cy="219456"/>
          </a:xfrm>
          <a:prstGeom prst="rect">
            <a:avLst/>
          </a:prstGeom>
        </p:spPr>
      </p:pic>
      <p:sp>
        <p:nvSpPr>
          <p:cNvPr id="10" name="how-2"/>
          <p:cNvSpPr/>
          <p:nvPr/>
        </p:nvSpPr>
        <p:spPr>
          <a:xfrm>
            <a:off x="4297680" y="2103120"/>
            <a:ext cx="3429000" cy="38862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pic>
        <p:nvPicPr>
          <p:cNvPr id="11" name="Fleetana platform" descr="Fleetana platform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377440"/>
            <a:ext cx="2880360" cy="1685317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4572000" y="427939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051D5"/>
                </a:solidFill>
              </a:rPr>
              <a:t>ON ONE PLATFORM</a:t>
            </a:r>
            <a:endParaRPr lang="en-US" sz="1100" dirty="0"/>
          </a:p>
        </p:txBody>
      </p:sp>
      <p:sp>
        <p:nvSpPr>
          <p:cNvPr id="13" name="Text 7"/>
          <p:cNvSpPr txBox="1"/>
          <p:nvPr/>
        </p:nvSpPr>
        <p:spPr>
          <a:xfrm>
            <a:off x="4572000" y="455371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Fleetana web &amp; mobile</a:t>
            </a:r>
            <a:endParaRPr lang="en-US" sz="1900" dirty="0"/>
          </a:p>
        </p:txBody>
      </p:sp>
      <p:sp>
        <p:nvSpPr>
          <p:cNvPr id="14" name="Text 8"/>
          <p:cNvSpPr txBox="1"/>
          <p:nvPr/>
        </p:nvSpPr>
        <p:spPr>
          <a:xfrm>
            <a:off x="4572000" y="502920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45464D"/>
                </a:solidFill>
              </a:rPr>
              <a:t>Location, trips, fuel, service and costs land in one place, for every vehicle.</a:t>
            </a:r>
            <a:endParaRPr lang="en-US" sz="1350" dirty="0"/>
          </a:p>
        </p:txBody>
      </p:sp>
      <p:pic>
        <p:nvPicPr>
          <p:cNvPr id="15" name="arrow-2" descr="/home/user/Claude/fleetana-launch/brand/assets/icons/icon-arrowRigh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6972" y="3931920"/>
            <a:ext cx="219456" cy="219456"/>
          </a:xfrm>
          <a:prstGeom prst="rect">
            <a:avLst/>
          </a:prstGeom>
        </p:spPr>
      </p:pic>
      <p:sp>
        <p:nvSpPr>
          <p:cNvPr id="16" name="how-3"/>
          <p:cNvSpPr/>
          <p:nvPr/>
        </p:nvSpPr>
        <p:spPr>
          <a:xfrm>
            <a:off x="8046720" y="2103120"/>
            <a:ext cx="3429000" cy="38862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pic>
        <p:nvPicPr>
          <p:cNvPr id="17" name="Cost per vehicle" descr="Cost per vehicl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377440"/>
            <a:ext cx="2880360" cy="1685317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8321040" y="427939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051D5"/>
                </a:solidFill>
              </a:rPr>
              <a:t>IN YOUR DECISIONS</a:t>
            </a:r>
            <a:endParaRPr lang="en-US" sz="1100" dirty="0"/>
          </a:p>
        </p:txBody>
      </p:sp>
      <p:sp>
        <p:nvSpPr>
          <p:cNvPr id="19" name="Text 11"/>
          <p:cNvSpPr txBox="1"/>
          <p:nvPr/>
        </p:nvSpPr>
        <p:spPr>
          <a:xfrm>
            <a:off x="8321040" y="455371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See, decide, save</a:t>
            </a:r>
            <a:endParaRPr lang="en-US" sz="1900" dirty="0"/>
          </a:p>
        </p:txBody>
      </p:sp>
      <p:sp>
        <p:nvSpPr>
          <p:cNvPr id="20" name="Text 12"/>
          <p:cNvSpPr txBox="1"/>
          <p:nvPr/>
        </p:nvSpPr>
        <p:spPr>
          <a:xfrm>
            <a:off x="8321040" y="502920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45464D"/>
                </a:solidFill>
              </a:rPr>
              <a:t>Spot the waste, act on it, and watch the cost per vehicle come down.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86868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Everything that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0051D5"/>
                </a:solidFill>
              </a:rPr>
              <a:t>touches your fleet</a:t>
            </a:r>
            <a:endParaRPr lang="en-US" sz="3200" dirty="0"/>
          </a:p>
        </p:txBody>
      </p:sp>
      <p:sp>
        <p:nvSpPr>
          <p:cNvPr id="3" name="tile-1"/>
          <p:cNvSpPr/>
          <p:nvPr/>
        </p:nvSpPr>
        <p:spPr>
          <a:xfrm>
            <a:off x="548640" y="210312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sp>
        <p:nvSpPr>
          <p:cNvPr id="4" name="icon-bg-truck"/>
          <p:cNvSpPr/>
          <p:nvPr/>
        </p:nvSpPr>
        <p:spPr>
          <a:xfrm>
            <a:off x="822960" y="2377440"/>
            <a:ext cx="512064" cy="512064"/>
          </a:xfrm>
          <a:prstGeom prst="ellipse">
            <a:avLst/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pic>
        <p:nvPicPr>
          <p:cNvPr id="5" name="icon-truck" descr="/home/user/Claude/fleetana-launch/brand/assets/icons/icon-tru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373" y="2479853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240487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Vehicles &amp; documents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999232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5464D"/>
                </a:solidFill>
              </a:rPr>
              <a:t>Plates, drivers, Istimara, insurance and Fahes for every vehicle.</a:t>
            </a:r>
            <a:endParaRPr lang="en-US" sz="1300" dirty="0"/>
          </a:p>
        </p:txBody>
      </p:sp>
      <p:sp>
        <p:nvSpPr>
          <p:cNvPr id="8" name="tile-2"/>
          <p:cNvSpPr/>
          <p:nvPr/>
        </p:nvSpPr>
        <p:spPr>
          <a:xfrm>
            <a:off x="4297680" y="210312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sp>
        <p:nvSpPr>
          <p:cNvPr id="9" name="icon-bg-wrench"/>
          <p:cNvSpPr/>
          <p:nvPr/>
        </p:nvSpPr>
        <p:spPr>
          <a:xfrm>
            <a:off x="4572000" y="2377440"/>
            <a:ext cx="512064" cy="512064"/>
          </a:xfrm>
          <a:prstGeom prst="ellipse">
            <a:avLst/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pic>
        <p:nvPicPr>
          <p:cNvPr id="10" name="icon-wrench" descr="/home/user/Claude/fleetana-launch/brand/assets/icons/icon-wren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4413" y="2479853"/>
            <a:ext cx="307238" cy="30723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257800" y="240487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Service &amp; maintenance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2999232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5464D"/>
                </a:solidFill>
              </a:rPr>
              <a:t>Programs by km, engine hours or date. Due soon and overdue at a glance.</a:t>
            </a:r>
            <a:endParaRPr lang="en-US" sz="1300" dirty="0"/>
          </a:p>
        </p:txBody>
      </p:sp>
      <p:sp>
        <p:nvSpPr>
          <p:cNvPr id="13" name="tile-3"/>
          <p:cNvSpPr/>
          <p:nvPr/>
        </p:nvSpPr>
        <p:spPr>
          <a:xfrm>
            <a:off x="8046720" y="210312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sp>
        <p:nvSpPr>
          <p:cNvPr id="14" name="icon-bg-fuel"/>
          <p:cNvSpPr/>
          <p:nvPr/>
        </p:nvSpPr>
        <p:spPr>
          <a:xfrm>
            <a:off x="8321040" y="2377440"/>
            <a:ext cx="512064" cy="512064"/>
          </a:xfrm>
          <a:prstGeom prst="ellipse">
            <a:avLst/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pic>
        <p:nvPicPr>
          <p:cNvPr id="15" name="icon-fuel" descr="/home/user/Claude/fleetana-launch/brand/assets/icons/icon-fue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3453" y="2479853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006840" y="240487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Fuel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8321040" y="2999232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5464D"/>
                </a:solidFill>
              </a:rPr>
              <a:t>km/L on every full fill. Low fills flagged.</a:t>
            </a:r>
            <a:endParaRPr lang="en-US" sz="1300" dirty="0"/>
          </a:p>
        </p:txBody>
      </p:sp>
      <p:sp>
        <p:nvSpPr>
          <p:cNvPr id="18" name="tile-4"/>
          <p:cNvSpPr/>
          <p:nvPr/>
        </p:nvSpPr>
        <p:spPr>
          <a:xfrm>
            <a:off x="548640" y="411480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sp>
        <p:nvSpPr>
          <p:cNvPr id="19" name="icon-bg-clipboard"/>
          <p:cNvSpPr/>
          <p:nvPr/>
        </p:nvSpPr>
        <p:spPr>
          <a:xfrm>
            <a:off x="822960" y="4389120"/>
            <a:ext cx="512064" cy="512064"/>
          </a:xfrm>
          <a:prstGeom prst="ellipse">
            <a:avLst/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pic>
        <p:nvPicPr>
          <p:cNvPr id="20" name="icon-clipboard" descr="/home/user/Claude/fleetana-launch/brand/assets/icons/icon-clipbo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373" y="4491533"/>
            <a:ext cx="307238" cy="30723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508760" y="441655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Inspections &amp; issues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822960" y="5010912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5464D"/>
                </a:solidFill>
              </a:rPr>
              <a:t>Custom checklists with photos. A failed item opens an issue.</a:t>
            </a:r>
            <a:endParaRPr lang="en-US" sz="1300" dirty="0"/>
          </a:p>
        </p:txBody>
      </p:sp>
      <p:sp>
        <p:nvSpPr>
          <p:cNvPr id="23" name="tile-5"/>
          <p:cNvSpPr/>
          <p:nvPr/>
        </p:nvSpPr>
        <p:spPr>
          <a:xfrm>
            <a:off x="4297680" y="411480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sp>
        <p:nvSpPr>
          <p:cNvPr id="24" name="icon-bg-check"/>
          <p:cNvSpPr/>
          <p:nvPr/>
        </p:nvSpPr>
        <p:spPr>
          <a:xfrm>
            <a:off x="4572000" y="4389120"/>
            <a:ext cx="512064" cy="512064"/>
          </a:xfrm>
          <a:prstGeom prst="ellipse">
            <a:avLst/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pic>
        <p:nvPicPr>
          <p:cNvPr id="25" name="icon-check" descr="/home/user/Claude/fleetana-launch/brand/assets/icons/icon-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4413" y="4491533"/>
            <a:ext cx="307238" cy="307238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257800" y="441655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Work orders &amp; parts</a:t>
            </a:r>
            <a:endParaRPr lang="en-US" sz="1700" dirty="0"/>
          </a:p>
        </p:txBody>
      </p:sp>
      <p:sp>
        <p:nvSpPr>
          <p:cNvPr id="27" name="Text 20"/>
          <p:cNvSpPr txBox="1"/>
          <p:nvPr/>
        </p:nvSpPr>
        <p:spPr>
          <a:xfrm>
            <a:off x="4572000" y="5010912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5464D"/>
                </a:solidFill>
              </a:rPr>
              <a:t>Parts, labour and fees, with 15% VAT and approval steps.</a:t>
            </a:r>
            <a:endParaRPr lang="en-US" sz="1300" dirty="0"/>
          </a:p>
        </p:txBody>
      </p:sp>
      <p:sp>
        <p:nvSpPr>
          <p:cNvPr id="28" name="tile-6"/>
          <p:cNvSpPr/>
          <p:nvPr/>
        </p:nvSpPr>
        <p:spPr>
          <a:xfrm>
            <a:off x="8046720" y="411480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sp>
        <p:nvSpPr>
          <p:cNvPr id="29" name="icon-bg-pin"/>
          <p:cNvSpPr/>
          <p:nvPr/>
        </p:nvSpPr>
        <p:spPr>
          <a:xfrm>
            <a:off x="8321040" y="4389120"/>
            <a:ext cx="512064" cy="512064"/>
          </a:xfrm>
          <a:prstGeom prst="ellipse">
            <a:avLst/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pic>
        <p:nvPicPr>
          <p:cNvPr id="30" name="icon-pin" descr="/home/user/Claude/fleetana-launch/brand/assets/icons/icon-pi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3453" y="4491533"/>
            <a:ext cx="307238" cy="307238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006840" y="441655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Live map &amp; routes</a:t>
            </a:r>
            <a:endParaRPr lang="en-US" sz="1700" dirty="0"/>
          </a:p>
        </p:txBody>
      </p:sp>
      <p:sp>
        <p:nvSpPr>
          <p:cNvPr id="32" name="Text 24"/>
          <p:cNvSpPr txBox="1"/>
          <p:nvPr/>
        </p:nvSpPr>
        <p:spPr>
          <a:xfrm>
            <a:off x="8321040" y="5010912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5464D"/>
                </a:solidFill>
              </a:rPr>
              <a:t>Live positions, trip replay, optimised routes and driver scores.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86868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Know what every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0051D5"/>
                </a:solidFill>
              </a:rPr>
              <a:t>vehicle is doing</a:t>
            </a:r>
            <a:endParaRPr lang="en-US" sz="3200" dirty="0"/>
          </a:p>
        </p:txBody>
      </p:sp>
      <p:sp>
        <p:nvSpPr>
          <p:cNvPr id="3" name="icon-bg-pin"/>
          <p:cNvSpPr/>
          <p:nvPr/>
        </p:nvSpPr>
        <p:spPr>
          <a:xfrm>
            <a:off x="548640" y="2148840"/>
            <a:ext cx="512064" cy="512064"/>
          </a:xfrm>
          <a:prstGeom prst="ellipse">
            <a:avLst/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pic>
        <p:nvPicPr>
          <p:cNvPr id="4" name="icon-pin" descr="/home/user/Claude/fleetana-launch/brand/assets/icons/icon-p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053" y="2251253"/>
            <a:ext cx="307238" cy="30723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21305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Live map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1280160" y="249631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5464D"/>
                </a:solidFill>
              </a:rPr>
              <a:t>Every vehicle as moving, idle, parked or no signal, updated every few seconds.</a:t>
            </a:r>
            <a:endParaRPr lang="en-US" sz="1300" dirty="0"/>
          </a:p>
        </p:txBody>
      </p:sp>
      <p:sp>
        <p:nvSpPr>
          <p:cNvPr id="7" name="icon-bg-chart"/>
          <p:cNvSpPr/>
          <p:nvPr/>
        </p:nvSpPr>
        <p:spPr>
          <a:xfrm>
            <a:off x="548640" y="3081528"/>
            <a:ext cx="512064" cy="512064"/>
          </a:xfrm>
          <a:prstGeom prst="ellipse">
            <a:avLst/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pic>
        <p:nvPicPr>
          <p:cNvPr id="8" name="icon-chart" descr="/home/user/Claude/fleetana-launch/brand/assets/icons/icon-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3" y="3183941"/>
            <a:ext cx="307238" cy="30723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0160" y="3063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Trip replay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1280160" y="34290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5464D"/>
                </a:solidFill>
              </a:rPr>
              <a:t>See the exact route each vehicle drove, stop by stop.</a:t>
            </a:r>
            <a:endParaRPr lang="en-US" sz="1300" dirty="0"/>
          </a:p>
        </p:txBody>
      </p:sp>
      <p:sp>
        <p:nvSpPr>
          <p:cNvPr id="11" name="icon-bg-alert"/>
          <p:cNvSpPr/>
          <p:nvPr/>
        </p:nvSpPr>
        <p:spPr>
          <a:xfrm>
            <a:off x="548640" y="4014216"/>
            <a:ext cx="512064" cy="512064"/>
          </a:xfrm>
          <a:prstGeom prst="ellipse">
            <a:avLst/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pic>
        <p:nvPicPr>
          <p:cNvPr id="12" name="icon-alert" descr="/home/user/Claude/fleetana-launch/brand/assets/icons/icon-ale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53" y="4116629"/>
            <a:ext cx="307238" cy="30723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80160" y="39959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Idle time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1280160" y="436168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5464D"/>
                </a:solidFill>
              </a:rPr>
              <a:t>Engine-on minutes per trip and per day, for every vehicle.</a:t>
            </a:r>
            <a:endParaRPr lang="en-US" sz="1300" dirty="0"/>
          </a:p>
        </p:txBody>
      </p:sp>
      <p:sp>
        <p:nvSpPr>
          <p:cNvPr id="15" name="icon-bg-users"/>
          <p:cNvSpPr/>
          <p:nvPr/>
        </p:nvSpPr>
        <p:spPr>
          <a:xfrm>
            <a:off x="548640" y="4946904"/>
            <a:ext cx="512064" cy="512064"/>
          </a:xfrm>
          <a:prstGeom prst="ellipse">
            <a:avLst/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pic>
        <p:nvPicPr>
          <p:cNvPr id="16" name="icon-users" descr="/home/user/Claude/fleetana-launch/brand/assets/icons/icon-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53" y="5049317"/>
            <a:ext cx="307238" cy="30723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280160" y="492861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Driver scores</a:t>
            </a:r>
            <a:endParaRPr lang="en-US" sz="1700" dirty="0"/>
          </a:p>
        </p:txBody>
      </p:sp>
      <p:sp>
        <p:nvSpPr>
          <p:cNvPr id="18" name="Text 12"/>
          <p:cNvSpPr txBox="1"/>
          <p:nvPr/>
        </p:nvSpPr>
        <p:spPr>
          <a:xfrm>
            <a:off x="1280160" y="5294376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5464D"/>
                </a:solidFill>
              </a:rPr>
              <a:t>Harsh driving, speeding and collisions turned into a 0–100 score.</a:t>
            </a:r>
            <a:endParaRPr lang="en-US" sz="1300" dirty="0"/>
          </a:p>
        </p:txBody>
      </p:sp>
      <p:sp>
        <p:nvSpPr>
          <p:cNvPr id="19" name="card-map"/>
          <p:cNvSpPr/>
          <p:nvPr/>
        </p:nvSpPr>
        <p:spPr>
          <a:xfrm>
            <a:off x="5623560" y="2103120"/>
            <a:ext cx="6016752" cy="3630168"/>
          </a:xfrm>
          <a:prstGeom prst="roundRect">
            <a:avLst>
              <a:gd name="adj" fmla="val 302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pic>
        <p:nvPicPr>
          <p:cNvPr id="20" name="Live map" descr="Live map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3288" y="2212848"/>
            <a:ext cx="5797296" cy="3392035"/>
          </a:xfrm>
          <a:prstGeom prst="rect">
            <a:avLst/>
          </a:prstGeom>
        </p:spPr>
      </p:pic>
      <p:sp>
        <p:nvSpPr>
          <p:cNvPr id="21" name="pill-Fleetana GPS tracker"/>
          <p:cNvSpPr txBox="1"/>
          <p:nvPr/>
        </p:nvSpPr>
        <p:spPr>
          <a:xfrm>
            <a:off x="5623560" y="5870448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5F1F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8A"/>
                </a:solidFill>
              </a:rPr>
              <a:t>Fleetana GPS tracker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86868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See where your fleet's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0051D5"/>
                </a:solidFill>
              </a:rPr>
              <a:t>money really goes</a:t>
            </a:r>
            <a:endParaRPr lang="en-US" sz="3200" dirty="0"/>
          </a:p>
        </p:txBody>
      </p:sp>
      <p:sp>
        <p:nvSpPr>
          <p:cNvPr id="3" name="card-costs"/>
          <p:cNvSpPr/>
          <p:nvPr/>
        </p:nvSpPr>
        <p:spPr>
          <a:xfrm>
            <a:off x="548640" y="2103120"/>
            <a:ext cx="6309360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pic>
        <p:nvPicPr>
          <p:cNvPr id="4" name="Vehicle cost breakdown" descr="Vehicle cost breakdow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176272"/>
            <a:ext cx="6089904" cy="3563242"/>
          </a:xfrm>
          <a:prstGeom prst="rect">
            <a:avLst/>
          </a:prstGeom>
        </p:spPr>
      </p:pic>
      <p:sp>
        <p:nvSpPr>
          <p:cNvPr id="5" name="num-1"/>
          <p:cNvSpPr txBox="1"/>
          <p:nvPr/>
        </p:nvSpPr>
        <p:spPr>
          <a:xfrm>
            <a:off x="7269480" y="2148840"/>
            <a:ext cx="457200" cy="457200"/>
          </a:xfrm>
          <a:prstGeom prst="ellipse">
            <a:avLst/>
          </a:prstGeom>
          <a:solidFill>
            <a:srgbClr val="E8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51D5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909560" y="2130552"/>
            <a:ext cx="3730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Cost per vehicle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909560" y="2542032"/>
            <a:ext cx="37307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5464D"/>
                </a:solidFill>
              </a:rPr>
              <a:t>Fuel, service and work orders add up on each vehicle, in SAR, with cost per km.</a:t>
            </a:r>
            <a:endParaRPr lang="en-US" sz="1300" dirty="0"/>
          </a:p>
        </p:txBody>
      </p:sp>
      <p:sp>
        <p:nvSpPr>
          <p:cNvPr id="8" name="num-2"/>
          <p:cNvSpPr txBox="1"/>
          <p:nvPr/>
        </p:nvSpPr>
        <p:spPr>
          <a:xfrm>
            <a:off x="7269480" y="3136392"/>
            <a:ext cx="457200" cy="457200"/>
          </a:xfrm>
          <a:prstGeom prst="ellipse">
            <a:avLst/>
          </a:prstGeom>
          <a:solidFill>
            <a:srgbClr val="E8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51D5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909560" y="3118104"/>
            <a:ext cx="3730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Fuel anomalies flagged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7909560" y="3529584"/>
            <a:ext cx="37307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5464D"/>
                </a:solidFill>
              </a:rPr>
              <a:t>A full fill below 70% of that vehicle's 30-day average is flagged Low.</a:t>
            </a:r>
            <a:endParaRPr lang="en-US" sz="1300" dirty="0"/>
          </a:p>
        </p:txBody>
      </p:sp>
      <p:sp>
        <p:nvSpPr>
          <p:cNvPr id="11" name="num-3"/>
          <p:cNvSpPr txBox="1"/>
          <p:nvPr/>
        </p:nvSpPr>
        <p:spPr>
          <a:xfrm>
            <a:off x="7269480" y="4123944"/>
            <a:ext cx="457200" cy="457200"/>
          </a:xfrm>
          <a:prstGeom prst="ellipse">
            <a:avLst/>
          </a:prstGeom>
          <a:solidFill>
            <a:srgbClr val="E8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51D5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909560" y="4105656"/>
            <a:ext cx="3730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Every riyal itemised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7909560" y="4517136"/>
            <a:ext cx="37307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5464D"/>
                </a:solidFill>
              </a:rPr>
              <a:t>Work orders split parts, labour and fees, with 15% VAT.</a:t>
            </a:r>
            <a:endParaRPr lang="en-US" sz="1300" dirty="0"/>
          </a:p>
        </p:txBody>
      </p:sp>
      <p:sp>
        <p:nvSpPr>
          <p:cNvPr id="14" name="num-4"/>
          <p:cNvSpPr txBox="1"/>
          <p:nvPr/>
        </p:nvSpPr>
        <p:spPr>
          <a:xfrm>
            <a:off x="7269480" y="5111496"/>
            <a:ext cx="457200" cy="457200"/>
          </a:xfrm>
          <a:prstGeom prst="ellipse">
            <a:avLst/>
          </a:prstGeom>
          <a:solidFill>
            <a:srgbClr val="E8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51D5"/>
                </a:solidFill>
              </a:rPr>
              <a:t>4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7909560" y="5093208"/>
            <a:ext cx="3730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Warranty on record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7909560" y="5504688"/>
            <a:ext cx="37307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5464D"/>
                </a:solidFill>
              </a:rPr>
              <a:t>Check the warranty before you pay for the same repair twice.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86868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Shorter routes,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0051D5"/>
                </a:solidFill>
              </a:rPr>
              <a:t>less fuel</a:t>
            </a:r>
            <a:endParaRPr lang="en-US" sz="3200" dirty="0"/>
          </a:p>
        </p:txBody>
      </p:sp>
      <p:sp>
        <p:nvSpPr>
          <p:cNvPr id="3" name="card-route"/>
          <p:cNvSpPr/>
          <p:nvPr/>
        </p:nvSpPr>
        <p:spPr>
          <a:xfrm>
            <a:off x="548640" y="2103120"/>
            <a:ext cx="6309360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pic>
        <p:nvPicPr>
          <p:cNvPr id="4" name="Driven route vs optimised route" descr="Driven route vs optimised rou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176272"/>
            <a:ext cx="6089904" cy="3563242"/>
          </a:xfrm>
          <a:prstGeom prst="rect">
            <a:avLst/>
          </a:prstGeom>
        </p:spPr>
      </p:pic>
      <p:sp>
        <p:nvSpPr>
          <p:cNvPr id="5" name="num-1"/>
          <p:cNvSpPr txBox="1"/>
          <p:nvPr/>
        </p:nvSpPr>
        <p:spPr>
          <a:xfrm>
            <a:off x="7269480" y="2148840"/>
            <a:ext cx="457200" cy="457200"/>
          </a:xfrm>
          <a:prstGeom prst="ellipse">
            <a:avLst/>
          </a:prstGeom>
          <a:solidFill>
            <a:srgbClr val="E8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51D5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909560" y="2130552"/>
            <a:ext cx="3730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Optimised routes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909560" y="2542032"/>
            <a:ext cx="37307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5464D"/>
                </a:solidFill>
              </a:rPr>
              <a:t>Fleetana orders your stops into the shortest route before the vehicle leaves.</a:t>
            </a:r>
            <a:endParaRPr lang="en-US" sz="1300" dirty="0"/>
          </a:p>
        </p:txBody>
      </p:sp>
      <p:sp>
        <p:nvSpPr>
          <p:cNvPr id="8" name="num-2"/>
          <p:cNvSpPr txBox="1"/>
          <p:nvPr/>
        </p:nvSpPr>
        <p:spPr>
          <a:xfrm>
            <a:off x="7269480" y="3337560"/>
            <a:ext cx="457200" cy="457200"/>
          </a:xfrm>
          <a:prstGeom prst="ellipse">
            <a:avLst/>
          </a:prstGeom>
          <a:solidFill>
            <a:srgbClr val="E8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51D5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909560" y="3319272"/>
            <a:ext cx="3730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Planned vs driven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7909560" y="3730752"/>
            <a:ext cx="37307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5464D"/>
                </a:solidFill>
              </a:rPr>
              <a:t>Compare the route you planned with the route actually driven.</a:t>
            </a:r>
            <a:endParaRPr lang="en-US" sz="1300" dirty="0"/>
          </a:p>
        </p:txBody>
      </p:sp>
      <p:sp>
        <p:nvSpPr>
          <p:cNvPr id="11" name="num-3"/>
          <p:cNvSpPr txBox="1"/>
          <p:nvPr/>
        </p:nvSpPr>
        <p:spPr>
          <a:xfrm>
            <a:off x="7269480" y="4526280"/>
            <a:ext cx="457200" cy="457200"/>
          </a:xfrm>
          <a:prstGeom prst="ellipse">
            <a:avLst/>
          </a:prstGeom>
          <a:solidFill>
            <a:srgbClr val="E8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51D5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909560" y="4507992"/>
            <a:ext cx="3730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Fewer wasted kilometres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7909560" y="4919472"/>
            <a:ext cx="37307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5464D"/>
                </a:solidFill>
              </a:rPr>
              <a:t>Every kilometre saved is fuel, time and wear you don't pay for.</a:t>
            </a:r>
            <a:endParaRPr lang="en-US" sz="1300" dirty="0"/>
          </a:p>
        </p:txBody>
      </p:sp>
      <p:sp>
        <p:nvSpPr>
          <p:cNvPr id="14" name="pill-Fleetana GPS tracker"/>
          <p:cNvSpPr txBox="1"/>
          <p:nvPr/>
        </p:nvSpPr>
        <p:spPr>
          <a:xfrm>
            <a:off x="7269480" y="557784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5F1F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8A"/>
                </a:solidFill>
              </a:rPr>
              <a:t>Fleetana GPS tracker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86868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Maintenance that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0051D5"/>
                </a:solidFill>
              </a:rPr>
              <a:t>runs on schedule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240280"/>
            <a:ext cx="55778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0F172A"/>
                </a:solidFill>
              </a:rPr>
              <a:t>Service due by km, engine hours or date, whichever comes first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0F172A"/>
                </a:solidFill>
              </a:rPr>
              <a:t>36 standard service tasks ready on day one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0F172A"/>
                </a:solidFill>
              </a:rPr>
              <a:t>Inspections on the mobile app, with photos; a failed item opens an issue automatically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0F172A"/>
                </a:solidFill>
              </a:rPr>
              <a:t>Work orders with parts, labour, fees, 15% VAT and approval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0F172A"/>
                </a:solidFill>
              </a:rPr>
              <a:t>Parts stock per location, and warranty periods on parts and repairs</a:t>
            </a:r>
            <a:endParaRPr lang="en-US" sz="1600" dirty="0"/>
          </a:p>
        </p:txBody>
      </p:sp>
      <p:sp>
        <p:nvSpPr>
          <p:cNvPr id="4" name="card-ui-reminders"/>
          <p:cNvSpPr/>
          <p:nvPr/>
        </p:nvSpPr>
        <p:spPr>
          <a:xfrm>
            <a:off x="7205472" y="2057400"/>
            <a:ext cx="4434840" cy="1968392"/>
          </a:xfrm>
          <a:prstGeom prst="roundRect">
            <a:avLst>
              <a:gd name="adj" fmla="val 5574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pic>
        <p:nvPicPr>
          <p:cNvPr id="5" name="Service reminders" descr="Service remind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2167128"/>
            <a:ext cx="4215384" cy="1748936"/>
          </a:xfrm>
          <a:prstGeom prst="rect">
            <a:avLst/>
          </a:prstGeom>
        </p:spPr>
      </p:pic>
      <p:sp>
        <p:nvSpPr>
          <p:cNvPr id="6" name="card-ui-inspection"/>
          <p:cNvSpPr/>
          <p:nvPr/>
        </p:nvSpPr>
        <p:spPr>
          <a:xfrm>
            <a:off x="7205472" y="4160520"/>
            <a:ext cx="4434840" cy="1990814"/>
          </a:xfrm>
          <a:prstGeom prst="roundRect">
            <a:avLst>
              <a:gd name="adj" fmla="val 5512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pic>
        <p:nvPicPr>
          <p:cNvPr id="7" name="Inspection with a failed item" descr="Inspection with a failed ite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4270248"/>
            <a:ext cx="4215384" cy="177135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18288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2A89F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03</a:t>
            </a:r>
            <a:endParaRPr lang="en-US" sz="80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3154680"/>
            <a:ext cx="9144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00000"/>
                </a:solidFill>
              </a:rPr>
              <a:t>Our trackers</a:t>
            </a:r>
            <a:endParaRPr lang="en-US" sz="44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45262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E3A8A"/>
                </a:solidFill>
              </a:rPr>
              <a:t>Hardware we supply, install and support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86868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Two trackers,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0051D5"/>
                </a:solidFill>
              </a:rPr>
              <a:t>every vehicle covered</a:t>
            </a:r>
            <a:endParaRPr lang="en-US" sz="3200" dirty="0"/>
          </a:p>
        </p:txBody>
      </p:sp>
      <p:sp>
        <p:nvSpPr>
          <p:cNvPr id="3" name="device-card-fmc003"/>
          <p:cNvSpPr/>
          <p:nvPr/>
        </p:nvSpPr>
        <p:spPr>
          <a:xfrm>
            <a:off x="548640" y="2057400"/>
            <a:ext cx="5394960" cy="4069080"/>
          </a:xfrm>
          <a:prstGeom prst="roundRect">
            <a:avLst>
              <a:gd name="adj" fmla="val 2697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pic>
        <p:nvPicPr>
          <p:cNvPr id="4" name="device-fmc003" descr="fmc00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560320"/>
            <a:ext cx="1650206" cy="1600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606040" y="2331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051D5"/>
                </a:solidFill>
              </a:rPr>
              <a:t>TELTONIKA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2606040" y="258775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FMC003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2606040" y="304495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5464D"/>
                </a:solidFill>
              </a:rPr>
              <a:t>Plug-and-play OBD tracker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2606040" y="347472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250" dirty="0">
                <a:solidFill>
                  <a:srgbClr val="0F172A"/>
                </a:solidFill>
              </a:rPr>
              <a:t>Plugs into the OBD-II port in minutes, no wiring</a:t>
            </a:r>
            <a:endParaRPr lang="en-US" sz="125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250" dirty="0">
                <a:solidFill>
                  <a:srgbClr val="0F172A"/>
                </a:solidFill>
              </a:rPr>
              <a:t>4G LTE with GPS, GLONASS, Galileo and BeiDou</a:t>
            </a:r>
            <a:endParaRPr lang="en-US" sz="125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250" dirty="0">
                <a:solidFill>
                  <a:srgbClr val="0F172A"/>
                </a:solidFill>
              </a:rPr>
              <a:t>Reads the vehicle's own odometer and fuel level</a:t>
            </a:r>
            <a:endParaRPr lang="en-US" sz="125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250" dirty="0">
                <a:solidFill>
                  <a:srgbClr val="0F172A"/>
                </a:solidFill>
              </a:rPr>
              <a:t>Eco-driving, crash, towing and unplug detection</a:t>
            </a:r>
            <a:endParaRPr lang="en-US" sz="125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250" dirty="0">
                <a:solidFill>
                  <a:srgbClr val="0F172A"/>
                </a:solidFill>
              </a:rPr>
              <a:t>CST-certified in Saudi Arabia</a:t>
            </a:r>
            <a:endParaRPr lang="en-US" sz="1250" dirty="0"/>
          </a:p>
        </p:txBody>
      </p:sp>
      <p:sp>
        <p:nvSpPr>
          <p:cNvPr id="9" name="bestfor-fmc003"/>
          <p:cNvSpPr txBox="1"/>
          <p:nvPr/>
        </p:nvSpPr>
        <p:spPr>
          <a:xfrm>
            <a:off x="822960" y="5504688"/>
            <a:ext cx="4846320" cy="402336"/>
          </a:xfrm>
          <a:prstGeom prst="roundRect">
            <a:avLst>
              <a:gd name="adj" fmla="val 22727"/>
            </a:avLst>
          </a:prstGeom>
          <a:solidFill>
            <a:srgbClr val="E8F2FF"/>
          </a:solidFill>
          <a:ln/>
        </p:spPr>
        <p:txBody>
          <a:bodyPr wrap="square" lIns="0" tIns="127000" rIns="12700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A8A"/>
                </a:solidFill>
              </a:rPr>
              <a:t>Best for  </a:t>
            </a:r>
            <a:pPr algn="l" indent="0" marL="0">
              <a:buNone/>
            </a:pPr>
            <a:r>
              <a:rPr lang="en-US" sz="1300" dirty="0">
                <a:solidFill>
                  <a:srgbClr val="1E3A8A"/>
                </a:solidFill>
              </a:rPr>
              <a:t>cars, pickups and vans</a:t>
            </a:r>
            <a:endParaRPr lang="en-US" sz="1300" dirty="0"/>
          </a:p>
        </p:txBody>
      </p:sp>
      <p:sp>
        <p:nvSpPr>
          <p:cNvPr id="10" name="device-card-r12l"/>
          <p:cNvSpPr/>
          <p:nvPr/>
        </p:nvSpPr>
        <p:spPr>
          <a:xfrm>
            <a:off x="6190488" y="2057400"/>
            <a:ext cx="5394960" cy="4069080"/>
          </a:xfrm>
          <a:prstGeom prst="roundRect">
            <a:avLst>
              <a:gd name="adj" fmla="val 2697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pic>
        <p:nvPicPr>
          <p:cNvPr id="11" name="device-r12l" descr="r12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6288" y="2331720"/>
            <a:ext cx="653820" cy="21945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247888" y="2331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051D5"/>
                </a:solidFill>
              </a:rPr>
              <a:t>SEEWORLD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8247888" y="258775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R12L</a:t>
            </a:r>
            <a:endParaRPr lang="en-US" sz="2400" dirty="0"/>
          </a:p>
        </p:txBody>
      </p:sp>
      <p:sp>
        <p:nvSpPr>
          <p:cNvPr id="14" name="Text 10"/>
          <p:cNvSpPr txBox="1"/>
          <p:nvPr/>
        </p:nvSpPr>
        <p:spPr>
          <a:xfrm>
            <a:off x="8247888" y="304495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5464D"/>
                </a:solidFill>
              </a:rPr>
              <a:t>Hard-wired tracker for any vehicle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8247888" y="347472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250" dirty="0">
                <a:solidFill>
                  <a:srgbClr val="0F172A"/>
                </a:solidFill>
              </a:rPr>
              <a:t>Hidden install, 9–90 V for trucks, buses and equipment</a:t>
            </a:r>
            <a:endParaRPr lang="en-US" sz="125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250" dirty="0">
                <a:solidFill>
                  <a:srgbClr val="0F172A"/>
                </a:solidFill>
              </a:rPr>
              <a:t>4G LTE with GPS and BeiDou</a:t>
            </a:r>
            <a:endParaRPr lang="en-US" sz="125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250" dirty="0">
                <a:solidFill>
                  <a:srgbClr val="0F172A"/>
                </a:solidFill>
              </a:rPr>
              <a:t>IP65 dust and water resistant</a:t>
            </a:r>
            <a:endParaRPr lang="en-US" sz="125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250" dirty="0">
                <a:solidFill>
                  <a:srgbClr val="0F172A"/>
                </a:solidFill>
              </a:rPr>
              <a:t>Remote engine cut-off and ignition detection</a:t>
            </a:r>
            <a:endParaRPr lang="en-US" sz="125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250" dirty="0">
                <a:solidFill>
                  <a:srgbClr val="0F172A"/>
                </a:solidFill>
              </a:rPr>
              <a:t>Vibration, power-cut and over-speed alarms</a:t>
            </a:r>
            <a:endParaRPr lang="en-US" sz="1250" dirty="0"/>
          </a:p>
        </p:txBody>
      </p:sp>
      <p:sp>
        <p:nvSpPr>
          <p:cNvPr id="16" name="bestfor-r12l"/>
          <p:cNvSpPr txBox="1"/>
          <p:nvPr/>
        </p:nvSpPr>
        <p:spPr>
          <a:xfrm>
            <a:off x="6464808" y="5504688"/>
            <a:ext cx="4846320" cy="402336"/>
          </a:xfrm>
          <a:prstGeom prst="roundRect">
            <a:avLst>
              <a:gd name="adj" fmla="val 22727"/>
            </a:avLst>
          </a:prstGeom>
          <a:solidFill>
            <a:srgbClr val="E8F2FF"/>
          </a:solidFill>
          <a:ln/>
        </p:spPr>
        <p:txBody>
          <a:bodyPr wrap="square" lIns="0" tIns="127000" rIns="12700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A8A"/>
                </a:solidFill>
              </a:rPr>
              <a:t>Best for  </a:t>
            </a:r>
            <a:pPr algn="l" indent="0" marL="0">
              <a:buNone/>
            </a:pPr>
            <a:r>
              <a:rPr lang="en-US" sz="1300" dirty="0">
                <a:solidFill>
                  <a:srgbClr val="1E3A8A"/>
                </a:solidFill>
              </a:rPr>
              <a:t>trucks, buses, equipment and theft protection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86868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What each tracker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0051D5"/>
                </a:solidFill>
              </a:rPr>
              <a:t>unlocks</a:t>
            </a:r>
            <a:endParaRPr lang="en-US" sz="3200" dirty="0"/>
          </a:p>
        </p:txBody>
      </p:sp>
      <p:graphicFrame>
        <p:nvGraphicFramePr>
          <p:cNvPr id="16" name="unlocks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7223760" cy="914400"/>
        </p:xfrm>
        <a:graphic>
          <a:graphicData uri="http://schemas.openxmlformats.org/drawingml/2006/table">
            <a:tbl>
              <a:tblPr/>
              <a:tblGrid>
                <a:gridCol w="4480560"/>
                <a:gridCol w="1371600"/>
                <a:gridCol w="13716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3A8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Fleetana feature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3A8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FMC003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3A8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R12L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Live map and trip replay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580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580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Idle time and driver scores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580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580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Route optimisation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580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580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Over-speed alerts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580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580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Tamper alerts (unplug / power cut)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580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580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Crash detection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580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Fuel level and odometer from the vehicle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580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Remote engine cut-off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580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Trucks and heavy equipment (up to 90 V)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—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580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ervice-card"/>
          <p:cNvSpPr/>
          <p:nvPr/>
        </p:nvSpPr>
        <p:spPr>
          <a:xfrm>
            <a:off x="8092440" y="2057400"/>
            <a:ext cx="3547872" cy="3977640"/>
          </a:xfrm>
          <a:prstGeom prst="roundRect">
            <a:avLst>
              <a:gd name="adj" fmla="val 3093"/>
            </a:avLst>
          </a:prstGeom>
          <a:solidFill>
            <a:srgbClr val="E8F2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sp>
        <p:nvSpPr>
          <p:cNvPr id="5" name="icon-bg-wrench"/>
          <p:cNvSpPr/>
          <p:nvPr/>
        </p:nvSpPr>
        <p:spPr>
          <a:xfrm>
            <a:off x="8366760" y="2331720"/>
            <a:ext cx="566928" cy="566928"/>
          </a:xfrm>
          <a:prstGeom prst="ellipse">
            <a:avLst/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pic>
        <p:nvPicPr>
          <p:cNvPr id="6" name="icon-wrench" descr="/home/user/Claude/fleetana-launch/brand/assets/icons/icon-wren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0146" y="2445106"/>
            <a:ext cx="340157" cy="340157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366760" y="30632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Supplied, installed and supported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8366760" y="384048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0F172A"/>
                </a:solidFill>
              </a:rPr>
              <a:t>We pick the right tracker for each vehicle</a:t>
            </a:r>
            <a:endParaRPr lang="en-US" sz="135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0F172A"/>
                </a:solidFill>
              </a:rPr>
              <a:t>Our team installs it</a:t>
            </a:r>
            <a:endParaRPr lang="en-US" sz="135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0F172A"/>
                </a:solidFill>
              </a:rPr>
              <a:t>Live in Fleetana the same day</a:t>
            </a:r>
            <a:endParaRPr lang="en-US" sz="135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0F172A"/>
                </a:solidFill>
              </a:rPr>
              <a:t>One partner for software and hardware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86868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Find the leaks.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0051D5"/>
                </a:solidFill>
              </a:rPr>
              <a:t>Fix them.</a:t>
            </a:r>
            <a:endParaRPr lang="en-US" sz="3200" dirty="0"/>
          </a:p>
        </p:txBody>
      </p:sp>
      <p:sp>
        <p:nvSpPr>
          <p:cNvPr id="3" name="saving-1"/>
          <p:cNvSpPr/>
          <p:nvPr/>
        </p:nvSpPr>
        <p:spPr>
          <a:xfrm>
            <a:off x="548640" y="2103120"/>
            <a:ext cx="2606040" cy="3749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sp>
        <p:nvSpPr>
          <p:cNvPr id="4" name="icon-bg-fuel"/>
          <p:cNvSpPr/>
          <p:nvPr/>
        </p:nvSpPr>
        <p:spPr>
          <a:xfrm>
            <a:off x="822960" y="2377440"/>
            <a:ext cx="566928" cy="566928"/>
          </a:xfrm>
          <a:prstGeom prst="ellipse">
            <a:avLst/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pic>
        <p:nvPicPr>
          <p:cNvPr id="5" name="icon-fuel" descr="/home/user/Claude/fleetana-launch/brand/assets/icons/icon-fu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6346" y="2490826"/>
            <a:ext cx="340157" cy="34015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312724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Fuel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675888"/>
            <a:ext cx="2057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●"/>
            </a:pPr>
            <a:r>
              <a:rPr lang="en-US" sz="1300" dirty="0">
                <a:solidFill>
                  <a:srgbClr val="45464D"/>
                </a:solidFill>
              </a:rPr>
              <a:t>Fuel anomalies flagged</a:t>
            </a:r>
            <a:endParaRPr lang="en-US" sz="1300" dirty="0"/>
          </a:p>
          <a:p>
            <a:pPr algn="l" marL="342900" indent="-342900">
              <a:spcAft>
                <a:spcPts val="700"/>
              </a:spcAft>
              <a:buSzPct val="100000"/>
              <a:buChar char="●"/>
            </a:pPr>
            <a:r>
              <a:rPr lang="en-US" sz="1300" dirty="0">
                <a:solidFill>
                  <a:srgbClr val="45464D"/>
                </a:solidFill>
              </a:rPr>
              <a:t>Idle time cut</a:t>
            </a:r>
            <a:endParaRPr lang="en-US" sz="1300" dirty="0"/>
          </a:p>
          <a:p>
            <a:pPr algn="l" marL="342900" indent="-342900">
              <a:spcAft>
                <a:spcPts val="700"/>
              </a:spcAft>
              <a:buSzPct val="100000"/>
              <a:buChar char="●"/>
            </a:pPr>
            <a:r>
              <a:rPr lang="en-US" sz="1300" dirty="0">
                <a:solidFill>
                  <a:srgbClr val="45464D"/>
                </a:solidFill>
              </a:rPr>
              <a:t>Shorter, optimised routes</a:t>
            </a:r>
            <a:endParaRPr lang="en-US" sz="1300" dirty="0"/>
          </a:p>
        </p:txBody>
      </p:sp>
      <p:sp>
        <p:nvSpPr>
          <p:cNvPr id="8" name="saving-2"/>
          <p:cNvSpPr/>
          <p:nvPr/>
        </p:nvSpPr>
        <p:spPr>
          <a:xfrm>
            <a:off x="3355848" y="2103120"/>
            <a:ext cx="2606040" cy="3749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sp>
        <p:nvSpPr>
          <p:cNvPr id="9" name="icon-bg-wrench"/>
          <p:cNvSpPr/>
          <p:nvPr/>
        </p:nvSpPr>
        <p:spPr>
          <a:xfrm>
            <a:off x="3630168" y="2377440"/>
            <a:ext cx="566928" cy="566928"/>
          </a:xfrm>
          <a:prstGeom prst="ellipse">
            <a:avLst/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pic>
        <p:nvPicPr>
          <p:cNvPr id="10" name="icon-wrench" descr="/home/user/Claude/fleetana-launch/brand/assets/icons/icon-wren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3554" y="2490826"/>
            <a:ext cx="340157" cy="34015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30168" y="312724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Maintenance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3630168" y="3675888"/>
            <a:ext cx="2057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●"/>
            </a:pPr>
            <a:r>
              <a:rPr lang="en-US" sz="1300" dirty="0">
                <a:solidFill>
                  <a:srgbClr val="45464D"/>
                </a:solidFill>
              </a:rPr>
              <a:t>Service before breakdowns</a:t>
            </a:r>
            <a:endParaRPr lang="en-US" sz="1300" dirty="0"/>
          </a:p>
          <a:p>
            <a:pPr algn="l" marL="342900" indent="-342900">
              <a:spcAft>
                <a:spcPts val="700"/>
              </a:spcAft>
              <a:buSzPct val="100000"/>
              <a:buChar char="●"/>
            </a:pPr>
            <a:r>
              <a:rPr lang="en-US" sz="1300" dirty="0">
                <a:solidFill>
                  <a:srgbClr val="45464D"/>
                </a:solidFill>
              </a:rPr>
              <a:t>No paying twice under warranty</a:t>
            </a:r>
            <a:endParaRPr lang="en-US" sz="1300" dirty="0"/>
          </a:p>
          <a:p>
            <a:pPr algn="l" marL="342900" indent="-342900">
              <a:spcAft>
                <a:spcPts val="700"/>
              </a:spcAft>
              <a:buSzPct val="100000"/>
              <a:buChar char="●"/>
            </a:pPr>
            <a:r>
              <a:rPr lang="en-US" sz="1300" dirty="0">
                <a:solidFill>
                  <a:srgbClr val="45464D"/>
                </a:solidFill>
              </a:rPr>
              <a:t>Every work order itemised</a:t>
            </a:r>
            <a:endParaRPr lang="en-US" sz="1300" dirty="0"/>
          </a:p>
        </p:txBody>
      </p:sp>
      <p:sp>
        <p:nvSpPr>
          <p:cNvPr id="13" name="saving-3"/>
          <p:cNvSpPr/>
          <p:nvPr/>
        </p:nvSpPr>
        <p:spPr>
          <a:xfrm>
            <a:off x="6163056" y="2103120"/>
            <a:ext cx="2606040" cy="3749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sp>
        <p:nvSpPr>
          <p:cNvPr id="14" name="icon-bg-truck"/>
          <p:cNvSpPr/>
          <p:nvPr/>
        </p:nvSpPr>
        <p:spPr>
          <a:xfrm>
            <a:off x="6437376" y="2377440"/>
            <a:ext cx="566928" cy="566928"/>
          </a:xfrm>
          <a:prstGeom prst="ellipse">
            <a:avLst/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pic>
        <p:nvPicPr>
          <p:cNvPr id="15" name="icon-truck" descr="/home/user/Claude/fleetana-launch/brand/assets/icons/icon-tru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0762" y="2490826"/>
            <a:ext cx="340157" cy="34015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437376" y="312724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Fleet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6437376" y="3675888"/>
            <a:ext cx="2057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●"/>
            </a:pPr>
            <a:r>
              <a:rPr lang="en-US" sz="1300" dirty="0">
                <a:solidFill>
                  <a:srgbClr val="45464D"/>
                </a:solidFill>
              </a:rPr>
              <a:t>Cost per vehicle and per km</a:t>
            </a:r>
            <a:endParaRPr lang="en-US" sz="1300" dirty="0"/>
          </a:p>
          <a:p>
            <a:pPr algn="l" marL="342900" indent="-342900">
              <a:spcAft>
                <a:spcPts val="700"/>
              </a:spcAft>
              <a:buSzPct val="100000"/>
              <a:buChar char="●"/>
            </a:pPr>
            <a:r>
              <a:rPr lang="en-US" sz="1300" dirty="0">
                <a:solidFill>
                  <a:srgbClr val="45464D"/>
                </a:solidFill>
              </a:rPr>
              <a:t>Retire the costliest vehicles</a:t>
            </a:r>
            <a:endParaRPr lang="en-US" sz="1300" dirty="0"/>
          </a:p>
          <a:p>
            <a:pPr algn="l" marL="342900" indent="-342900">
              <a:spcAft>
                <a:spcPts val="700"/>
              </a:spcAft>
              <a:buSzPct val="100000"/>
              <a:buChar char="●"/>
            </a:pPr>
            <a:r>
              <a:rPr lang="en-US" sz="1300" dirty="0">
                <a:solidFill>
                  <a:srgbClr val="45464D"/>
                </a:solidFill>
              </a:rPr>
              <a:t>Keep documents valid</a:t>
            </a:r>
            <a:endParaRPr lang="en-US" sz="1300" dirty="0"/>
          </a:p>
        </p:txBody>
      </p:sp>
      <p:sp>
        <p:nvSpPr>
          <p:cNvPr id="18" name="saving-4"/>
          <p:cNvSpPr/>
          <p:nvPr/>
        </p:nvSpPr>
        <p:spPr>
          <a:xfrm>
            <a:off x="8970264" y="2103120"/>
            <a:ext cx="2606040" cy="3749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sp>
        <p:nvSpPr>
          <p:cNvPr id="19" name="icon-bg-shield"/>
          <p:cNvSpPr/>
          <p:nvPr/>
        </p:nvSpPr>
        <p:spPr>
          <a:xfrm>
            <a:off x="9244584" y="2377440"/>
            <a:ext cx="566928" cy="566928"/>
          </a:xfrm>
          <a:prstGeom prst="ellipse">
            <a:avLst/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pic>
        <p:nvPicPr>
          <p:cNvPr id="20" name="icon-shield" descr="/home/user/Claude/fleetana-launch/brand/assets/icons/icon-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7970" y="2490826"/>
            <a:ext cx="340157" cy="340157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244584" y="312724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Safety</a:t>
            </a:r>
            <a:endParaRPr lang="en-US" sz="2000" dirty="0"/>
          </a:p>
        </p:txBody>
      </p:sp>
      <p:sp>
        <p:nvSpPr>
          <p:cNvPr id="22" name="Text 16"/>
          <p:cNvSpPr txBox="1"/>
          <p:nvPr/>
        </p:nvSpPr>
        <p:spPr>
          <a:xfrm>
            <a:off x="9244584" y="3675888"/>
            <a:ext cx="2057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●"/>
            </a:pPr>
            <a:r>
              <a:rPr lang="en-US" sz="1300" dirty="0">
                <a:solidFill>
                  <a:srgbClr val="45464D"/>
                </a:solidFill>
              </a:rPr>
              <a:t>Driver scores and coaching</a:t>
            </a:r>
            <a:endParaRPr lang="en-US" sz="1300" dirty="0"/>
          </a:p>
          <a:p>
            <a:pPr algn="l" marL="342900" indent="-342900">
              <a:spcAft>
                <a:spcPts val="700"/>
              </a:spcAft>
              <a:buSzPct val="100000"/>
              <a:buChar char="●"/>
            </a:pPr>
            <a:r>
              <a:rPr lang="en-US" sz="1300" dirty="0">
                <a:solidFill>
                  <a:srgbClr val="45464D"/>
                </a:solidFill>
              </a:rPr>
              <a:t>Crash and over-speed alerts</a:t>
            </a:r>
            <a:endParaRPr lang="en-US" sz="1300" dirty="0"/>
          </a:p>
          <a:p>
            <a:pPr algn="l" marL="342900" indent="-342900">
              <a:spcAft>
                <a:spcPts val="700"/>
              </a:spcAft>
              <a:buSzPct val="100000"/>
              <a:buChar char="●"/>
            </a:pPr>
            <a:r>
              <a:rPr lang="en-US" sz="1300" dirty="0">
                <a:solidFill>
                  <a:srgbClr val="45464D"/>
                </a:solidFill>
              </a:rPr>
              <a:t>Remote engine cut-off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86868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Built for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0051D5"/>
                </a:solidFill>
              </a:rPr>
              <a:t>Saudi fleets</a:t>
            </a:r>
            <a:endParaRPr lang="en-US" sz="3200" dirty="0"/>
          </a:p>
        </p:txBody>
      </p:sp>
      <p:sp>
        <p:nvSpPr>
          <p:cNvPr id="3" name="chip-1"/>
          <p:cNvSpPr txBox="1"/>
          <p:nvPr/>
        </p:nvSpPr>
        <p:spPr>
          <a:xfrm>
            <a:off x="548640" y="2148840"/>
            <a:ext cx="2514600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A8A"/>
                </a:solidFill>
              </a:rPr>
              <a:t>Istimara</a:t>
            </a:r>
            <a:endParaRPr lang="en-US" sz="1500" dirty="0"/>
          </a:p>
        </p:txBody>
      </p:sp>
      <p:sp>
        <p:nvSpPr>
          <p:cNvPr id="4" name="chip-2"/>
          <p:cNvSpPr txBox="1"/>
          <p:nvPr/>
        </p:nvSpPr>
        <p:spPr>
          <a:xfrm>
            <a:off x="3246120" y="2148840"/>
            <a:ext cx="2514600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A8A"/>
                </a:solidFill>
              </a:rPr>
              <a:t>Fahes</a:t>
            </a:r>
            <a:endParaRPr lang="en-US" sz="1500" dirty="0"/>
          </a:p>
        </p:txBody>
      </p:sp>
      <p:sp>
        <p:nvSpPr>
          <p:cNvPr id="5" name="chip-3"/>
          <p:cNvSpPr txBox="1"/>
          <p:nvPr/>
        </p:nvSpPr>
        <p:spPr>
          <a:xfrm>
            <a:off x="5943600" y="2148840"/>
            <a:ext cx="2514600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A8A"/>
                </a:solidFill>
              </a:rPr>
              <a:t>Insurance</a:t>
            </a:r>
            <a:endParaRPr lang="en-US" sz="1500" dirty="0"/>
          </a:p>
        </p:txBody>
      </p:sp>
      <p:sp>
        <p:nvSpPr>
          <p:cNvPr id="6" name="chip-4"/>
          <p:cNvSpPr txBox="1"/>
          <p:nvPr/>
        </p:nvSpPr>
        <p:spPr>
          <a:xfrm>
            <a:off x="548640" y="2807208"/>
            <a:ext cx="2514600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A8A"/>
                </a:solidFill>
              </a:rPr>
              <a:t>SAR + 15% VAT</a:t>
            </a:r>
            <a:endParaRPr lang="en-US" sz="1500" dirty="0"/>
          </a:p>
        </p:txBody>
      </p:sp>
      <p:sp>
        <p:nvSpPr>
          <p:cNvPr id="7" name="chip-5"/>
          <p:cNvSpPr txBox="1"/>
          <p:nvPr/>
        </p:nvSpPr>
        <p:spPr>
          <a:xfrm>
            <a:off x="3246120" y="2807208"/>
            <a:ext cx="2514600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A8A"/>
                </a:solidFill>
              </a:rPr>
              <a:t>CST-certified trackers</a:t>
            </a:r>
            <a:endParaRPr lang="en-US" sz="1500" dirty="0"/>
          </a:p>
        </p:txBody>
      </p:sp>
      <p:sp>
        <p:nvSpPr>
          <p:cNvPr id="8" name="chip-6"/>
          <p:cNvSpPr txBox="1"/>
          <p:nvPr/>
        </p:nvSpPr>
        <p:spPr>
          <a:xfrm>
            <a:off x="5943600" y="2807208"/>
            <a:ext cx="2514600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A8A"/>
                </a:solidFill>
              </a:rPr>
              <a:t>العربية · English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6576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Made for fleets like yours</a:t>
            </a:r>
            <a:endParaRPr lang="en-US" sz="1800" dirty="0"/>
          </a:p>
        </p:txBody>
      </p:sp>
      <p:sp>
        <p:nvSpPr>
          <p:cNvPr id="10" name="icon-bg-truck"/>
          <p:cNvSpPr/>
          <p:nvPr/>
        </p:nvSpPr>
        <p:spPr>
          <a:xfrm>
            <a:off x="548640" y="4206240"/>
            <a:ext cx="502920" cy="502920"/>
          </a:xfrm>
          <a:prstGeom prst="ellipse">
            <a:avLst/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pic>
        <p:nvPicPr>
          <p:cNvPr id="11" name="icon-truck" descr="/home/user/Claude/fleetana-launch/brand/assets/icons/icon-tru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4306824"/>
            <a:ext cx="301752" cy="301752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234440" y="42519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Delivery &amp; courier</a:t>
            </a:r>
            <a:endParaRPr lang="en-US" sz="1500" dirty="0"/>
          </a:p>
        </p:txBody>
      </p:sp>
      <p:sp>
        <p:nvSpPr>
          <p:cNvPr id="13" name="icon-bg-wrench"/>
          <p:cNvSpPr/>
          <p:nvPr/>
        </p:nvSpPr>
        <p:spPr>
          <a:xfrm>
            <a:off x="4526280" y="4206240"/>
            <a:ext cx="502920" cy="502920"/>
          </a:xfrm>
          <a:prstGeom prst="ellipse">
            <a:avLst/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pic>
        <p:nvPicPr>
          <p:cNvPr id="14" name="icon-wrench" descr="/home/user/Claude/fleetana-launch/brand/assets/icons/icon-wren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6864" y="4306824"/>
            <a:ext cx="301752" cy="30175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212080" y="42519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Construction &amp; heavy equipment</a:t>
            </a:r>
            <a:endParaRPr lang="en-US" sz="1500" dirty="0"/>
          </a:p>
        </p:txBody>
      </p:sp>
      <p:sp>
        <p:nvSpPr>
          <p:cNvPr id="16" name="icon-bg-box"/>
          <p:cNvSpPr/>
          <p:nvPr/>
        </p:nvSpPr>
        <p:spPr>
          <a:xfrm>
            <a:off x="548640" y="4983480"/>
            <a:ext cx="502920" cy="502920"/>
          </a:xfrm>
          <a:prstGeom prst="ellipse">
            <a:avLst/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pic>
        <p:nvPicPr>
          <p:cNvPr id="17" name="icon-box" descr="/home/user/Claude/fleetana-launch/brand/assets/icons/icon-box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5084064"/>
            <a:ext cx="301752" cy="30175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234440" y="50292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Distribution &amp; retail</a:t>
            </a:r>
            <a:endParaRPr lang="en-US" sz="1500" dirty="0"/>
          </a:p>
        </p:txBody>
      </p:sp>
      <p:sp>
        <p:nvSpPr>
          <p:cNvPr id="19" name="icon-bg-users"/>
          <p:cNvSpPr/>
          <p:nvPr/>
        </p:nvSpPr>
        <p:spPr>
          <a:xfrm>
            <a:off x="4526280" y="4983480"/>
            <a:ext cx="502920" cy="502920"/>
          </a:xfrm>
          <a:prstGeom prst="ellipse">
            <a:avLst/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pic>
        <p:nvPicPr>
          <p:cNvPr id="20" name="icon-users" descr="/home/user/Claude/fleetana-launch/brand/assets/icons/icon-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6864" y="5084064"/>
            <a:ext cx="301752" cy="30175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212080" y="50292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Passenger &amp; school transport</a:t>
            </a:r>
            <a:endParaRPr lang="en-US" sz="1500" dirty="0"/>
          </a:p>
        </p:txBody>
      </p:sp>
      <p:sp>
        <p:nvSpPr>
          <p:cNvPr id="22" name="papers-card"/>
          <p:cNvSpPr/>
          <p:nvPr/>
        </p:nvSpPr>
        <p:spPr>
          <a:xfrm>
            <a:off x="8915400" y="2148840"/>
            <a:ext cx="2724912" cy="3566160"/>
          </a:xfrm>
          <a:prstGeom prst="roundRect">
            <a:avLst>
              <a:gd name="adj" fmla="val 4027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pic>
        <p:nvPicPr>
          <p:cNvPr id="23" name="Document expiry cards" descr="Document expiry card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6840" y="2377440"/>
            <a:ext cx="2542032" cy="1379188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9098280" y="397764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45464D"/>
                </a:solidFill>
              </a:rPr>
              <a:t>Expiry dates live on each vehicle, and Home lists everything expiring in the next 30 days.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86868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How we get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0051D5"/>
                </a:solidFill>
              </a:rPr>
              <a:t>you running</a:t>
            </a:r>
            <a:endParaRPr lang="en-US" sz="3200" dirty="0"/>
          </a:p>
        </p:txBody>
      </p:sp>
      <p:sp>
        <p:nvSpPr>
          <p:cNvPr id="3" name="card4-1"/>
          <p:cNvSpPr/>
          <p:nvPr/>
        </p:nvSpPr>
        <p:spPr>
          <a:xfrm>
            <a:off x="548640" y="224028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sp>
        <p:nvSpPr>
          <p:cNvPr id="4" name="icon-bg-users"/>
          <p:cNvSpPr/>
          <p:nvPr/>
        </p:nvSpPr>
        <p:spPr>
          <a:xfrm>
            <a:off x="822960" y="2514600"/>
            <a:ext cx="566928" cy="566928"/>
          </a:xfrm>
          <a:prstGeom prst="ellipse">
            <a:avLst/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pic>
        <p:nvPicPr>
          <p:cNvPr id="5" name="icon-users" descr="/home/user/Claude/fleetana-launch/brand/assets/icons/icon-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6346" y="2627986"/>
            <a:ext cx="340157" cy="34015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329184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01  Sign up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402336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5464D"/>
                </a:solidFill>
              </a:rPr>
              <a:t>Create your workspace at fleetana.sa and invite your team.</a:t>
            </a:r>
            <a:endParaRPr lang="en-US" sz="1400" dirty="0"/>
          </a:p>
        </p:txBody>
      </p:sp>
      <p:sp>
        <p:nvSpPr>
          <p:cNvPr id="8" name="card4-2"/>
          <p:cNvSpPr/>
          <p:nvPr/>
        </p:nvSpPr>
        <p:spPr>
          <a:xfrm>
            <a:off x="3355848" y="224028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sp>
        <p:nvSpPr>
          <p:cNvPr id="9" name="icon-bg-truck"/>
          <p:cNvSpPr/>
          <p:nvPr/>
        </p:nvSpPr>
        <p:spPr>
          <a:xfrm>
            <a:off x="3630168" y="2514600"/>
            <a:ext cx="566928" cy="566928"/>
          </a:xfrm>
          <a:prstGeom prst="ellipse">
            <a:avLst/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pic>
        <p:nvPicPr>
          <p:cNvPr id="10" name="icon-truck" descr="/home/user/Claude/fleetana-launch/brand/assets/icons/icon-tru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3554" y="2627986"/>
            <a:ext cx="340157" cy="34015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30168" y="329184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02  Add vehicles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3630168" y="402336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5464D"/>
                </a:solidFill>
              </a:rPr>
              <a:t>Vehicles, drivers and document dates, imported or added by hand.</a:t>
            </a:r>
            <a:endParaRPr lang="en-US" sz="1400" dirty="0"/>
          </a:p>
        </p:txBody>
      </p:sp>
      <p:sp>
        <p:nvSpPr>
          <p:cNvPr id="13" name="card4-3"/>
          <p:cNvSpPr/>
          <p:nvPr/>
        </p:nvSpPr>
        <p:spPr>
          <a:xfrm>
            <a:off x="6163056" y="224028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sp>
        <p:nvSpPr>
          <p:cNvPr id="14" name="icon-bg-wrench"/>
          <p:cNvSpPr/>
          <p:nvPr/>
        </p:nvSpPr>
        <p:spPr>
          <a:xfrm>
            <a:off x="6437376" y="2514600"/>
            <a:ext cx="566928" cy="566928"/>
          </a:xfrm>
          <a:prstGeom prst="ellipse">
            <a:avLst/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pic>
        <p:nvPicPr>
          <p:cNvPr id="15" name="icon-wrench" descr="/home/user/Claude/fleetana-launch/brand/assets/icons/icon-wren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0762" y="2627986"/>
            <a:ext cx="340157" cy="34015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437376" y="329184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03  We install trackers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6437376" y="402336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5464D"/>
                </a:solidFill>
              </a:rPr>
              <a:t>The right tracker for each vehicle, installed by our team.</a:t>
            </a:r>
            <a:endParaRPr lang="en-US" sz="1400" dirty="0"/>
          </a:p>
        </p:txBody>
      </p:sp>
      <p:sp>
        <p:nvSpPr>
          <p:cNvPr id="18" name="card4-4"/>
          <p:cNvSpPr/>
          <p:nvPr/>
        </p:nvSpPr>
        <p:spPr>
          <a:xfrm>
            <a:off x="8970264" y="224028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sp>
        <p:nvSpPr>
          <p:cNvPr id="19" name="icon-bg-chart"/>
          <p:cNvSpPr/>
          <p:nvPr/>
        </p:nvSpPr>
        <p:spPr>
          <a:xfrm>
            <a:off x="9244584" y="2514600"/>
            <a:ext cx="566928" cy="566928"/>
          </a:xfrm>
          <a:prstGeom prst="ellipse">
            <a:avLst/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pic>
        <p:nvPicPr>
          <p:cNvPr id="20" name="icon-chart" descr="/home/user/Claude/fleetana-launch/brand/assets/icons/icon-ch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7970" y="2627986"/>
            <a:ext cx="340157" cy="340157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244584" y="329184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04  See, decide, save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9244584" y="402336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5464D"/>
                </a:solidFill>
              </a:rPr>
              <a:t>Live map, costs and savings from day one.</a:t>
            </a:r>
            <a:endParaRPr lang="en-US" sz="1400" dirty="0"/>
          </a:p>
        </p:txBody>
      </p:sp>
      <p:pic>
        <p:nvPicPr>
          <p:cNvPr id="23" name="arrow-1" descr="/home/user/Claude/fleetana-launch/brand/assets/icons/icon-arrowRigh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6392" y="3657600"/>
            <a:ext cx="219456" cy="219456"/>
          </a:xfrm>
          <a:prstGeom prst="rect">
            <a:avLst/>
          </a:prstGeom>
        </p:spPr>
      </p:pic>
      <p:pic>
        <p:nvPicPr>
          <p:cNvPr id="24" name="arrow-2" descr="/home/user/Claude/fleetana-launch/brand/assets/icons/icon-arrowRigh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0" y="3657600"/>
            <a:ext cx="219456" cy="219456"/>
          </a:xfrm>
          <a:prstGeom prst="rect">
            <a:avLst/>
          </a:prstGeom>
        </p:spPr>
      </p:pic>
      <p:pic>
        <p:nvPicPr>
          <p:cNvPr id="25" name="arrow-3" descr="/home/user/Claude/fleetana-launch/brand/assets/icons/icon-arrowRigh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50808" y="3657600"/>
            <a:ext cx="219456" cy="21945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86868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The founders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0051D5"/>
                </a:solidFill>
              </a:rPr>
              <a:t>behind Fleetana</a:t>
            </a:r>
            <a:endParaRPr lang="en-US" sz="3200" dirty="0"/>
          </a:p>
        </p:txBody>
      </p:sp>
      <p:sp>
        <p:nvSpPr>
          <p:cNvPr id="3" name="team-abdallah"/>
          <p:cNvSpPr/>
          <p:nvPr/>
        </p:nvSpPr>
        <p:spPr>
          <a:xfrm>
            <a:off x="548640" y="2103120"/>
            <a:ext cx="2606040" cy="3749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sp>
        <p:nvSpPr>
          <p:cNvPr id="4" name="ring-abdallah"/>
          <p:cNvSpPr/>
          <p:nvPr/>
        </p:nvSpPr>
        <p:spPr>
          <a:xfrm>
            <a:off x="918972" y="2331720"/>
            <a:ext cx="1865376" cy="1865376"/>
          </a:xfrm>
          <a:prstGeom prst="ellipse">
            <a:avLst/>
          </a:prstGeom>
          <a:solidFill>
            <a:srgbClr val="E8F2FF"/>
          </a:solidFill>
          <a:ln w="19050">
            <a:solidFill>
              <a:srgbClr val="2A89FA"/>
            </a:solidFill>
            <a:prstDash val="solid"/>
          </a:ln>
        </p:spPr>
      </p:sp>
      <p:pic>
        <p:nvPicPr>
          <p:cNvPr id="5" name="photo-abdallah" descr="Abdallah Dab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2395728"/>
            <a:ext cx="1737360" cy="1737360"/>
          </a:xfrm>
          <a:prstGeom prst="ellipse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43434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Abdallah Daban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50292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051D5"/>
                </a:solidFill>
              </a:rPr>
              <a:t>Operations &amp; Strategy</a:t>
            </a:r>
            <a:endParaRPr lang="en-US" sz="1350" dirty="0"/>
          </a:p>
        </p:txBody>
      </p:sp>
      <p:sp>
        <p:nvSpPr>
          <p:cNvPr id="8" name="team-abdulrahman"/>
          <p:cNvSpPr/>
          <p:nvPr/>
        </p:nvSpPr>
        <p:spPr>
          <a:xfrm>
            <a:off x="3355848" y="2103120"/>
            <a:ext cx="2606040" cy="3749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sp>
        <p:nvSpPr>
          <p:cNvPr id="9" name="ring-abdulrahman"/>
          <p:cNvSpPr/>
          <p:nvPr/>
        </p:nvSpPr>
        <p:spPr>
          <a:xfrm>
            <a:off x="3726180" y="2331720"/>
            <a:ext cx="1865376" cy="1865376"/>
          </a:xfrm>
          <a:prstGeom prst="ellipse">
            <a:avLst/>
          </a:prstGeom>
          <a:solidFill>
            <a:srgbClr val="E8F2FF"/>
          </a:solidFill>
          <a:ln w="19050">
            <a:solidFill>
              <a:srgbClr val="2A89FA"/>
            </a:solidFill>
            <a:prstDash val="solid"/>
          </a:ln>
        </p:spPr>
      </p:sp>
      <p:pic>
        <p:nvPicPr>
          <p:cNvPr id="10" name="photo-abdulrahman" descr="Abdulrahman Alaska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0188" y="2395728"/>
            <a:ext cx="1737360" cy="1737360"/>
          </a:xfrm>
          <a:prstGeom prst="ellipse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38728" y="43434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Abdulrahman Alaskar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3538728" y="50292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051D5"/>
                </a:solidFill>
              </a:rPr>
              <a:t>Product Manager</a:t>
            </a:r>
            <a:endParaRPr lang="en-US" sz="1350" dirty="0"/>
          </a:p>
        </p:txBody>
      </p:sp>
      <p:sp>
        <p:nvSpPr>
          <p:cNvPr id="13" name="team-faisal"/>
          <p:cNvSpPr/>
          <p:nvPr/>
        </p:nvSpPr>
        <p:spPr>
          <a:xfrm>
            <a:off x="6163056" y="2103120"/>
            <a:ext cx="2606040" cy="3749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sp>
        <p:nvSpPr>
          <p:cNvPr id="14" name="ring-faisal"/>
          <p:cNvSpPr/>
          <p:nvPr/>
        </p:nvSpPr>
        <p:spPr>
          <a:xfrm>
            <a:off x="6533388" y="2331720"/>
            <a:ext cx="1865376" cy="1865376"/>
          </a:xfrm>
          <a:prstGeom prst="ellipse">
            <a:avLst/>
          </a:prstGeom>
          <a:solidFill>
            <a:srgbClr val="E8F2FF"/>
          </a:solidFill>
          <a:ln w="19050">
            <a:solidFill>
              <a:srgbClr val="2A89FA"/>
            </a:solidFill>
            <a:prstDash val="solid"/>
          </a:ln>
        </p:spPr>
      </p:sp>
      <p:pic>
        <p:nvPicPr>
          <p:cNvPr id="15" name="photo-faisal" descr="Faisal Qassem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96" y="2395728"/>
            <a:ext cx="1737360" cy="1737360"/>
          </a:xfrm>
          <a:prstGeom prst="ellipse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45936" y="43434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Faisal Qassem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6345936" y="50292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051D5"/>
                </a:solidFill>
              </a:rPr>
              <a:t>Business Development</a:t>
            </a:r>
            <a:endParaRPr lang="en-US" sz="1350" dirty="0"/>
          </a:p>
        </p:txBody>
      </p:sp>
      <p:sp>
        <p:nvSpPr>
          <p:cNvPr id="18" name="team-ali"/>
          <p:cNvSpPr/>
          <p:nvPr/>
        </p:nvSpPr>
        <p:spPr>
          <a:xfrm>
            <a:off x="8970264" y="2103120"/>
            <a:ext cx="2606040" cy="3749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sp>
        <p:nvSpPr>
          <p:cNvPr id="19" name="ring-ali"/>
          <p:cNvSpPr/>
          <p:nvPr/>
        </p:nvSpPr>
        <p:spPr>
          <a:xfrm>
            <a:off x="9340596" y="2331720"/>
            <a:ext cx="1865376" cy="1865376"/>
          </a:xfrm>
          <a:prstGeom prst="ellipse">
            <a:avLst/>
          </a:prstGeom>
          <a:solidFill>
            <a:srgbClr val="E8F2FF"/>
          </a:solidFill>
          <a:ln w="19050">
            <a:solidFill>
              <a:srgbClr val="2A89FA"/>
            </a:solidFill>
            <a:prstDash val="solid"/>
          </a:ln>
        </p:spPr>
      </p:sp>
      <p:pic>
        <p:nvPicPr>
          <p:cNvPr id="20" name="photo-ali" descr="Ali Choudhary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4604" y="2395728"/>
            <a:ext cx="1737360" cy="1737360"/>
          </a:xfrm>
          <a:prstGeom prst="ellipse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153144" y="43434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Ali Choudhary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9153144" y="50292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051D5"/>
                </a:solidFill>
              </a:rPr>
              <a:t>Business &amp; Customer Manager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097280" y="2743200"/>
            <a:ext cx="9997135" cy="9144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0000"/>
                </a:solidFill>
              </a:rPr>
              <a:t>Get your fleet off spreadsheets.</a:t>
            </a:r>
            <a:endParaRPr lang="en-US" sz="40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1097280" y="3703320"/>
            <a:ext cx="9997135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51D5"/>
                </a:solidFill>
              </a:rPr>
              <a:t>fleetana.sa  ·  info@fleetana.sa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leetana">
  <a:themeElements>
    <a:clrScheme name="Fleetana">
      <a:dk1>
        <a:srgbClr val="0F172A"/>
      </a:dk1>
      <a:lt1>
        <a:srgbClr val="FFFFFF"/>
      </a:lt1>
      <a:dk2>
        <a:srgbClr val="000000"/>
      </a:dk2>
      <a:lt2>
        <a:srgbClr val="F7F9FB"/>
      </a:lt2>
      <a:accent1>
        <a:srgbClr val="2A89FA"/>
      </a:accent1>
      <a:accent2>
        <a:srgbClr val="0051D5"/>
      </a:accent2>
      <a:accent3>
        <a:srgbClr val="16A34A"/>
      </a:accent3>
      <a:accent4>
        <a:srgbClr val="D97706"/>
      </a:accent4>
      <a:accent5>
        <a:srgbClr val="EF4444"/>
      </a:accent5>
      <a:accent6>
        <a:srgbClr val="1E3A8A"/>
      </a:accent6>
      <a:hlink>
        <a:srgbClr val="0051D5"/>
      </a:hlink>
      <a:folHlink>
        <a:srgbClr val="1E3A8A"/>
      </a:folHlink>
    </a:clrScheme>
    <a:fontScheme name="Fleetana">
      <a:majorFont>
        <a:latin typeface="Hanken Grotes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Fleetana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Fleetana — company profile</dc:title>
  <dc:subject>PptxGenJS Presentation</dc:subject>
  <dc:creator>Fleetana</dc:creator>
  <cp:lastModifiedBy>Fleetana</cp:lastModifiedBy>
  <cp:revision>1</cp:revision>
  <dcterms:created xsi:type="dcterms:W3CDTF">2026-10-23T14:25:37Z</dcterms:created>
  <dcterms:modified xsi:type="dcterms:W3CDTF">2026-10-23T14:25:37Z</dcterms:modified>
</cp:coreProperties>
</file>